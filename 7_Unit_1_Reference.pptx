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343" r:id="rId2"/>
    <p:sldId id="344" r:id="rId3"/>
    <p:sldId id="345" r:id="rId4"/>
    <p:sldId id="34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269" r:id="rId15"/>
    <p:sldId id="356" r:id="rId16"/>
    <p:sldId id="271" r:id="rId17"/>
    <p:sldId id="272" r:id="rId18"/>
    <p:sldId id="357" r:id="rId19"/>
    <p:sldId id="358" r:id="rId20"/>
    <p:sldId id="359" r:id="rId21"/>
    <p:sldId id="360" r:id="rId22"/>
    <p:sldId id="361" r:id="rId23"/>
    <p:sldId id="362" r:id="rId24"/>
    <p:sldId id="363" r:id="rId25"/>
    <p:sldId id="364" r:id="rId26"/>
    <p:sldId id="365" r:id="rId27"/>
    <p:sldId id="366" r:id="rId28"/>
    <p:sldId id="367" r:id="rId29"/>
    <p:sldId id="368" r:id="rId30"/>
    <p:sldId id="369" r:id="rId31"/>
    <p:sldId id="370" r:id="rId32"/>
    <p:sldId id="371" r:id="rId33"/>
    <p:sldId id="372" r:id="rId34"/>
    <p:sldId id="373" r:id="rId35"/>
    <p:sldId id="374" r:id="rId36"/>
    <p:sldId id="375" r:id="rId37"/>
    <p:sldId id="376" r:id="rId38"/>
    <p:sldId id="377" r:id="rId39"/>
    <p:sldId id="378" r:id="rId40"/>
    <p:sldId id="379" r:id="rId41"/>
    <p:sldId id="380" r:id="rId42"/>
    <p:sldId id="381" r:id="rId43"/>
    <p:sldId id="382" r:id="rId44"/>
    <p:sldId id="301" r:id="rId45"/>
    <p:sldId id="383" r:id="rId46"/>
    <p:sldId id="384" r:id="rId47"/>
    <p:sldId id="385" r:id="rId48"/>
    <p:sldId id="305" r:id="rId49"/>
    <p:sldId id="386" r:id="rId50"/>
    <p:sldId id="387" r:id="rId51"/>
    <p:sldId id="308" r:id="rId52"/>
    <p:sldId id="388" r:id="rId53"/>
    <p:sldId id="389" r:id="rId54"/>
    <p:sldId id="390" r:id="rId55"/>
    <p:sldId id="391" r:id="rId56"/>
    <p:sldId id="392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93" r:id="rId74"/>
    <p:sldId id="394" r:id="rId75"/>
    <p:sldId id="395" r:id="rId76"/>
    <p:sldId id="396" r:id="rId77"/>
    <p:sldId id="397" r:id="rId78"/>
    <p:sldId id="398" r:id="rId79"/>
    <p:sldId id="256" r:id="rId80"/>
    <p:sldId id="257" r:id="rId81"/>
    <p:sldId id="273" r:id="rId82"/>
    <p:sldId id="258" r:id="rId83"/>
    <p:sldId id="259" r:id="rId84"/>
    <p:sldId id="260" r:id="rId85"/>
    <p:sldId id="261" r:id="rId86"/>
    <p:sldId id="262" r:id="rId87"/>
    <p:sldId id="263" r:id="rId88"/>
    <p:sldId id="264" r:id="rId89"/>
    <p:sldId id="265" r:id="rId90"/>
    <p:sldId id="266" r:id="rId91"/>
    <p:sldId id="267" r:id="rId92"/>
    <p:sldId id="268" r:id="rId93"/>
    <p:sldId id="274" r:id="rId94"/>
    <p:sldId id="277" r:id="rId95"/>
    <p:sldId id="279" r:id="rId96"/>
    <p:sldId id="280" r:id="rId97"/>
    <p:sldId id="278" r:id="rId98"/>
    <p:sldId id="281" r:id="rId99"/>
    <p:sldId id="282" r:id="rId100"/>
    <p:sldId id="283" r:id="rId101"/>
    <p:sldId id="284" r:id="rId102"/>
    <p:sldId id="285" r:id="rId103"/>
    <p:sldId id="286" r:id="rId104"/>
    <p:sldId id="287" r:id="rId105"/>
    <p:sldId id="288" r:id="rId106"/>
    <p:sldId id="289" r:id="rId107"/>
    <p:sldId id="290" r:id="rId108"/>
    <p:sldId id="291" r:id="rId109"/>
    <p:sldId id="292" r:id="rId110"/>
    <p:sldId id="275" r:id="rId111"/>
    <p:sldId id="276" r:id="rId112"/>
    <p:sldId id="293" r:id="rId113"/>
    <p:sldId id="294" r:id="rId114"/>
    <p:sldId id="295" r:id="rId115"/>
    <p:sldId id="296" r:id="rId116"/>
    <p:sldId id="297" r:id="rId117"/>
    <p:sldId id="298" r:id="rId118"/>
    <p:sldId id="299" r:id="rId119"/>
    <p:sldId id="300" r:id="rId120"/>
    <p:sldId id="302" r:id="rId121"/>
    <p:sldId id="304" r:id="rId122"/>
    <p:sldId id="303" r:id="rId123"/>
    <p:sldId id="306" r:id="rId124"/>
    <p:sldId id="307" r:id="rId125"/>
    <p:sldId id="309" r:id="rId126"/>
    <p:sldId id="310" r:id="rId127"/>
    <p:sldId id="311" r:id="rId128"/>
    <p:sldId id="312" r:id="rId129"/>
    <p:sldId id="313" r:id="rId130"/>
    <p:sldId id="331" r:id="rId131"/>
    <p:sldId id="332" r:id="rId132"/>
    <p:sldId id="333" r:id="rId133"/>
    <p:sldId id="334" r:id="rId134"/>
    <p:sldId id="335" r:id="rId135"/>
    <p:sldId id="336" r:id="rId136"/>
    <p:sldId id="337" r:id="rId137"/>
    <p:sldId id="338" r:id="rId138"/>
    <p:sldId id="339" r:id="rId139"/>
    <p:sldId id="340" r:id="rId140"/>
    <p:sldId id="341" r:id="rId141"/>
    <p:sldId id="342" r:id="rId142"/>
    <p:sldId id="270" r:id="rId1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96F2-02BD-E71F-EFBD-14FECCF2D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7172325" cy="3152251"/>
          </a:xfrm>
        </p:spPr>
        <p:txBody>
          <a:bodyPr anchor="b"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90113-E8E1-4E48-41BC-583802BFC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0137"/>
            <a:ext cx="7172325" cy="112236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C7EE5-BFF0-D779-4261-E239DB45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89492-34ED-FE24-4F29-E4C8F549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0C886-7F1E-7BC1-9A9E-B24C2AC2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74AEE6-9CA7-5247-DC34-99634247DF50}"/>
              </a:ext>
            </a:extLst>
          </p:cNvPr>
          <p:cNvCxnSpPr>
            <a:cxnSpLocks/>
          </p:cNvCxnSpPr>
          <p:nvPr/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532FD-157B-437C-E9D5-B66E8B3B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90A51-A7E8-7A6A-5FD0-F9B250BE4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8C8B8-F999-7D95-435D-17CE6ACCD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27265-C89C-937F-1DA3-F377F687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EB89E-4530-3632-3485-F481DB042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45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056A-761D-1DBC-276A-2A46D153C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613" y="1355763"/>
            <a:ext cx="6972300" cy="225579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904B3-6AC1-19D5-3EAE-2009A3B4C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921820"/>
            <a:ext cx="5524500" cy="115093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2A86D-493D-5BF6-8AA6-F1231E3B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CCD76-6623-164A-7BFA-207AFA05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64312-1F20-5486-62B0-A8BB8829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03F1C9-9114-4426-6F07-F7FF9CCD5FC4}"/>
              </a:ext>
            </a:extLst>
          </p:cNvPr>
          <p:cNvCxnSpPr>
            <a:cxnSpLocks/>
          </p:cNvCxnSpPr>
          <p:nvPr/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294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FC4C-4D16-E5A8-F934-8B158F6F2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BDE54-F935-945D-3E4F-B659695E8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2500" y="2286002"/>
            <a:ext cx="5067300" cy="389096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F3710-E06B-05DE-937A-C92E52569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86001"/>
            <a:ext cx="5067300" cy="38909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02EFD-42D3-11C1-677E-0E478B93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C2F08-0D93-B14B-6106-2925DF3E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5DE81-F2AB-CCB9-8B68-5E4F3101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41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2D81B-4E36-1511-E9A7-8FB931B41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1004888"/>
            <a:ext cx="10287000" cy="9001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A73DE-183B-9473-20AD-2D3BFED84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1" y="2085959"/>
            <a:ext cx="4886325" cy="590566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0FB3D-60AC-DEF2-4472-31B4E076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1" y="3048001"/>
            <a:ext cx="4886325" cy="32226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6E5BDB-B29C-788F-E2FB-6C154E8FE8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174" y="2085959"/>
            <a:ext cx="4886325" cy="590566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13FF49-3276-24CA-BC81-FA92C0A930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3174" y="3048000"/>
            <a:ext cx="4886325" cy="32226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8FA1C8-C196-9BE1-F603-3FC17EDD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B79692-E142-E1D7-AD17-30C5F1365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90FCF2-7B78-2A2A-F878-58335FEA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2D0356-1ECF-682B-F87A-811BDD28B2CB}"/>
              </a:ext>
            </a:extLst>
          </p:cNvPr>
          <p:cNvCxnSpPr>
            <a:cxnSpLocks/>
          </p:cNvCxnSpPr>
          <p:nvPr/>
        </p:nvCxnSpPr>
        <p:spPr>
          <a:xfrm>
            <a:off x="1052513" y="287681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06CA06-9701-E645-C0A5-594B227B288F}"/>
              </a:ext>
            </a:extLst>
          </p:cNvPr>
          <p:cNvCxnSpPr>
            <a:cxnSpLocks/>
          </p:cNvCxnSpPr>
          <p:nvPr/>
        </p:nvCxnSpPr>
        <p:spPr>
          <a:xfrm>
            <a:off x="6435725" y="287681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913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14DA-C0D4-E152-7F42-F6352C96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914400"/>
            <a:ext cx="9715500" cy="990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C2AA04-1E84-460C-F560-A228F930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AB260E-3910-7D1B-5074-24F5F0AB5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020F1-A878-9B80-6B4F-7D71406B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34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7652D6-7AE9-3E3B-5C1B-2B4399B15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A7127E-2A63-6F45-4C40-835843630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6FB79-D9D1-5381-0019-E24F8B4DA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87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23B5-7DA9-0E4F-DA39-4624DB8A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69065"/>
            <a:ext cx="3266536" cy="2312979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A5E77-518A-1FB9-B473-E19CADE04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4423" y="987425"/>
            <a:ext cx="5615077" cy="4873625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5344F-7D06-2406-D113-D24587835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0" y="3947801"/>
            <a:ext cx="3266536" cy="23828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BE708-BAD0-A0A6-9332-9D2179E67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70050-9362-4EC4-6B73-3A38445B7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DA991-8608-CAB4-33FA-03D380D2F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28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B837-332D-9100-E007-7DE279481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1385457"/>
            <a:ext cx="3312543" cy="230428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0DE983-0B0E-07CC-8C57-4EA529E27D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24423" y="957263"/>
            <a:ext cx="5372189" cy="4962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AB867-3FC6-5007-61B0-D9B7E5B0C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0" y="3958315"/>
            <a:ext cx="3312542" cy="196147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C7E0F-BFE1-7134-163B-B777970B7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95D0B-4F98-F3BE-FB23-22D8C5D4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B2E3D-2188-B7A9-0ECE-97814735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47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F4143-3C41-D626-8F64-36A9C9F1A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914400"/>
            <a:ext cx="9962791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2C4FB-B560-A0FC-6435-952981BC9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2285997"/>
            <a:ext cx="9962791" cy="38909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CEC4F-0A90-11E2-E43E-B9E765AFB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2A5B4-1D77-B0AC-49E7-CAE9556B1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96EF9-2FDA-8E87-D546-8840CEBF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73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085AB7-38B3-7F80-0B2D-7960F56375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24513" y="1052423"/>
            <a:ext cx="1771292" cy="49170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DBDC3-E9EA-8699-B2E4-4C7784455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6414" y="1052424"/>
            <a:ext cx="7873043" cy="49170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DBEDE-3A67-6FCA-25F3-B91F7C82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EFF51-4318-20EA-3A3A-8FE203B1A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D9703-5BAD-DE95-98D9-0F30E7C0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89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5258B98-3BD5-0A20-B0E7-944EAEB2654A}"/>
              </a:ext>
            </a:extLst>
          </p:cNvPr>
          <p:cNvSpPr/>
          <p:nvPr/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D404C1-E8A5-65FC-C068-21EA0397E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757238"/>
            <a:ext cx="10287000" cy="1147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CFD78-F171-BA47-AAF3-C6EB75F94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285997"/>
            <a:ext cx="10287000" cy="3890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65A77-B1AB-D608-A6C5-F0F99B691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68087" y="4756249"/>
            <a:ext cx="24763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9D0D92BC-42A9-434B-8530-ADBF4485E407}" type="datetimeFigureOut">
              <a:rPr lang="en-US" smtClean="0"/>
              <a:pPr/>
              <a:t>8/16/2026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E34E5-5E9B-7786-05B5-B93241EE2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89519" y="1758059"/>
            <a:ext cx="2433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5CD4B-611E-32FA-419D-326099EEF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9542" y="3246437"/>
            <a:ext cx="533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fld id="{A0289F9E-9962-4B7B-BA18-A15907CCC6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059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56032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2120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496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3210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 amt="35000"/>
          </a:blip>
          <a:srcRect b="1604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906270"/>
            <a:ext cx="12192000" cy="4478655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1814">
                <a:schemeClr val="accent1">
                  <a:lumMod val="60000"/>
                  <a:lumOff val="40000"/>
                  <a:alpha val="89000"/>
                </a:schemeClr>
              </a:gs>
              <a:gs pos="94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07715"/>
            <a:ext cx="7355457" cy="1560167"/>
          </a:xfrm>
        </p:spPr>
        <p:txBody>
          <a:bodyPr>
            <a:normAutofit/>
          </a:bodyPr>
          <a:lstStyle/>
          <a:p>
            <a:r>
              <a:rPr lang="en-IN" spc="0" dirty="0">
                <a:latin typeface="Arial Black" panose="020B0A04020102020204" charset="0"/>
                <a:cs typeface="Arial Black" panose="020B0A04020102020204" charset="0"/>
              </a:rPr>
              <a:t>26CSE1002J - Programming for Problem Solving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770" y="4698365"/>
            <a:ext cx="10417810" cy="1344295"/>
          </a:xfrm>
        </p:spPr>
        <p:txBody>
          <a:bodyPr>
            <a:normAutofit fontScale="97500"/>
          </a:bodyPr>
          <a:lstStyle/>
          <a:p>
            <a:pPr>
              <a:lnSpc>
                <a:spcPct val="110000"/>
              </a:lnSpc>
            </a:pPr>
            <a:r>
              <a:rPr dirty="0"/>
              <a:t>Unit 1 : Decision-Making</a:t>
            </a:r>
            <a:r>
              <a:rPr lang="en-US" dirty="0"/>
              <a:t> </a:t>
            </a:r>
            <a:endParaRPr dirty="0"/>
          </a:p>
          <a:p>
            <a:r>
              <a:rPr lang="en-US" dirty="0"/>
              <a:t>Prepared by - Dr. Jeba Sonia </a:t>
            </a:r>
            <a:r>
              <a:rPr lang="en-US" dirty="0" err="1"/>
              <a:t>J,Dr.R.Anita</a:t>
            </a:r>
            <a:r>
              <a:rPr lang="en-US" dirty="0"/>
              <a:t> Jasmine, Dr. </a:t>
            </a:r>
            <a:r>
              <a:rPr lang="en-US" dirty="0" err="1"/>
              <a:t>B.Yasodha</a:t>
            </a:r>
            <a:r>
              <a:rPr lang="en-US" dirty="0"/>
              <a:t> DSBS</a:t>
            </a:r>
          </a:p>
        </p:txBody>
      </p:sp>
      <p:cxnSp>
        <p:nvCxnSpPr>
          <p:cNvPr id="13" name="Straight Connector 12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1612574" y="460241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Google Shape;90;p13" descr="Profile photo of School of Computing SRMIST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35372" y="-58876"/>
            <a:ext cx="2464254" cy="252747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>
            <a:spLocks noGrp="1"/>
          </p:cNvSpPr>
          <p:nvPr/>
        </p:nvSpPr>
        <p:spPr>
          <a:xfrm>
            <a:off x="6096000" y="0"/>
            <a:ext cx="6096000" cy="1277620"/>
          </a:xfrm>
          <a:prstGeom prst="rect">
            <a:avLst/>
          </a:prstGeom>
          <a:solidFill>
            <a:srgbClr val="D8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square" lIns="91425" tIns="45700" rIns="91425" bIns="45700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r>
              <a:rPr lang="en-IN" sz="16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SRM INSTITUTE OF SCIENCE AND TECHNOLOGY</a:t>
            </a:r>
            <a:br>
              <a:rPr lang="en-IN" sz="16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</a:br>
            <a:r>
              <a:rPr lang="en-IN" sz="1600" dirty="0" err="1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Kattankulathur</a:t>
            </a:r>
            <a:br>
              <a:rPr lang="en-IN" sz="16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</a:br>
            <a:r>
              <a:rPr lang="en-IN" sz="16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SCHOOL</a:t>
            </a:r>
            <a:r>
              <a:rPr lang="en-US" altLang="en-IN" sz="16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OF COMPUTING</a:t>
            </a:r>
            <a:br>
              <a:rPr lang="en-IN" sz="2000" b="1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Computer Program?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65960"/>
            <a:ext cx="6126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A computer cannot think on its own — it only follows instructions.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A program is a set of step-by-step instructions that tells a computer exactly what to do.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These instructions must be written in a language the computer understands.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1" i="0">
                <a:solidFill>
                  <a:srgbClr val="000000"/>
                </a:solidFill>
                <a:latin typeface="Times New Roman" panose="02020603050405020304"/>
              </a:rPr>
              <a:t>Just like a recipe tells a cook what to do step by step, a program tells a computer what to do step by step.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1965960"/>
            <a:ext cx="4297680" cy="329184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188659"/>
                </a:solidFill>
                <a:latin typeface="Times New Roman" panose="02020603050405020304"/>
              </a:rPr>
              <a:t>EVERYDAY ANALOGY</a:t>
            </a:r>
          </a:p>
          <a:p>
            <a:pPr algn="ctr"/>
            <a:endParaRPr sz="1600" b="1" i="0">
              <a:solidFill>
                <a:srgbClr val="188659"/>
              </a:solidFill>
              <a:latin typeface="Times New Roman" panose="02020603050405020304"/>
            </a:endParaRPr>
          </a:p>
          <a:p>
            <a:pPr algn="ctr"/>
            <a:r>
              <a:rPr sz="1500" b="0" i="0">
                <a:solidFill>
                  <a:srgbClr val="0A2E36"/>
                </a:solidFill>
                <a:latin typeface="Times New Roman" panose="02020603050405020304"/>
              </a:rPr>
              <a:t>Recipe → Cook</a:t>
            </a:r>
          </a:p>
          <a:p>
            <a:pPr algn="ctr"/>
            <a:r>
              <a:rPr sz="1500" b="0" i="0">
                <a:solidFill>
                  <a:srgbClr val="0A2E36"/>
                </a:solidFill>
                <a:latin typeface="Times New Roman" panose="02020603050405020304"/>
              </a:rPr>
              <a:t>(ingredients, steps, order)</a:t>
            </a:r>
          </a:p>
          <a:p>
            <a:pPr algn="ctr"/>
            <a:endParaRPr sz="1500" b="0" i="0">
              <a:solidFill>
                <a:srgbClr val="0A2E36"/>
              </a:solidFill>
              <a:latin typeface="Times New Roman" panose="02020603050405020304"/>
            </a:endParaRPr>
          </a:p>
          <a:p>
            <a:pPr algn="ctr"/>
            <a:r>
              <a:rPr sz="1500" b="0" i="0">
                <a:solidFill>
                  <a:srgbClr val="0A2E36"/>
                </a:solidFill>
                <a:latin typeface="Times New Roman" panose="02020603050405020304"/>
              </a:rPr>
              <a:t>Program → Computer</a:t>
            </a:r>
          </a:p>
          <a:p>
            <a:pPr algn="ctr"/>
            <a:r>
              <a:rPr sz="1500" b="0" i="0">
                <a:solidFill>
                  <a:srgbClr val="0A2E36"/>
                </a:solidFill>
                <a:latin typeface="Times New Roman" panose="02020603050405020304"/>
              </a:rPr>
              <a:t>(data, instructions, order)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Programming Language? What Is 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65960"/>
            <a:ext cx="108813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A programming language is a set of rules and words used to write instructions for a computer (e.g., C, Python, Java).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C is one of the oldest and most important programming languages — created by Dennis Ritchie in 1972 at Bell Labs.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24612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Why C Is Taught First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What It Means for You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Close to how the computer actually works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You understand memory, variables, and logic deeply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Simple, small set of rules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Easier for beginners — including non-CS backgrounds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Foundation for C++, Java, Python, C#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Learning C makes every future language easier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Used in operating systems, embedded devices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Practical, real-world relevance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Structure of a C Program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965960"/>
            <a:ext cx="5120640" cy="429768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Skeleton of a C Program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#include &lt;stdio.h&gt;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main()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{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   // declarations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   // statements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   return 0;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965960"/>
            <a:ext cx="5486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#include &lt;stdio.h&gt; — brings in ready-made input/output tools (like printf, scanf).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int main() — every C program starts execution from main(). It is compulsory.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{ } — curly braces mark the start and end of a block of code.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Statements inside main() run one after another, from top to bottom.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return 0; — tells the operating system the program finished successfully.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First C Program: Hello, World!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965960"/>
            <a:ext cx="5394960" cy="329184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Example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#include &lt;stdio.h&gt;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main()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{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   printf("Hello, World!");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   return 0;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965960"/>
            <a:ext cx="5212080" cy="1005840"/>
          </a:xfrm>
          <a:prstGeom prst="roundRect">
            <a:avLst/>
          </a:prstGeom>
          <a:solidFill>
            <a:srgbClr val="0A2E36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OUTPUT</a:t>
            </a:r>
          </a:p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Hello, World!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3017520"/>
            <a:ext cx="52120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printf() displays (prints) text on the screen.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Text inside double quotes " " is printed exactly as typed.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Every statement in C ends with a semicolon ( ; ).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1" i="0">
                <a:solidFill>
                  <a:srgbClr val="000000"/>
                </a:solidFill>
                <a:latin typeface="Times New Roman" panose="02020603050405020304"/>
              </a:rPr>
              <a:t>This is usually the very first program every C programmer writes.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 C Program Runs: Compiling &amp; Executing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011680"/>
            <a:ext cx="2606040" cy="1371600"/>
          </a:xfrm>
          <a:prstGeom prst="roundRect">
            <a:avLst/>
          </a:prstGeom>
          <a:solidFill>
            <a:srgbClr val="188659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/>
              </a:rPr>
              <a:t>1. Write Source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566160"/>
            <a:ext cx="2606040" cy="137160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0A2E36"/>
                </a:solidFill>
                <a:latin typeface="Times New Roman" panose="02020603050405020304"/>
              </a:rPr>
              <a:t>You type .c file</a:t>
            </a:r>
          </a:p>
          <a:p>
            <a:pPr algn="ctr"/>
            <a:r>
              <a:rPr sz="1200" b="0" i="0">
                <a:solidFill>
                  <a:srgbClr val="0A2E36"/>
                </a:solidFill>
                <a:latin typeface="Times New Roman" panose="02020603050405020304"/>
              </a:rPr>
              <a:t>using an editor/IDE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64408" y="2514600"/>
            <a:ext cx="256032" cy="274320"/>
          </a:xfrm>
          <a:prstGeom prst="rightArrow">
            <a:avLst/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83280" y="2011680"/>
            <a:ext cx="2606040" cy="1371600"/>
          </a:xfrm>
          <a:prstGeom prst="roundRect">
            <a:avLst/>
          </a:prstGeom>
          <a:solidFill>
            <a:srgbClr val="188659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/>
              </a:rPr>
              <a:t>2. Compile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3566160"/>
            <a:ext cx="2606040" cy="137160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0A2E36"/>
                </a:solidFill>
                <a:latin typeface="Times New Roman" panose="02020603050405020304"/>
              </a:rPr>
              <a:t>Compiler checks &amp;</a:t>
            </a:r>
          </a:p>
          <a:p>
            <a:pPr algn="ctr"/>
            <a:r>
              <a:rPr sz="1200" b="0" i="0">
                <a:solidFill>
                  <a:srgbClr val="0A2E36"/>
                </a:solidFill>
                <a:latin typeface="Times New Roman" panose="02020603050405020304"/>
              </a:rPr>
              <a:t>translates to machine code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07608" y="2514600"/>
            <a:ext cx="256032" cy="274320"/>
          </a:xfrm>
          <a:prstGeom prst="rightArrow">
            <a:avLst/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26480" y="2011680"/>
            <a:ext cx="2606040" cy="1371600"/>
          </a:xfrm>
          <a:prstGeom prst="roundRect">
            <a:avLst/>
          </a:prstGeom>
          <a:solidFill>
            <a:srgbClr val="188659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/>
              </a:rPr>
              <a:t>3. Link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566160"/>
            <a:ext cx="2606040" cy="137160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0A2E36"/>
                </a:solidFill>
                <a:latin typeface="Times New Roman" panose="02020603050405020304"/>
              </a:rPr>
              <a:t>Combines code with</a:t>
            </a:r>
          </a:p>
          <a:p>
            <a:pPr algn="ctr"/>
            <a:r>
              <a:rPr sz="1200" b="0" i="0">
                <a:solidFill>
                  <a:srgbClr val="0A2E36"/>
                </a:solidFill>
                <a:latin typeface="Times New Roman" panose="02020603050405020304"/>
              </a:rPr>
              <a:t>library files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50808" y="2514600"/>
            <a:ext cx="256032" cy="274320"/>
          </a:xfrm>
          <a:prstGeom prst="rightArrow">
            <a:avLst/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869680" y="2011680"/>
            <a:ext cx="2606040" cy="1371600"/>
          </a:xfrm>
          <a:prstGeom prst="roundRect">
            <a:avLst/>
          </a:prstGeom>
          <a:solidFill>
            <a:srgbClr val="188659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/>
              </a:rPr>
              <a:t>4. Run / Execute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3566160"/>
            <a:ext cx="2606040" cy="137160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0A2E36"/>
                </a:solidFill>
                <a:latin typeface="Times New Roman" panose="02020603050405020304"/>
              </a:rPr>
              <a:t>CPU executes the</a:t>
            </a:r>
          </a:p>
          <a:p>
            <a:pPr algn="ctr"/>
            <a:r>
              <a:rPr sz="1200" b="0" i="0">
                <a:solidFill>
                  <a:srgbClr val="0A2E36"/>
                </a:solidFill>
                <a:latin typeface="Times New Roman" panose="02020603050405020304"/>
              </a:rPr>
              <a:t>program, shows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12080"/>
            <a:ext cx="108813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A compiler (e.g., GCC, Turbo C, or an online tool like Replit) converts C code into machine code the computer can run.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If there are typing/logic mistakes, the compiler reports errors before the program can run.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Keywords in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65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Keywords are reserved words that already have a fixed meaning in C. You cannot use them as variable names.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2606040" cy="68580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188659"/>
                </a:solidFill>
                <a:latin typeface="Times New Roman" panose="02020603050405020304"/>
              </a:rPr>
              <a:t>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468880"/>
            <a:ext cx="2606040" cy="68580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188659"/>
                </a:solidFill>
                <a:latin typeface="Times New Roman" panose="02020603050405020304"/>
              </a:rPr>
              <a:t>float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468880"/>
            <a:ext cx="2606040" cy="68580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188659"/>
                </a:solidFill>
                <a:latin typeface="Times New Roman" panose="02020603050405020304"/>
              </a:rPr>
              <a:t>char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2468880"/>
            <a:ext cx="2606040" cy="68580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188659"/>
                </a:solidFill>
                <a:latin typeface="Times New Roman" panose="02020603050405020304"/>
              </a:rPr>
              <a:t>if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2606040" cy="68580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188659"/>
                </a:solidFill>
                <a:latin typeface="Times New Roman" panose="02020603050405020304"/>
              </a:rPr>
              <a:t>else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337560"/>
            <a:ext cx="2606040" cy="68580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188659"/>
                </a:solidFill>
                <a:latin typeface="Times New Roman" panose="02020603050405020304"/>
              </a:rPr>
              <a:t>for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337560"/>
            <a:ext cx="2606040" cy="68580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188659"/>
                </a:solidFill>
                <a:latin typeface="Times New Roman" panose="02020603050405020304"/>
              </a:rPr>
              <a:t>while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3337560"/>
            <a:ext cx="2606040" cy="68580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188659"/>
                </a:solidFill>
                <a:latin typeface="Times New Roman" panose="02020603050405020304"/>
              </a:rPr>
              <a:t>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06240"/>
            <a:ext cx="2606040" cy="68580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188659"/>
                </a:solidFill>
                <a:latin typeface="Times New Roman" panose="02020603050405020304"/>
              </a:rPr>
              <a:t>switch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4206240"/>
            <a:ext cx="2606040" cy="68580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188659"/>
                </a:solidFill>
                <a:latin typeface="Times New Roman" panose="02020603050405020304"/>
              </a:rPr>
              <a:t>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206240"/>
            <a:ext cx="2606040" cy="68580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188659"/>
                </a:solidFill>
                <a:latin typeface="Times New Roman" panose="02020603050405020304"/>
              </a:rPr>
              <a:t>return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4206240"/>
            <a:ext cx="2606040" cy="68580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188659"/>
                </a:solidFill>
                <a:latin typeface="Times New Roman" panose="02020603050405020304"/>
              </a:rPr>
              <a:t>void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74920"/>
            <a:ext cx="2606040" cy="68580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188659"/>
                </a:solidFill>
                <a:latin typeface="Times New Roman" panose="02020603050405020304"/>
              </a:rPr>
              <a:t>break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5074920"/>
            <a:ext cx="2606040" cy="68580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188659"/>
                </a:solidFill>
                <a:latin typeface="Times New Roman" panose="02020603050405020304"/>
              </a:rPr>
              <a:t>continue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5074920"/>
            <a:ext cx="2606040" cy="68580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188659"/>
                </a:solidFill>
                <a:latin typeface="Times New Roman" panose="02020603050405020304"/>
              </a:rPr>
              <a:t>const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5074920"/>
            <a:ext cx="2606040" cy="68580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188659"/>
                </a:solidFill>
                <a:latin typeface="Times New Roman" panose="02020603050405020304"/>
              </a:rPr>
              <a:t>struct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Identifiers — Naming Things in a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65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An identifier is a name you give to a variable, function, or other item in your program (e.g., score, totalMarks).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063240"/>
          <a:ext cx="10881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Rule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Valid Example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Invalid Example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Can contain letters, digits, underscore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student_1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student#1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Must start with a letter or underscore (not a digit)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_total, total1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1total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Cannot be a C keyword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sum, avg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int, float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Case-sensitive (Marks and marks are different)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Marks, marks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No spaces allowed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totalMarks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total Marks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Comments in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65960"/>
            <a:ext cx="51206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 dirty="0">
                <a:solidFill>
                  <a:srgbClr val="000000"/>
                </a:solidFill>
                <a:latin typeface="Times New Roman" panose="02020603050405020304"/>
              </a:rPr>
              <a:t>Comments are notes for humans — the compiler ignores them completely.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 dirty="0">
                <a:solidFill>
                  <a:srgbClr val="000000"/>
                </a:solidFill>
                <a:latin typeface="Times New Roman" panose="02020603050405020304"/>
              </a:rPr>
              <a:t>They are used to explain what the code does, making it easier to read and maintain.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1" i="0" dirty="0">
                <a:solidFill>
                  <a:srgbClr val="000000"/>
                </a:solidFill>
                <a:latin typeface="Times New Roman" panose="02020603050405020304"/>
              </a:rPr>
              <a:t>Two types in C:</a:t>
            </a:r>
          </a:p>
          <a:p>
            <a:pPr lvl="1"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–"/>
            </a:pPr>
            <a:r>
              <a:rPr sz="1600" b="0" i="0" dirty="0">
                <a:solidFill>
                  <a:srgbClr val="000000"/>
                </a:solidFill>
                <a:latin typeface="Times New Roman" panose="02020603050405020304"/>
              </a:rPr>
              <a:t>Single-line comment</a:t>
            </a:r>
          </a:p>
          <a:p>
            <a:pPr lvl="1"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–"/>
            </a:pPr>
            <a:r>
              <a:rPr sz="1600" b="0" i="0" dirty="0">
                <a:solidFill>
                  <a:srgbClr val="000000"/>
                </a:solidFill>
                <a:latin typeface="Times New Roman" panose="02020603050405020304"/>
              </a:rPr>
              <a:t>Multi-line comment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965960"/>
            <a:ext cx="5577840" cy="393192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Example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#include &lt;stdio.h&gt;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int main()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{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// This prints a message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printf("Hi!");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/* This is a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   multi-line comment */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return 0;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65960"/>
            <a:ext cx="10881360" cy="25488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A program is a set of instructions; C is a simple, foundational programming language.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Every C program starts from main() and is written inside { } blocks.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A source file is compiled, linked, and then run to produce output.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Keywords are reserved; identifiers are the names you choose for variables and functions.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Comments explain code to humans and are ignored by the compiler.</a:t>
            </a:r>
          </a:p>
          <a:p>
            <a:pPr indent="0">
              <a:lnSpc>
                <a:spcPct val="115000"/>
              </a:lnSpc>
              <a:spcAft>
                <a:spcPts val="1000"/>
              </a:spcAft>
              <a:buFont typeface="Arial" panose="020B0604020202020204"/>
              <a:buNone/>
            </a:pPr>
            <a:endParaRPr sz="1800" b="1" i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0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01" name="Picture 3"/>
          <p:cNvPicPr>
            <a:picLocks noChangeAspect="1"/>
          </p:cNvPicPr>
          <p:nvPr/>
        </p:nvPicPr>
        <p:blipFill>
          <a:blip r:embed="rId2">
            <a:alphaModFix amt="35000"/>
          </a:blip>
          <a:srcRect b="1604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1002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1906214"/>
            <a:ext cx="12192000" cy="4957314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1814">
                <a:schemeClr val="accent1">
                  <a:lumMod val="60000"/>
                  <a:lumOff val="40000"/>
                  <a:alpha val="89000"/>
                </a:schemeClr>
              </a:gs>
              <a:gs pos="94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3" name="Title 1"/>
          <p:cNvSpPr>
            <a:spLocks noGrp="1"/>
          </p:cNvSpPr>
          <p:nvPr>
            <p:ph type="ctrTitle"/>
          </p:nvPr>
        </p:nvSpPr>
        <p:spPr>
          <a:xfrm>
            <a:off x="1524000" y="2714445"/>
            <a:ext cx="7355457" cy="1560167"/>
          </a:xfrm>
        </p:spPr>
        <p:txBody>
          <a:bodyPr>
            <a:normAutofit/>
          </a:bodyPr>
          <a:lstStyle/>
          <a:p>
            <a:r>
              <a:rPr lang="en-IN" spc="0" dirty="0">
                <a:latin typeface="Arial Black" panose="020B0A04020102020204" charset="0"/>
                <a:cs typeface="Arial Black" panose="020B0A04020102020204" charset="0"/>
              </a:rPr>
              <a:t>26CSE1002J - Programming for Problem Solving</a:t>
            </a:r>
          </a:p>
        </p:txBody>
      </p:sp>
      <p:sp>
        <p:nvSpPr>
          <p:cNvPr id="1004" name="Subtitle 2"/>
          <p:cNvSpPr>
            <a:spLocks noGrp="1"/>
          </p:cNvSpPr>
          <p:nvPr>
            <p:ph type="subTitle" idx="1"/>
          </p:nvPr>
        </p:nvSpPr>
        <p:spPr>
          <a:xfrm>
            <a:off x="1524000" y="4920137"/>
            <a:ext cx="9974580" cy="112236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dirty="0"/>
              <a:t>Unit 1 : Decision-Making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/>
              <a:t>Example Programs &amp; Practice Questions: Introduction to C</a:t>
            </a:r>
          </a:p>
        </p:txBody>
      </p:sp>
      <p:cxnSp>
        <p:nvCxnSpPr>
          <p:cNvPr id="1005" name="Straight Connector 12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1612574" y="460241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Program 1 — Printing Details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5486400" cy="420624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Program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#include &lt;stdio.h&gt;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main()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{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   printf("Name: Arun Kumar\n");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   printf("Department: CSE\n");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   printf("College: SRMIST\n");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   return 0;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}</a:t>
            </a:r>
          </a:p>
        </p:txBody>
      </p:sp>
      <p:sp>
        <p:nvSpPr>
          <p:cNvPr id="1002" name="Rounded Rectangle 3"/>
          <p:cNvSpPr/>
          <p:nvPr/>
        </p:nvSpPr>
        <p:spPr>
          <a:xfrm>
            <a:off x="6400800" y="1965960"/>
            <a:ext cx="5120640" cy="1828800"/>
          </a:xfrm>
          <a:prstGeom prst="roundRect">
            <a:avLst/>
          </a:prstGeom>
          <a:solidFill>
            <a:srgbClr val="0A2E36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</a:rPr>
              <a:t>OUTPUT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</a:rPr>
              <a:t>Name: Arun Kumar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</a:rPr>
              <a:t>Department: CSE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</a:rPr>
              <a:t>College: SRMIST</a:t>
            </a:r>
          </a:p>
        </p:txBody>
      </p:sp>
      <p:sp>
        <p:nvSpPr>
          <p:cNvPr id="1003" name="TextBox 4"/>
          <p:cNvSpPr txBox="1"/>
          <p:nvPr/>
        </p:nvSpPr>
        <p:spPr>
          <a:xfrm>
            <a:off x="6400800" y="4023360"/>
            <a:ext cx="51206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Each printf() prints one line and moves to the next using \n.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This is the simplest kind of C program — only output, no input.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Program 2 — Comments &amp; Multiple Statements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5852160" cy="420624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Program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#include &lt;stdio.h&gt;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int main()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{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// Step 1: greet the user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printf("Hello, Student!\n");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// Step 2: show a motivational line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printf("Let's learn C together.\n");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return 0;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}</a:t>
            </a:r>
          </a:p>
        </p:txBody>
      </p:sp>
      <p:sp>
        <p:nvSpPr>
          <p:cNvPr id="1002" name="Rounded Rectangle 3"/>
          <p:cNvSpPr/>
          <p:nvPr/>
        </p:nvSpPr>
        <p:spPr>
          <a:xfrm>
            <a:off x="6766560" y="1965960"/>
            <a:ext cx="4754880" cy="1463040"/>
          </a:xfrm>
          <a:prstGeom prst="roundRect">
            <a:avLst/>
          </a:prstGeom>
          <a:solidFill>
            <a:srgbClr val="0A2E36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</a:rPr>
              <a:t>OUTPUT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</a:rPr>
              <a:t>Hello, Student!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</a:rPr>
              <a:t>Let's learn C together.</a:t>
            </a:r>
          </a:p>
        </p:txBody>
      </p:sp>
      <p:sp>
        <p:nvSpPr>
          <p:cNvPr id="1003" name="TextBox 4"/>
          <p:cNvSpPr txBox="1"/>
          <p:nvPr/>
        </p:nvSpPr>
        <p:spPr>
          <a:xfrm>
            <a:off x="6766560" y="3657600"/>
            <a:ext cx="47548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Comments (//) explain each step but do not appear in the output.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Statements execute strictly top to bottom.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Spot the Bug!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The program below has 3 mistakes. Can you find them before checking the answer?</a:t>
            </a:r>
          </a:p>
        </p:txBody>
      </p:sp>
      <p:sp>
        <p:nvSpPr>
          <p:cNvPr id="1002" name="Rounded Rectangle 3"/>
          <p:cNvSpPr/>
          <p:nvPr/>
        </p:nvSpPr>
        <p:spPr>
          <a:xfrm>
            <a:off x="640080" y="2834640"/>
            <a:ext cx="10881360" cy="237744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</a:rPr>
              <a:t>Buggy Code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#include &lt;stdio.h&gt;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int main()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{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    printf("Hello World"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    return 0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}</a:t>
            </a:r>
          </a:p>
        </p:txBody>
      </p:sp>
      <p:sp>
        <p:nvSpPr>
          <p:cNvPr id="1003" name="TextBox 4"/>
          <p:cNvSpPr txBox="1"/>
          <p:nvPr/>
        </p:nvSpPr>
        <p:spPr>
          <a:xfrm>
            <a:off x="640080" y="5486400"/>
            <a:ext cx="108813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Answer: </a:t>
            </a:r>
            <a:r>
              <a:rPr sz="1400" b="1" i="0">
                <a:solidFill>
                  <a:srgbClr val="0A2E36"/>
                </a:solidFill>
                <a:latin typeface="Times New Roman" panose="02020603050405020304"/>
              </a:rPr>
              <a:t>3 mistakes found.</a:t>
            </a:r>
          </a:p>
          <a:p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Reason: </a:t>
            </a:r>
            <a:r>
              <a:rPr sz="1400" b="0" i="0">
                <a:solidFill>
                  <a:srgbClr val="000000"/>
                </a:solidFill>
                <a:latin typeface="Times New Roman" panose="02020603050405020304"/>
              </a:rPr>
              <a:t>1) Missing closing ) after "Hello World".  2) Missing ; after printf(...).  3) Missing ; after return 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Questions — Try These Yourself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0" i="0">
                <a:solidFill>
                  <a:srgbClr val="000000"/>
                </a:solidFill>
                <a:latin typeface="Times New Roman" panose="02020603050405020304"/>
              </a:rPr>
              <a:t>1.  Write a C program to print your name, roll number, and branch on three separate lines.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0" i="0">
                <a:solidFill>
                  <a:srgbClr val="000000"/>
                </a:solidFill>
                <a:latin typeface="Times New Roman" panose="02020603050405020304"/>
              </a:rPr>
              <a:t>2.  Write a C program that prints "Programming is Fun!" five times using five separate printf() statements.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0" i="0">
                <a:solidFill>
                  <a:srgbClr val="000000"/>
                </a:solidFill>
                <a:latin typeface="Times New Roman" panose="02020603050405020304"/>
              </a:rPr>
              <a:t>3.  Write a C program with at least two comments explaining what each printf() line does.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0" i="0">
                <a:solidFill>
                  <a:srgbClr val="000000"/>
                </a:solidFill>
                <a:latin typeface="Times New Roman" panose="02020603050405020304"/>
              </a:rPr>
              <a:t>4.  Write a C program that prints a small pattern using text, for example:  * * * / ** ** ** / *** *** ***  (one printf per line).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0" i="0">
                <a:solidFill>
                  <a:srgbClr val="000000"/>
                </a:solidFill>
                <a:latin typeface="Times New Roman" panose="02020603050405020304"/>
              </a:rPr>
              <a:t>5.  Rewrite Example Program 1 to also print your favorite subject, keeping the same style.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0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01" name="Picture 3"/>
          <p:cNvPicPr>
            <a:picLocks noChangeAspect="1"/>
          </p:cNvPicPr>
          <p:nvPr/>
        </p:nvPicPr>
        <p:blipFill>
          <a:blip r:embed="rId2">
            <a:alphaModFix amt="35000"/>
          </a:blip>
          <a:srcRect b="1604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1002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1906214"/>
            <a:ext cx="12192000" cy="4957314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1814">
                <a:schemeClr val="accent1">
                  <a:lumMod val="60000"/>
                  <a:lumOff val="40000"/>
                  <a:alpha val="89000"/>
                </a:schemeClr>
              </a:gs>
              <a:gs pos="94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3" name="Title 1"/>
          <p:cNvSpPr>
            <a:spLocks noGrp="1"/>
          </p:cNvSpPr>
          <p:nvPr>
            <p:ph type="ctrTitle"/>
          </p:nvPr>
        </p:nvSpPr>
        <p:spPr>
          <a:xfrm>
            <a:off x="1524000" y="2714445"/>
            <a:ext cx="7355457" cy="1560167"/>
          </a:xfrm>
        </p:spPr>
        <p:txBody>
          <a:bodyPr>
            <a:normAutofit/>
          </a:bodyPr>
          <a:lstStyle/>
          <a:p>
            <a:r>
              <a:rPr lang="en-IN" spc="0" dirty="0">
                <a:latin typeface="Arial Black" panose="020B0A04020102020204" charset="0"/>
                <a:cs typeface="Arial Black" panose="020B0A04020102020204" charset="0"/>
              </a:rPr>
              <a:t>26CSE1002J - Programming for Problem Solving</a:t>
            </a:r>
          </a:p>
        </p:txBody>
      </p:sp>
      <p:sp>
        <p:nvSpPr>
          <p:cNvPr id="1004" name="Subtitle 2"/>
          <p:cNvSpPr>
            <a:spLocks noGrp="1"/>
          </p:cNvSpPr>
          <p:nvPr>
            <p:ph type="subTitle" idx="1"/>
          </p:nvPr>
        </p:nvSpPr>
        <p:spPr>
          <a:xfrm>
            <a:off x="1524000" y="4920137"/>
            <a:ext cx="9974580" cy="112236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dirty="0"/>
              <a:t>Unit 1 : Decision-Making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/>
              <a:t>Session 1  |  SLO-1</a:t>
            </a:r>
          </a:p>
          <a:p>
            <a:r>
              <a:rPr dirty="0"/>
              <a:t>SLO: Introduce simple data types (int, float, char) in C by understanding their size, range, and appropriate applications.</a:t>
            </a:r>
          </a:p>
        </p:txBody>
      </p:sp>
      <p:cxnSp>
        <p:nvCxnSpPr>
          <p:cNvPr id="1005" name="Straight Connector 12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1612574" y="460241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Variable?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5760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A variable is a named location in the computer's memory used to store a value.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Think of it as a labelled box that can hold one piece of data at a time.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The value inside a variable can change while the program runs — that's why it is called a 'variable'.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1" i="0">
                <a:solidFill>
                  <a:srgbClr val="000000"/>
                </a:solidFill>
                <a:latin typeface="Times New Roman" panose="02020603050405020304"/>
              </a:rPr>
              <a:t>In C, every variable must be declared with a data type before it is used.</a:t>
            </a:r>
          </a:p>
        </p:txBody>
      </p:sp>
      <p:sp>
        <p:nvSpPr>
          <p:cNvPr id="1002" name="Rounded Rectangle 3"/>
          <p:cNvSpPr/>
          <p:nvPr/>
        </p:nvSpPr>
        <p:spPr>
          <a:xfrm>
            <a:off x="6675120" y="2286000"/>
            <a:ext cx="4846320" cy="237744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i="0">
                <a:solidFill>
                  <a:srgbClr val="0A2E36"/>
                </a:solidFill>
                <a:latin typeface="Times New Roman" panose="02020603050405020304"/>
              </a:rPr>
              <a:t>age</a:t>
            </a:r>
          </a:p>
          <a:p>
            <a:pPr algn="ctr"/>
            <a:r>
              <a:rPr sz="2600" b="1" i="0">
                <a:solidFill>
                  <a:srgbClr val="0A2E36"/>
                </a:solidFill>
                <a:latin typeface="Times New Roman" panose="02020603050405020304"/>
              </a:rPr>
              <a:t>21</a:t>
            </a:r>
          </a:p>
        </p:txBody>
      </p:sp>
      <p:sp>
        <p:nvSpPr>
          <p:cNvPr id="1003" name="TextBox 4"/>
          <p:cNvSpPr txBox="1"/>
          <p:nvPr/>
        </p:nvSpPr>
        <p:spPr>
          <a:xfrm>
            <a:off x="6675120" y="4800600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i="1">
                <a:solidFill>
                  <a:srgbClr val="0A2E36"/>
                </a:solidFill>
                <a:latin typeface="Times New Roman" panose="02020603050405020304"/>
              </a:rPr>
              <a:t>A box labelled 'age' holding the value 21 in memory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Data Type? Why Do We Need It?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A data type tells the compiler what kind of value a variable will store, and how much memory to set aside for it.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Different kinds of information need different treatment — a whole number, a decimal number, and a single character are not stored the same way.</a:t>
            </a:r>
          </a:p>
        </p:txBody>
      </p:sp>
      <p:graphicFrame>
        <p:nvGraphicFramePr>
          <p:cNvPr id="1002" name="Table 3"/>
          <p:cNvGraphicFramePr>
            <a:graphicFrameLocks noGrp="1"/>
          </p:cNvGraphicFramePr>
          <p:nvPr/>
        </p:nvGraphicFramePr>
        <p:xfrm>
          <a:off x="640080" y="3749039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Real-World Data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C Data Type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Number of students in a class (25)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Height of a student (5.6 feet)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float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Grade of a student ('A')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char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Data Types in C — Overview</a:t>
            </a:r>
          </a:p>
        </p:txBody>
      </p:sp>
      <p:graphicFrame>
        <p:nvGraphicFramePr>
          <p:cNvPr id="1001" name="Table 2"/>
          <p:cNvGraphicFramePr>
            <a:graphicFrameLocks noGrp="1"/>
          </p:cNvGraphicFramePr>
          <p:nvPr/>
        </p:nvGraphicFramePr>
        <p:xfrm>
          <a:off x="640080" y="196596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Data Type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Used For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Example Value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Whole numbers (no decimal point)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25, -10,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float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Decimal (real) numbers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5.6, -3.14, 0.0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char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 single character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'A', 'z', '5'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02" name="TextBox 3"/>
          <p:cNvSpPr txBox="1"/>
          <p:nvPr/>
        </p:nvSpPr>
        <p:spPr>
          <a:xfrm>
            <a:off x="640080" y="5029200"/>
            <a:ext cx="10881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These are called basic (primitive) data types — the building blocks of every C program.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Choosing the correct data type keeps your program accurate and memory-efficient.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int Data Type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55778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Used to store whole numbers — numbers without a decimal point.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Can be positive, negative, or zero.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Typical size: 4 bytes (on most modern compilers).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Typical range: −2,147,483,648 to 2,147,483,647.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Examples: number of students, age, marks, count of items.</a:t>
            </a:r>
          </a:p>
        </p:txBody>
      </p:sp>
      <p:sp>
        <p:nvSpPr>
          <p:cNvPr id="1002" name="Rounded Rectangle 3"/>
          <p:cNvSpPr/>
          <p:nvPr/>
        </p:nvSpPr>
        <p:spPr>
          <a:xfrm>
            <a:off x="6492240" y="1965960"/>
            <a:ext cx="5029200" cy="210312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Example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int age = 20;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int totalStudents = 60;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int temperature = -5;</a:t>
            </a:r>
          </a:p>
        </p:txBody>
      </p:sp>
      <p:sp>
        <p:nvSpPr>
          <p:cNvPr id="1003" name="Rounded Rectangle 4"/>
          <p:cNvSpPr/>
          <p:nvPr/>
        </p:nvSpPr>
        <p:spPr>
          <a:xfrm>
            <a:off x="6492240" y="4297680"/>
            <a:ext cx="5029200" cy="173736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0A2E36"/>
                </a:solidFill>
                <a:latin typeface="Times New Roman" panose="02020603050405020304"/>
              </a:rPr>
              <a:t>FORMAT SPECIFIER</a:t>
            </a:r>
          </a:p>
          <a:p>
            <a:pPr algn="ctr"/>
            <a:r>
              <a:rPr sz="1400" b="0" i="0">
                <a:solidFill>
                  <a:srgbClr val="0A2E36"/>
                </a:solidFill>
                <a:latin typeface="Times New Roman" panose="02020603050405020304"/>
              </a:rPr>
              <a:t>%d  is used with int</a:t>
            </a:r>
          </a:p>
          <a:p>
            <a:pPr algn="ctr"/>
            <a:r>
              <a:rPr sz="1400" b="0" i="0">
                <a:solidFill>
                  <a:srgbClr val="0A2E36"/>
                </a:solidFill>
                <a:latin typeface="Times New Roman" panose="02020603050405020304"/>
              </a:rPr>
              <a:t>in printf() and scanf()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float Data Type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55778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Used to store decimal (real) numbers — numbers with a fractional part.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Can represent very small or very large decimal values.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Typical size: 4 bytes.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Typical range: about 1.2×10⁻³⁸ to 3.4×10³⁸ (approximate precision, about 6-7 digits).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Examples: height, weight, price, average, temperature in decimals.</a:t>
            </a:r>
          </a:p>
        </p:txBody>
      </p:sp>
      <p:sp>
        <p:nvSpPr>
          <p:cNvPr id="1002" name="Rounded Rectangle 3"/>
          <p:cNvSpPr/>
          <p:nvPr/>
        </p:nvSpPr>
        <p:spPr>
          <a:xfrm>
            <a:off x="6492240" y="1965960"/>
            <a:ext cx="5029200" cy="210312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Example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float height = 5.9;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float price = 199.50;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float pi = 3.14159;</a:t>
            </a:r>
          </a:p>
        </p:txBody>
      </p:sp>
      <p:sp>
        <p:nvSpPr>
          <p:cNvPr id="1003" name="Rounded Rectangle 4"/>
          <p:cNvSpPr/>
          <p:nvPr/>
        </p:nvSpPr>
        <p:spPr>
          <a:xfrm>
            <a:off x="6492240" y="4297680"/>
            <a:ext cx="5029200" cy="173736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0A2E36"/>
                </a:solidFill>
                <a:latin typeface="Times New Roman" panose="02020603050405020304"/>
              </a:rPr>
              <a:t>FORMAT SPECIFIER</a:t>
            </a:r>
          </a:p>
          <a:p>
            <a:pPr algn="ctr"/>
            <a:r>
              <a:rPr sz="1400" b="0" i="0">
                <a:solidFill>
                  <a:srgbClr val="0A2E36"/>
                </a:solidFill>
                <a:latin typeface="Times New Roman" panose="02020603050405020304"/>
              </a:rPr>
              <a:t>%f  is used with float</a:t>
            </a:r>
          </a:p>
          <a:p>
            <a:pPr algn="ctr"/>
            <a:r>
              <a:rPr sz="1400" b="0" i="0">
                <a:solidFill>
                  <a:srgbClr val="0A2E36"/>
                </a:solidFill>
                <a:latin typeface="Times New Roman" panose="02020603050405020304"/>
              </a:rPr>
              <a:t>in printf() and scanf()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char Data Type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55778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Used to store a single character — a letter, digit symbol, or special symbol.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Always written inside single quotes: 'A', 'z', '7', '$'.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Typical size: 1 byte.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Range: −128 to 127 (internally, C stores a character as a small integer using ASCII code).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Examples: grade ('A'), gender ('M'/'F'), a menu choice ('1').</a:t>
            </a:r>
          </a:p>
        </p:txBody>
      </p:sp>
      <p:sp>
        <p:nvSpPr>
          <p:cNvPr id="1002" name="Rounded Rectangle 3"/>
          <p:cNvSpPr/>
          <p:nvPr/>
        </p:nvSpPr>
        <p:spPr>
          <a:xfrm>
            <a:off x="6492240" y="1965960"/>
            <a:ext cx="5029200" cy="210312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Example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char grade = 'A';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char initial = 'S';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char symbol = '$';</a:t>
            </a:r>
          </a:p>
        </p:txBody>
      </p:sp>
      <p:sp>
        <p:nvSpPr>
          <p:cNvPr id="1003" name="Rounded Rectangle 4"/>
          <p:cNvSpPr/>
          <p:nvPr/>
        </p:nvSpPr>
        <p:spPr>
          <a:xfrm>
            <a:off x="6492240" y="4297680"/>
            <a:ext cx="5029200" cy="173736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0A2E36"/>
                </a:solidFill>
                <a:latin typeface="Times New Roman" panose="02020603050405020304"/>
              </a:rPr>
              <a:t>FORMAT SPECIFIER</a:t>
            </a:r>
          </a:p>
          <a:p>
            <a:pPr algn="ctr"/>
            <a:r>
              <a:rPr sz="1400" b="0" i="0">
                <a:solidFill>
                  <a:srgbClr val="0A2E36"/>
                </a:solidFill>
                <a:latin typeface="Times New Roman" panose="02020603050405020304"/>
              </a:rPr>
              <a:t>%c  is used with char</a:t>
            </a:r>
          </a:p>
          <a:p>
            <a:pPr algn="ctr"/>
            <a:r>
              <a:rPr sz="1400" b="0" i="0">
                <a:solidFill>
                  <a:srgbClr val="0A2E36"/>
                </a:solidFill>
                <a:latin typeface="Times New Roman" panose="02020603050405020304"/>
              </a:rPr>
              <a:t>in printf() and scanf()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Size and Range — Quick Reference</a:t>
            </a:r>
          </a:p>
        </p:txBody>
      </p:sp>
      <p:graphicFrame>
        <p:nvGraphicFramePr>
          <p:cNvPr id="1001" name="Table 2"/>
          <p:cNvGraphicFramePr>
            <a:graphicFrameLocks noGrp="1"/>
          </p:cNvGraphicFramePr>
          <p:nvPr/>
        </p:nvGraphicFramePr>
        <p:xfrm>
          <a:off x="777732" y="2015122"/>
          <a:ext cx="9752616" cy="2261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5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4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5478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Data Type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Size (typical)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Approximate Range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Format Specifier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47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4 bytes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-2,147,483,648 to 2,147,483,647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%d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47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float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4 bytes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~1.2E-38 to ~3.4E38 (6-7 digit precision)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%f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47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char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1 byte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-128 to 127 (stores ASCII code)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%c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02" name="TextBox 3"/>
          <p:cNvSpPr txBox="1"/>
          <p:nvPr/>
        </p:nvSpPr>
        <p:spPr>
          <a:xfrm>
            <a:off x="640080" y="4663440"/>
            <a:ext cx="108813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Size decides how much memory (in bytes) a variable occupies. Range decides the smallest and largest value it can safely store.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Using sizeof(int), sizeof(float), sizeof(char) in a program shows you the exact size on your own compiler.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Declaring &amp; Initializing Variables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Syntax</a:t>
            </a:r>
          </a:p>
          <a:p>
            <a:r>
              <a:rPr sz="1700" b="1" i="0">
                <a:solidFill>
                  <a:srgbClr val="FFFFFF"/>
                </a:solidFill>
                <a:latin typeface="Courier New" panose="02070309020205020404"/>
              </a:rPr>
              <a:t>dataType variableName;</a:t>
            </a:r>
          </a:p>
          <a:p>
            <a:r>
              <a:rPr sz="17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700" b="1" i="0">
                <a:solidFill>
                  <a:srgbClr val="FFFFFF"/>
                </a:solidFill>
                <a:latin typeface="Courier New" panose="02070309020205020404"/>
              </a:rPr>
              <a:t>dataType variableName = value;</a:t>
            </a:r>
          </a:p>
        </p:txBody>
      </p:sp>
      <p:sp>
        <p:nvSpPr>
          <p:cNvPr id="1002" name="Rounded Rectangle 3"/>
          <p:cNvSpPr/>
          <p:nvPr/>
        </p:nvSpPr>
        <p:spPr>
          <a:xfrm>
            <a:off x="6217920" y="196596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Example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marks;      // declaration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marks = 88;     // assignment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float avg = 78.5;  // declare + initialize</a:t>
            </a:r>
          </a:p>
        </p:txBody>
      </p:sp>
      <p:sp>
        <p:nvSpPr>
          <p:cNvPr id="1003" name="TextBox 4"/>
          <p:cNvSpPr txBox="1"/>
          <p:nvPr/>
        </p:nvSpPr>
        <p:spPr>
          <a:xfrm>
            <a:off x="640080" y="5166360"/>
            <a:ext cx="108813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Declaration tells the compiler the variable's name and type (memory is reserved, value is undefined).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Initialization gives the variable its first value at the time of declaration.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Right Data Type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Pick the data type that matches the real-world quantity you are storing:</a:t>
            </a:r>
          </a:p>
        </p:txBody>
      </p:sp>
      <p:graphicFrame>
        <p:nvGraphicFramePr>
          <p:cNvPr id="1002" name="Table 3"/>
          <p:cNvGraphicFramePr>
            <a:graphicFrameLocks noGrp="1"/>
          </p:cNvGraphicFramePr>
          <p:nvPr/>
        </p:nvGraphicFramePr>
        <p:xfrm>
          <a:off x="640080" y="288036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Real-World Quantity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Best Data Type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Why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Number of students in a class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Always a whole number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Price of an item (₹149.50)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float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Has a decimal part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 student's grade ('A', 'B'...)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char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 single symbol, not a number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Attendance percentage (87.5%)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float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Has a decimal part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Roll number (101)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 whole number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25488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A variable is a named box in memory; a data type tells the compiler what kind of value it holds.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int stores whole numbers, float stores decimal numbers, char stores a single character.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Each data type has a typical size (in bytes) and a range of values it can hold.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Use %d for int, %f for float, and %c for char in printf() / scanf().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Always choose the data type that matches the real quantity you are storing.</a:t>
            </a:r>
          </a:p>
          <a:p>
            <a:pPr indent="0">
              <a:lnSpc>
                <a:spcPct val="115000"/>
              </a:lnSpc>
              <a:spcAft>
                <a:spcPts val="1000"/>
              </a:spcAft>
              <a:buFont typeface="Arial" panose="020B0604020202020204"/>
              <a:buNone/>
            </a:pPr>
            <a:endParaRPr sz="1800" b="1" i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Program 1 — Declaring All Three Types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5760720" cy="420624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Program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#include &lt;stdio.h&gt;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int main()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{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int age = 19;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float height = 5.6;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char grade = 'A';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printf("Age: %d\n", age);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printf("Height: %.1f\n", height);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printf("Grade: %c\n", grade);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return 0;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}</a:t>
            </a:r>
          </a:p>
        </p:txBody>
      </p:sp>
      <p:sp>
        <p:nvSpPr>
          <p:cNvPr id="1002" name="Rounded Rectangle 3"/>
          <p:cNvSpPr/>
          <p:nvPr/>
        </p:nvSpPr>
        <p:spPr>
          <a:xfrm>
            <a:off x="6583680" y="1965960"/>
            <a:ext cx="4937760" cy="1920240"/>
          </a:xfrm>
          <a:prstGeom prst="roundRect">
            <a:avLst/>
          </a:prstGeom>
          <a:solidFill>
            <a:srgbClr val="0A2E36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</a:rPr>
              <a:t>OUTPUT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</a:rPr>
              <a:t>Age: 19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</a:rPr>
              <a:t>Height: 5.6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</a:rPr>
              <a:t>Grade: A</a:t>
            </a:r>
          </a:p>
        </p:txBody>
      </p:sp>
      <p:sp>
        <p:nvSpPr>
          <p:cNvPr id="1003" name="TextBox 4"/>
          <p:cNvSpPr txBox="1"/>
          <p:nvPr/>
        </p:nvSpPr>
        <p:spPr>
          <a:xfrm>
            <a:off x="6583680" y="4160520"/>
            <a:ext cx="493776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%.1f prints a float with 1 digit after the decimal point.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Each variable uses the format specifier that matches its data type.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Program 2 — Checking Size with sizeof()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5760720" cy="393192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Program</a:t>
            </a:r>
          </a:p>
          <a:p>
            <a:r>
              <a:rPr sz="1300" b="1" i="0">
                <a:solidFill>
                  <a:srgbClr val="FFFFFF"/>
                </a:solidFill>
                <a:latin typeface="Courier New" panose="02070309020205020404"/>
              </a:rPr>
              <a:t>#include &lt;stdio.h&gt;</a:t>
            </a:r>
          </a:p>
          <a:p>
            <a:r>
              <a:rPr sz="13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300" b="1" i="0">
                <a:solidFill>
                  <a:srgbClr val="FFFFFF"/>
                </a:solidFill>
                <a:latin typeface="Courier New" panose="02070309020205020404"/>
              </a:rPr>
              <a:t>int main()</a:t>
            </a:r>
          </a:p>
          <a:p>
            <a:r>
              <a:rPr sz="1300" b="1" i="0">
                <a:solidFill>
                  <a:srgbClr val="FFFFFF"/>
                </a:solidFill>
                <a:latin typeface="Courier New" panose="02070309020205020404"/>
              </a:rPr>
              <a:t>{</a:t>
            </a:r>
          </a:p>
          <a:p>
            <a:r>
              <a:rPr sz="1300" b="1" i="0">
                <a:solidFill>
                  <a:srgbClr val="FFFFFF"/>
                </a:solidFill>
                <a:latin typeface="Courier New" panose="02070309020205020404"/>
              </a:rPr>
              <a:t>    printf("Size of int: %lu bytes\n", sizeof(int));</a:t>
            </a:r>
          </a:p>
          <a:p>
            <a:r>
              <a:rPr sz="1300" b="1" i="0">
                <a:solidFill>
                  <a:srgbClr val="FFFFFF"/>
                </a:solidFill>
                <a:latin typeface="Courier New" panose="02070309020205020404"/>
              </a:rPr>
              <a:t>    printf("Size of float: %lu bytes\n", sizeof(float));</a:t>
            </a:r>
          </a:p>
          <a:p>
            <a:r>
              <a:rPr sz="1300" b="1" i="0">
                <a:solidFill>
                  <a:srgbClr val="FFFFFF"/>
                </a:solidFill>
                <a:latin typeface="Courier New" panose="02070309020205020404"/>
              </a:rPr>
              <a:t>    printf("Size of char: %lu bytes\n", sizeof(char));</a:t>
            </a:r>
          </a:p>
          <a:p>
            <a:r>
              <a:rPr sz="1300" b="1" i="0">
                <a:solidFill>
                  <a:srgbClr val="FFFFFF"/>
                </a:solidFill>
                <a:latin typeface="Courier New" panose="02070309020205020404"/>
              </a:rPr>
              <a:t>    return 0;</a:t>
            </a:r>
          </a:p>
          <a:p>
            <a:r>
              <a:rPr sz="1300" b="1" i="0">
                <a:solidFill>
                  <a:srgbClr val="FFFFFF"/>
                </a:solidFill>
                <a:latin typeface="Courier New" panose="02070309020205020404"/>
              </a:rPr>
              <a:t>}</a:t>
            </a:r>
          </a:p>
        </p:txBody>
      </p:sp>
      <p:sp>
        <p:nvSpPr>
          <p:cNvPr id="1002" name="Rounded Rectangle 3"/>
          <p:cNvSpPr/>
          <p:nvPr/>
        </p:nvSpPr>
        <p:spPr>
          <a:xfrm>
            <a:off x="6583680" y="1965960"/>
            <a:ext cx="4937760" cy="1920240"/>
          </a:xfrm>
          <a:prstGeom prst="roundRect">
            <a:avLst/>
          </a:prstGeom>
          <a:solidFill>
            <a:srgbClr val="0A2E36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/>
              </a:rPr>
              <a:t>OUTPUT (typical)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/>
              </a:rPr>
              <a:t>Size of int: 4 bytes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/>
              </a:rPr>
              <a:t>Size of float: 4 bytes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/>
              </a:rPr>
              <a:t>Size of char: 1 byte</a:t>
            </a:r>
          </a:p>
        </p:txBody>
      </p:sp>
      <p:sp>
        <p:nvSpPr>
          <p:cNvPr id="1003" name="TextBox 4"/>
          <p:cNvSpPr txBox="1"/>
          <p:nvPr/>
        </p:nvSpPr>
        <p:spPr>
          <a:xfrm>
            <a:off x="6583680" y="4160520"/>
            <a:ext cx="49377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sizeof() tells you exactly how much memory a data type uses on your own compiler.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Program 3 — Taking Input from the User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10881360" cy="402336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Program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#include &lt;stdio.h&gt;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int main()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{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int rollNo;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float marks;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char section;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printf("Enter roll number, marks, section: ");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scanf("%d %f %c", &amp;rollNo, &amp;marks, &amp;section);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printf("Roll No: %d, Marks: %.2f, Section: %c\n", rollNo, marks, section);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return 0;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Choose the Right Data Type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52120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1. You need to store the number of pages in a book.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Answer: </a:t>
            </a:r>
            <a:r>
              <a:rPr sz="1400" b="1" i="0">
                <a:solidFill>
                  <a:srgbClr val="0A2E36"/>
                </a:solidFill>
                <a:latin typeface="Times New Roman" panose="02020603050405020304"/>
              </a:rPr>
              <a:t>int</a:t>
            </a:r>
          </a:p>
          <a:p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Reason: </a:t>
            </a:r>
            <a:r>
              <a:rPr sz="1400" b="0" i="0">
                <a:solidFill>
                  <a:srgbClr val="000000"/>
                </a:solidFill>
                <a:latin typeface="Times New Roman" panose="02020603050405020304"/>
              </a:rPr>
              <a:t>Number of pages is always a whole number.</a:t>
            </a:r>
          </a:p>
        </p:txBody>
      </p:sp>
      <p:sp>
        <p:nvSpPr>
          <p:cNvPr id="1002" name="TextBox 3"/>
          <p:cNvSpPr txBox="1"/>
          <p:nvPr/>
        </p:nvSpPr>
        <p:spPr>
          <a:xfrm>
            <a:off x="6126480" y="1965960"/>
            <a:ext cx="52120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2. You need to store the price of a notebook (₹45.75).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Answer: </a:t>
            </a:r>
            <a:r>
              <a:rPr sz="1400" b="1" i="0">
                <a:solidFill>
                  <a:srgbClr val="0A2E36"/>
                </a:solidFill>
                <a:latin typeface="Times New Roman" panose="02020603050405020304"/>
              </a:rPr>
              <a:t>float</a:t>
            </a:r>
          </a:p>
          <a:p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Reason: </a:t>
            </a:r>
            <a:r>
              <a:rPr sz="1400" b="0" i="0">
                <a:solidFill>
                  <a:srgbClr val="000000"/>
                </a:solidFill>
                <a:latin typeface="Times New Roman" panose="02020603050405020304"/>
              </a:rPr>
              <a:t>The price has a decimal (paise) part.</a:t>
            </a:r>
          </a:p>
        </p:txBody>
      </p:sp>
      <p:sp>
        <p:nvSpPr>
          <p:cNvPr id="1003" name="TextBox 4"/>
          <p:cNvSpPr txBox="1"/>
          <p:nvPr/>
        </p:nvSpPr>
        <p:spPr>
          <a:xfrm>
            <a:off x="640080" y="4297680"/>
            <a:ext cx="52120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3. You need to store a student's blood group letter,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   e.g., 'O'.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Answer: </a:t>
            </a:r>
            <a:r>
              <a:rPr sz="1400" b="1" i="0">
                <a:solidFill>
                  <a:srgbClr val="0A2E36"/>
                </a:solidFill>
                <a:latin typeface="Times New Roman" panose="02020603050405020304"/>
              </a:rPr>
              <a:t>char</a:t>
            </a:r>
          </a:p>
          <a:p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Reason: </a:t>
            </a:r>
            <a:r>
              <a:rPr sz="1400" b="0" i="0">
                <a:solidFill>
                  <a:srgbClr val="000000"/>
                </a:solidFill>
                <a:latin typeface="Times New Roman" panose="02020603050405020304"/>
              </a:rPr>
              <a:t>A single character/symbol, not a number.</a:t>
            </a:r>
          </a:p>
        </p:txBody>
      </p:sp>
      <p:sp>
        <p:nvSpPr>
          <p:cNvPr id="1004" name="TextBox 5"/>
          <p:cNvSpPr txBox="1"/>
          <p:nvPr/>
        </p:nvSpPr>
        <p:spPr>
          <a:xfrm>
            <a:off x="6126480" y="4297680"/>
            <a:ext cx="52120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4. You need to store the average rainfall in mm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   (123.45 mm).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Answer: </a:t>
            </a:r>
            <a:r>
              <a:rPr sz="1400" b="1" i="0">
                <a:solidFill>
                  <a:srgbClr val="0A2E36"/>
                </a:solidFill>
                <a:latin typeface="Times New Roman" panose="02020603050405020304"/>
              </a:rPr>
              <a:t>float</a:t>
            </a:r>
          </a:p>
          <a:p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Reason: </a:t>
            </a:r>
            <a:r>
              <a:rPr sz="1400" b="0" i="0">
                <a:solidFill>
                  <a:srgbClr val="000000"/>
                </a:solidFill>
                <a:latin typeface="Times New Roman" panose="02020603050405020304"/>
              </a:rPr>
              <a:t>Rainfall is measured with decimal precision.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Questions — Try These Yourself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0" i="0">
                <a:solidFill>
                  <a:srgbClr val="000000"/>
                </a:solidFill>
                <a:latin typeface="Times New Roman" panose="02020603050405020304"/>
              </a:rPr>
              <a:t>1.  Write a program that declares and prints your age (int), your height in feet (float), and the first letter of your name (char).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0" i="0">
                <a:solidFill>
                  <a:srgbClr val="000000"/>
                </a:solidFill>
                <a:latin typeface="Times New Roman" panose="02020603050405020304"/>
              </a:rPr>
              <a:t>2.  Write a program that uses sizeof() to print the size of a double along with int, float, and char.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0" i="0">
                <a:solidFill>
                  <a:srgbClr val="000000"/>
                </a:solidFill>
                <a:latin typeface="Times New Roman" panose="02020603050405020304"/>
              </a:rPr>
              <a:t>3.  Write a program that reads a student's marks (float) using scanf() and prints it using printf().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0" i="0">
                <a:solidFill>
                  <a:srgbClr val="000000"/>
                </a:solidFill>
                <a:latin typeface="Times New Roman" panose="02020603050405020304"/>
              </a:rPr>
              <a:t>4.  For each of the following, write only the variable declaration with the correct data type: number of chapters in a textbook, temperature in Celsius, first letter of a city name.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0" i="0">
                <a:solidFill>
                  <a:srgbClr val="000000"/>
                </a:solidFill>
                <a:latin typeface="Times New Roman" panose="02020603050405020304"/>
              </a:rPr>
              <a:t>5.  Write a program that stores three different subjects' marks (int) and prints all three using one printf() statement.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0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01" name="Picture 3"/>
          <p:cNvPicPr>
            <a:picLocks noChangeAspect="1"/>
          </p:cNvPicPr>
          <p:nvPr/>
        </p:nvPicPr>
        <p:blipFill>
          <a:blip r:embed="rId2">
            <a:alphaModFix amt="35000"/>
          </a:blip>
          <a:srcRect b="1604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1002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1906214"/>
            <a:ext cx="12192000" cy="4957314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1814">
                <a:schemeClr val="accent1">
                  <a:lumMod val="60000"/>
                  <a:lumOff val="40000"/>
                  <a:alpha val="89000"/>
                </a:schemeClr>
              </a:gs>
              <a:gs pos="94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3" name="Title 1"/>
          <p:cNvSpPr>
            <a:spLocks noGrp="1"/>
          </p:cNvSpPr>
          <p:nvPr>
            <p:ph type="ctrTitle"/>
          </p:nvPr>
        </p:nvSpPr>
        <p:spPr>
          <a:xfrm>
            <a:off x="1524000" y="2714445"/>
            <a:ext cx="7355457" cy="1560167"/>
          </a:xfrm>
        </p:spPr>
        <p:txBody>
          <a:bodyPr>
            <a:normAutofit/>
          </a:bodyPr>
          <a:lstStyle/>
          <a:p>
            <a:r>
              <a:rPr lang="en-IN" spc="0" dirty="0">
                <a:latin typeface="Arial Black" panose="020B0A04020102020204" charset="0"/>
                <a:cs typeface="Arial Black" panose="020B0A04020102020204" charset="0"/>
              </a:rPr>
              <a:t>26CSE1002J - Programming for Problem Solving</a:t>
            </a:r>
          </a:p>
        </p:txBody>
      </p:sp>
      <p:sp>
        <p:nvSpPr>
          <p:cNvPr id="1004" name="Subtitle 2"/>
          <p:cNvSpPr>
            <a:spLocks noGrp="1"/>
          </p:cNvSpPr>
          <p:nvPr>
            <p:ph type="subTitle" idx="1"/>
          </p:nvPr>
        </p:nvSpPr>
        <p:spPr>
          <a:xfrm>
            <a:off x="1524000" y="4920137"/>
            <a:ext cx="9974580" cy="11223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dirty="0"/>
              <a:t>Unit 1 : Decision-Making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/>
              <a:t>Session </a:t>
            </a:r>
            <a:r>
              <a:rPr lang="ta-IN" dirty="0"/>
              <a:t>1</a:t>
            </a:r>
            <a:r>
              <a:rPr dirty="0"/>
              <a:t>  |  SLO-2</a:t>
            </a:r>
          </a:p>
          <a:p>
            <a:r>
              <a:rPr dirty="0"/>
              <a:t>SLO: Understand assignment usage and evaluate arithmetic expressions.</a:t>
            </a:r>
          </a:p>
        </p:txBody>
      </p:sp>
      <p:cxnSp>
        <p:nvCxnSpPr>
          <p:cNvPr id="1005" name="Straight Connector 12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1612574" y="460241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Assignment Operator ( = )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In C, the = symbol is the assignment operator. It stores the value on its right side into the variable on its left side.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1" i="0">
                <a:solidFill>
                  <a:srgbClr val="000000"/>
                </a:solidFill>
                <a:latin typeface="Times New Roman" panose="02020603050405020304"/>
              </a:rPr>
              <a:t>It does NOT mean 'equal to' like in mathematics — it means 'store into'.</a:t>
            </a:r>
          </a:p>
        </p:txBody>
      </p:sp>
      <p:sp>
        <p:nvSpPr>
          <p:cNvPr id="1002" name="Rounded Rectangle 3"/>
          <p:cNvSpPr/>
          <p:nvPr/>
        </p:nvSpPr>
        <p:spPr>
          <a:xfrm>
            <a:off x="640080" y="3566160"/>
            <a:ext cx="5120640" cy="246888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Syntax</a:t>
            </a:r>
          </a:p>
          <a:p>
            <a:r>
              <a:rPr sz="1800" b="1" i="0">
                <a:solidFill>
                  <a:srgbClr val="FFFFFF"/>
                </a:solidFill>
                <a:latin typeface="Courier New" panose="02070309020205020404"/>
              </a:rPr>
              <a:t>variable = value;</a:t>
            </a:r>
          </a:p>
          <a:p>
            <a:r>
              <a:rPr sz="18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800" b="1" i="0">
                <a:solidFill>
                  <a:srgbClr val="FFFFFF"/>
                </a:solidFill>
                <a:latin typeface="Courier New" panose="02070309020205020404"/>
              </a:rPr>
              <a:t>variable = expression;</a:t>
            </a:r>
          </a:p>
        </p:txBody>
      </p:sp>
      <p:sp>
        <p:nvSpPr>
          <p:cNvPr id="1003" name="Rounded Rectangle 4"/>
          <p:cNvSpPr/>
          <p:nvPr/>
        </p:nvSpPr>
        <p:spPr>
          <a:xfrm>
            <a:off x="6035040" y="3566160"/>
            <a:ext cx="5486400" cy="246888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i="0">
                <a:solidFill>
                  <a:srgbClr val="0A2E36"/>
                </a:solidFill>
                <a:latin typeface="Times New Roman" panose="02020603050405020304"/>
              </a:rPr>
              <a:t>READ IT AS</a:t>
            </a:r>
          </a:p>
          <a:p>
            <a:pPr algn="ctr"/>
            <a:r>
              <a:rPr sz="1500" b="0" i="0">
                <a:solidFill>
                  <a:srgbClr val="0A2E36"/>
                </a:solidFill>
                <a:latin typeface="Times New Roman" panose="02020603050405020304"/>
              </a:rPr>
              <a:t>"marks is assigned the value 90"</a:t>
            </a:r>
          </a:p>
          <a:p>
            <a:pPr algn="ctr"/>
            <a:r>
              <a:rPr sz="1500" b="0" i="0">
                <a:solidFill>
                  <a:srgbClr val="0A2E36"/>
                </a:solidFill>
                <a:latin typeface="Times New Roman" panose="02020603050405020304"/>
              </a:rPr>
              <a:t>not "marks equals 90"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— Examples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5394960" cy="420624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Example Program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marks;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marks = 90;      // store 90 in marks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total = 250;  // declare + assign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total = total + 10;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// take old total, add 10,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// store new result back in total</a:t>
            </a:r>
          </a:p>
        </p:txBody>
      </p:sp>
      <p:sp>
        <p:nvSpPr>
          <p:cNvPr id="1002" name="TextBox 3"/>
          <p:cNvSpPr txBox="1"/>
          <p:nvPr/>
        </p:nvSpPr>
        <p:spPr>
          <a:xfrm>
            <a:off x="6309360" y="1965960"/>
            <a:ext cx="5212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1" i="0">
                <a:solidFill>
                  <a:srgbClr val="000000"/>
                </a:solidFill>
                <a:latin typeface="Times New Roman" panose="02020603050405020304"/>
              </a:rPr>
              <a:t>The right-hand side is calculated FIRST.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Then the result is stored in the variable on the left.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total = total + 10; is valid in C — it means 'compute total+10, then overwrite total with this new value'.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A variable can be assigned a new value as many times as needed while a program runs.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Arithmetic Operators in C</a:t>
            </a:r>
          </a:p>
        </p:txBody>
      </p:sp>
      <p:graphicFrame>
        <p:nvGraphicFramePr>
          <p:cNvPr id="1001" name="Table 2"/>
          <p:cNvGraphicFramePr>
            <a:graphicFrameLocks noGrp="1"/>
          </p:cNvGraphicFramePr>
          <p:nvPr/>
        </p:nvGraphicFramePr>
        <p:xfrm>
          <a:off x="640080" y="1965960"/>
          <a:ext cx="9526476" cy="2822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5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4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1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0392"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Operator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Meaning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Example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392"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+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Addition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 + 2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392"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Subtraction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5 - 2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392"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*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Multiplication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 *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392"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/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Division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5.0 / 2.0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2.5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392"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Remainder (Modulus)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5 %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02" name="TextBox 3"/>
          <p:cNvSpPr txBox="1"/>
          <p:nvPr/>
        </p:nvSpPr>
        <p:spPr>
          <a:xfrm>
            <a:off x="640080" y="5212080"/>
            <a:ext cx="108813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These operators work on numeric data types (int, float) to perform calculations.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% (modulus) only works with whole numbers (int) — it gives the remainder after division.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Evaluating Arithmetic Expressions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An expression is a combination of variables, constants, and operators that produces a value.</a:t>
            </a:r>
          </a:p>
        </p:txBody>
      </p:sp>
      <p:sp>
        <p:nvSpPr>
          <p:cNvPr id="1002" name="Rounded Rectangle 3"/>
          <p:cNvSpPr/>
          <p:nvPr/>
        </p:nvSpPr>
        <p:spPr>
          <a:xfrm>
            <a:off x="640080" y="3017520"/>
            <a:ext cx="10881360" cy="310896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Example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int a = 10, b = 3;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int sum        = a + b;   // sum = 13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int difference = a - b;   // difference = 7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int product    = a * b;   // product = 30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int quotient   = a / b;   // quotient = 3   (int division)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int remainder  = a % b;   // remainder = 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Integer Division vs. Float Division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317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1" i="0">
                <a:solidFill>
                  <a:srgbClr val="000000"/>
                </a:solidFill>
                <a:latin typeface="Times New Roman" panose="02020603050405020304"/>
              </a:rPr>
              <a:t>This is one of the most common beginner mistakes in C </a:t>
            </a:r>
          </a:p>
        </p:txBody>
      </p:sp>
      <p:sp>
        <p:nvSpPr>
          <p:cNvPr id="1002" name="Rounded Rectangle 3"/>
          <p:cNvSpPr/>
          <p:nvPr/>
        </p:nvSpPr>
        <p:spPr>
          <a:xfrm>
            <a:off x="640080" y="2926080"/>
            <a:ext cx="5303520" cy="338328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Integer Division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int a = 7, b = 2;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int result = a / b;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// result = 3   (NOT 3.5)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// Both operands are int,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// so the decimal part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// is dropped (truncated).</a:t>
            </a:r>
          </a:p>
        </p:txBody>
      </p:sp>
      <p:sp>
        <p:nvSpPr>
          <p:cNvPr id="1003" name="Rounded Rectangle 4"/>
          <p:cNvSpPr/>
          <p:nvPr/>
        </p:nvSpPr>
        <p:spPr>
          <a:xfrm>
            <a:off x="6217920" y="2926080"/>
            <a:ext cx="5303520" cy="338328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Float Division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float a = 7.0, b = 2.0;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float result = a / b;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// result = 3.5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// At least one operand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// is a float, so the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// decimal part is kept.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Modulus Operator ( % )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53949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% gives the remainder left over after integer division.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Works only with integers — not with float or double.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Very useful for checking odd/even numbers, cyclic patterns, and divisibility.</a:t>
            </a:r>
          </a:p>
        </p:txBody>
      </p:sp>
      <p:sp>
        <p:nvSpPr>
          <p:cNvPr id="1002" name="Rounded Rectangle 3"/>
          <p:cNvSpPr/>
          <p:nvPr/>
        </p:nvSpPr>
        <p:spPr>
          <a:xfrm>
            <a:off x="6309360" y="1965960"/>
            <a:ext cx="5212080" cy="301752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Examples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10 % 3   // 1   (10 = 3*3 + 1)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20 % 5   // 0   (exactly divisible)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7  % 2   // 1   (7 is odd)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8  % 2   // 0   (8 is even)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of Operations — A First Look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When an expression has more than one operator, C follows a fixed order to decide what to calculate first.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This is called operator precedence — just like BODMAS/PEMDAS rules in mathematics.</a:t>
            </a:r>
          </a:p>
        </p:txBody>
      </p:sp>
      <p:sp>
        <p:nvSpPr>
          <p:cNvPr id="1002" name="Rounded Rectangle 3"/>
          <p:cNvSpPr/>
          <p:nvPr/>
        </p:nvSpPr>
        <p:spPr>
          <a:xfrm>
            <a:off x="640080" y="3566160"/>
            <a:ext cx="10881360" cy="237744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Example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int result = 10 + 2 * 3;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// Multiplication happens BEFORE addition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// result = 10 + (2 * 3) = 10 + 6 = 16   (NOT 36)</a:t>
            </a:r>
          </a:p>
        </p:txBody>
      </p:sp>
      <p:sp>
        <p:nvSpPr>
          <p:cNvPr id="1003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Times New Roman" panose="02020603050405020304"/>
              </a:rPr>
              <a:t>We will study the full operator precedence table in detail in SLO-4.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Evaluate These Expressions</a:t>
            </a:r>
          </a:p>
        </p:txBody>
      </p:sp>
      <p:graphicFrame>
        <p:nvGraphicFramePr>
          <p:cNvPr id="1001" name="Table 2"/>
          <p:cNvGraphicFramePr>
            <a:graphicFrameLocks noGrp="1"/>
          </p:cNvGraphicFramePr>
          <p:nvPr/>
        </p:nvGraphicFramePr>
        <p:xfrm>
          <a:off x="640080" y="196596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Expression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Your Answer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 x = 15 / 4;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 y = 15 % 4;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float z = 15.0 / 4.0;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 p = 6 * 2 - 4;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 q = (6 * 2) - (10 % 3);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— SLO-2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25488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The = operator assigns (stores) a value into a variable; it is not mathematical equality.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C provides five basic arithmetic operators: +, -, *, /, and %.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An expression combines variables, constants, and operators to produce a value.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int / int gives integer (truncated) division; involving a float keeps the decimal part.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% (modulus) only works with integers and gives the remainder.</a:t>
            </a:r>
          </a:p>
          <a:p>
            <a:pPr indent="0">
              <a:lnSpc>
                <a:spcPct val="115000"/>
              </a:lnSpc>
              <a:spcAft>
                <a:spcPts val="1000"/>
              </a:spcAft>
              <a:buFont typeface="Arial" panose="020B0604020202020204"/>
              <a:buNone/>
            </a:pPr>
            <a:endParaRPr sz="1800" b="1" i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Program 1 — A Simple Calculator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5852160" cy="429768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Program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#include &lt;stdio.h&gt;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int main()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{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int a = 12, b = 5;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printf("Sum = %d\n", a + b);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printf("Difference = %d\n", a - b);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printf("Product = %d\n", a * b);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printf("Quotient = %d\n", a / b);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printf("Remainder = %d\n", a % b);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return 0;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}</a:t>
            </a:r>
          </a:p>
        </p:txBody>
      </p:sp>
      <p:sp>
        <p:nvSpPr>
          <p:cNvPr id="1002" name="Rounded Rectangle 3"/>
          <p:cNvSpPr/>
          <p:nvPr/>
        </p:nvSpPr>
        <p:spPr>
          <a:xfrm>
            <a:off x="6675120" y="1965960"/>
            <a:ext cx="4846320" cy="2468880"/>
          </a:xfrm>
          <a:prstGeom prst="roundRect">
            <a:avLst/>
          </a:prstGeom>
          <a:solidFill>
            <a:srgbClr val="0A2E36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/>
              </a:rPr>
              <a:t>OUTPUT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/>
              </a:rPr>
              <a:t>Sum = 17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/>
              </a:rPr>
              <a:t>Difference = 7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/>
              </a:rPr>
              <a:t>Product = 60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/>
              </a:rPr>
              <a:t>Quotient = 2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/>
              </a:rPr>
              <a:t>Remainder = 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Program 2 — Average of Three Marks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5852160" cy="420624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Program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#include &lt;stdio.h&gt;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int main()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{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int m1 = 78, m2 = 85, m3 = 91;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float average;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average = (m1 + m2 + m3) / 3.0;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printf("Average = %.2f\n", average);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return 0;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}</a:t>
            </a:r>
          </a:p>
        </p:txBody>
      </p:sp>
      <p:sp>
        <p:nvSpPr>
          <p:cNvPr id="1002" name="Rounded Rectangle 3"/>
          <p:cNvSpPr/>
          <p:nvPr/>
        </p:nvSpPr>
        <p:spPr>
          <a:xfrm>
            <a:off x="6675120" y="1965960"/>
            <a:ext cx="4846320" cy="1188720"/>
          </a:xfrm>
          <a:prstGeom prst="roundRect">
            <a:avLst/>
          </a:prstGeom>
          <a:solidFill>
            <a:srgbClr val="0A2E36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OUTPUT</a:t>
            </a:r>
          </a:p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Average = 84.67</a:t>
            </a:r>
          </a:p>
        </p:txBody>
      </p:sp>
      <p:sp>
        <p:nvSpPr>
          <p:cNvPr id="1003" name="TextBox 4"/>
          <p:cNvSpPr txBox="1"/>
          <p:nvPr/>
        </p:nvSpPr>
        <p:spPr>
          <a:xfrm>
            <a:off x="6675120" y="3429000"/>
            <a:ext cx="484632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3.0 (a float) is used instead of 3 so the division keeps the decimal part.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If we had written / 3 instead of / 3.0, integer division rules would apply and precision would be lost.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Program 3 — Total Cost of Items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10881360" cy="384048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Program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#include &lt;stdio.h&gt;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main()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{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   int quantity = 4;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   float pricePerItem = 25.50;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   float totalCost;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   totalCost = quantity * pricePerItem;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   printf("Total Cost = %.2f\n", totalCost);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   return 0;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 the Output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52120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1. int a = 9, b = 4;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   printf("%d", a / b);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Answer: </a:t>
            </a:r>
            <a:r>
              <a:rPr sz="1400" b="1" i="0">
                <a:solidFill>
                  <a:srgbClr val="0A2E36"/>
                </a:solidFill>
                <a:latin typeface="Times New Roman" panose="02020603050405020304"/>
              </a:rPr>
              <a:t>2</a:t>
            </a:r>
          </a:p>
          <a:p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Reason: </a:t>
            </a:r>
            <a:r>
              <a:rPr sz="1400" b="0" i="0">
                <a:solidFill>
                  <a:srgbClr val="000000"/>
                </a:solidFill>
                <a:latin typeface="Times New Roman" panose="02020603050405020304"/>
              </a:rPr>
              <a:t>Both operands are int, so the result is truncated (9/4 = 2.25 -&gt; 2).</a:t>
            </a:r>
          </a:p>
        </p:txBody>
      </p:sp>
      <p:sp>
        <p:nvSpPr>
          <p:cNvPr id="1002" name="TextBox 3"/>
          <p:cNvSpPr txBox="1"/>
          <p:nvPr/>
        </p:nvSpPr>
        <p:spPr>
          <a:xfrm>
            <a:off x="6126480" y="1965960"/>
            <a:ext cx="52120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2. float a = 9.0, b = 4.0;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   printf("%.2f", a / b);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Answer: </a:t>
            </a:r>
            <a:r>
              <a:rPr sz="1400" b="1" i="0">
                <a:solidFill>
                  <a:srgbClr val="0A2E36"/>
                </a:solidFill>
                <a:latin typeface="Times New Roman" panose="02020603050405020304"/>
              </a:rPr>
              <a:t>2.25</a:t>
            </a:r>
          </a:p>
          <a:p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Reason: </a:t>
            </a:r>
            <a:r>
              <a:rPr sz="1400" b="0" i="0">
                <a:solidFill>
                  <a:srgbClr val="000000"/>
                </a:solidFill>
                <a:latin typeface="Times New Roman" panose="02020603050405020304"/>
              </a:rPr>
              <a:t>At least one operand is float, so the decimal part is kept.</a:t>
            </a:r>
          </a:p>
        </p:txBody>
      </p:sp>
      <p:sp>
        <p:nvSpPr>
          <p:cNvPr id="1003" name="TextBox 4"/>
          <p:cNvSpPr txBox="1"/>
          <p:nvPr/>
        </p:nvSpPr>
        <p:spPr>
          <a:xfrm>
            <a:off x="640080" y="4297680"/>
            <a:ext cx="52120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3. int x = 17;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   printf("%d", x % 5);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Answer: </a:t>
            </a:r>
            <a:r>
              <a:rPr sz="1400" b="1" i="0">
                <a:solidFill>
                  <a:srgbClr val="0A2E36"/>
                </a:solidFill>
                <a:latin typeface="Times New Roman" panose="02020603050405020304"/>
              </a:rPr>
              <a:t>2</a:t>
            </a:r>
          </a:p>
          <a:p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Reason: </a:t>
            </a:r>
            <a:r>
              <a:rPr sz="1400" b="0" i="0">
                <a:solidFill>
                  <a:srgbClr val="000000"/>
                </a:solidFill>
                <a:latin typeface="Times New Roman" panose="02020603050405020304"/>
              </a:rPr>
              <a:t>17 = 5*3 + 2, so the remainder is 2.</a:t>
            </a:r>
          </a:p>
        </p:txBody>
      </p:sp>
      <p:sp>
        <p:nvSpPr>
          <p:cNvPr id="1004" name="TextBox 5"/>
          <p:cNvSpPr txBox="1"/>
          <p:nvPr/>
        </p:nvSpPr>
        <p:spPr>
          <a:xfrm>
            <a:off x="6126480" y="4297680"/>
            <a:ext cx="52120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4. int total = 100;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   total = total - 30;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   printf("%d", total);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Answer: </a:t>
            </a:r>
            <a:r>
              <a:rPr sz="1400" b="1" i="0">
                <a:solidFill>
                  <a:srgbClr val="0A2E36"/>
                </a:solidFill>
                <a:latin typeface="Times New Roman" panose="02020603050405020304"/>
              </a:rPr>
              <a:t>70</a:t>
            </a:r>
          </a:p>
          <a:p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Reason: </a:t>
            </a:r>
            <a:r>
              <a:rPr sz="1400" b="0" i="0">
                <a:solidFill>
                  <a:srgbClr val="000000"/>
                </a:solidFill>
                <a:latin typeface="Times New Roman" panose="02020603050405020304"/>
              </a:rPr>
              <a:t>total is reassigned: 100 - 30 = 70 is stored back into total.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Questions — Try These Yourself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1.  Write a program to find the area of a rectangle given its length and breadth (both int).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2.  Write a program that calculates the average of two integer marks and stores the result in a float variable.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3.  Write a program that checks whether a number is exactly divisible by another using % (just print the remainder — no if statement needed yet).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4.  Write a program to convert a given amount from rupees to paise (1 rupee = 100 paise).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5.  Write a program to compute the perimeter of a rectangle: perimeter = 2 * (length + breadth).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0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01" name="Picture 3"/>
          <p:cNvPicPr>
            <a:picLocks noChangeAspect="1"/>
          </p:cNvPicPr>
          <p:nvPr/>
        </p:nvPicPr>
        <p:blipFill>
          <a:blip r:embed="rId2">
            <a:alphaModFix amt="35000"/>
          </a:blip>
          <a:srcRect b="1604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1002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1906214"/>
            <a:ext cx="12192000" cy="4957314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1814">
                <a:schemeClr val="accent1">
                  <a:lumMod val="60000"/>
                  <a:lumOff val="40000"/>
                  <a:alpha val="89000"/>
                </a:schemeClr>
              </a:gs>
              <a:gs pos="94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3" name="Title 1"/>
          <p:cNvSpPr>
            <a:spLocks noGrp="1"/>
          </p:cNvSpPr>
          <p:nvPr>
            <p:ph type="ctrTitle"/>
          </p:nvPr>
        </p:nvSpPr>
        <p:spPr>
          <a:xfrm>
            <a:off x="1524000" y="2714445"/>
            <a:ext cx="7355457" cy="1560167"/>
          </a:xfrm>
        </p:spPr>
        <p:txBody>
          <a:bodyPr>
            <a:normAutofit/>
          </a:bodyPr>
          <a:lstStyle/>
          <a:p>
            <a:r>
              <a:rPr lang="en-IN" spc="0" dirty="0">
                <a:latin typeface="Arial Black" panose="020B0A04020102020204" charset="0"/>
                <a:cs typeface="Arial Black" panose="020B0A04020102020204" charset="0"/>
              </a:rPr>
              <a:t>26CSE1002J - Programming for Problem Solving</a:t>
            </a:r>
          </a:p>
        </p:txBody>
      </p:sp>
      <p:sp>
        <p:nvSpPr>
          <p:cNvPr id="1004" name="Subtitle 2"/>
          <p:cNvSpPr>
            <a:spLocks noGrp="1"/>
          </p:cNvSpPr>
          <p:nvPr>
            <p:ph type="subTitle" idx="1"/>
          </p:nvPr>
        </p:nvSpPr>
        <p:spPr>
          <a:xfrm>
            <a:off x="1524000" y="4920137"/>
            <a:ext cx="9974580" cy="112236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10000"/>
              </a:lnSpc>
            </a:pPr>
            <a:r>
              <a:t>Unit 1 : Decision-Making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t>Session 2  |  SLO-3 (Guided Practice)</a:t>
            </a:r>
          </a:p>
          <a:p>
            <a:r>
              <a:t>SLO: Trace the execution of small programs involving variable declarations, assignments, and simple expressions to determine the final output.</a:t>
            </a:r>
          </a:p>
        </p:txBody>
      </p:sp>
      <p:cxnSp>
        <p:nvCxnSpPr>
          <p:cNvPr id="1005" name="Straight Connector 12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1612574" y="460241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Does It Mean to "Trace" a Program?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Tracing means reading a program line by line, exactly as the computer would, and working out the value of every variable at each step.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It is done using pen and paper — no computer needed.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1" i="0">
                <a:solidFill>
                  <a:srgbClr val="000000"/>
                </a:solidFill>
                <a:latin typeface="Times New Roman" panose="02020603050405020304"/>
              </a:rPr>
              <a:t>The goal is to predict the final output before you ever run the code.</a:t>
            </a:r>
          </a:p>
        </p:txBody>
      </p:sp>
      <p:sp>
        <p:nvSpPr>
          <p:cNvPr id="1002" name="Rounded Rectangle 3"/>
          <p:cNvSpPr/>
          <p:nvPr/>
        </p:nvSpPr>
        <p:spPr>
          <a:xfrm>
            <a:off x="640080" y="4206240"/>
            <a:ext cx="10881360" cy="173736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i="0">
                <a:solidFill>
                  <a:srgbClr val="0A2E36"/>
                </a:solidFill>
                <a:latin typeface="Times New Roman" panose="02020603050405020304"/>
              </a:rPr>
              <a:t>Think of tracing like following a recipe with your finger,</a:t>
            </a:r>
          </a:p>
          <a:p>
            <a:pPr algn="ctr"/>
            <a:r>
              <a:rPr sz="1600" b="0" i="0">
                <a:solidFill>
                  <a:srgbClr val="0A2E36"/>
                </a:solidFill>
                <a:latin typeface="Times New Roman" panose="02020603050405020304"/>
              </a:rPr>
              <a:t>checking what is in each bowl after every step —</a:t>
            </a:r>
          </a:p>
          <a:p>
            <a:pPr algn="ctr"/>
            <a:r>
              <a:rPr sz="1600" b="0" i="0">
                <a:solidFill>
                  <a:srgbClr val="0A2E36"/>
                </a:solidFill>
                <a:latin typeface="Times New Roman" panose="02020603050405020304"/>
              </a:rPr>
              <a:t>instead of ingredients, we are tracking variable values.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Tracing Matters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It builds the core skill every programmer needs: reading code like the computer reads it.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It helps you find logic errors (bugs) before running the program.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It is exactly how you will be asked to answer 'predict the output' questions in exams.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1" i="0">
                <a:solidFill>
                  <a:srgbClr val="000000"/>
                </a:solidFill>
                <a:latin typeface="Times New Roman" panose="02020603050405020304"/>
              </a:rPr>
              <a:t>It removes the fear of code — once you can trace it, you understand it completely.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Trace: The Variable Table Method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Draw a small table with one column for every variable in the program.</a:t>
            </a:r>
          </a:p>
        </p:txBody>
      </p:sp>
      <p:graphicFrame>
        <p:nvGraphicFramePr>
          <p:cNvPr id="1002" name="Table 3"/>
          <p:cNvGraphicFramePr>
            <a:graphicFrameLocks noGrp="1"/>
          </p:cNvGraphicFramePr>
          <p:nvPr/>
        </p:nvGraphicFramePr>
        <p:xfrm>
          <a:off x="640080" y="3017520"/>
          <a:ext cx="108813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Line executed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b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sum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...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...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...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...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03" name="TextBox 4"/>
          <p:cNvSpPr txBox="1"/>
          <p:nvPr/>
        </p:nvSpPr>
        <p:spPr>
          <a:xfrm>
            <a:off x="640080" y="4480560"/>
            <a:ext cx="108813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Go through the code one statement at a time, top to bottom.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After each statement, update only the variable(s) that changed — leave the rest as they were.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Once you reach the last statement, the table shows you the final output.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1 — Trace a Simple Program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5029200" cy="420624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Program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int a;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int b;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a = 5;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b = 10;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int sum = a + b;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printf("%d", sum);</a:t>
            </a:r>
          </a:p>
        </p:txBody>
      </p:sp>
      <p:graphicFrame>
        <p:nvGraphicFramePr>
          <p:cNvPr id="1002" name="Table 3"/>
          <p:cNvGraphicFramePr>
            <a:graphicFrameLocks noGrp="1"/>
          </p:cNvGraphicFramePr>
          <p:nvPr/>
        </p:nvGraphicFramePr>
        <p:xfrm>
          <a:off x="5943600" y="1965960"/>
          <a:ext cx="55778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Line executed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b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sum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 a;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 b;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 = 5;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b = 10;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sum = a + b;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03" name="Rounded Rectangle 4"/>
          <p:cNvSpPr/>
          <p:nvPr/>
        </p:nvSpPr>
        <p:spPr>
          <a:xfrm>
            <a:off x="5943600" y="5257800"/>
            <a:ext cx="5577840" cy="822960"/>
          </a:xfrm>
          <a:prstGeom prst="roundRect">
            <a:avLst/>
          </a:prstGeom>
          <a:solidFill>
            <a:srgbClr val="0A2E36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 panose="02020603050405020304"/>
              </a:rPr>
              <a:t>Output: 15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2 — Trace with Arithmetic Expressions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5029200" cy="420624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Program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x = 8;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y = 3;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diff = x - y;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prod = x * y;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diff = diff + 2;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printf("%d %d", diff, prod);</a:t>
            </a:r>
          </a:p>
        </p:txBody>
      </p:sp>
      <p:graphicFrame>
        <p:nvGraphicFramePr>
          <p:cNvPr id="1002" name="Table 3"/>
          <p:cNvGraphicFramePr>
            <a:graphicFrameLocks noGrp="1"/>
          </p:cNvGraphicFramePr>
          <p:nvPr/>
        </p:nvGraphicFramePr>
        <p:xfrm>
          <a:off x="5943600" y="1965960"/>
          <a:ext cx="55778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Line executed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x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y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diff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prod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 x = 8;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 y = 3;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diff = x - y;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prod = x * y;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24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diff = diff + 2;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03" name="Rounded Rectangle 4"/>
          <p:cNvSpPr/>
          <p:nvPr/>
        </p:nvSpPr>
        <p:spPr>
          <a:xfrm>
            <a:off x="5943600" y="5532120"/>
            <a:ext cx="5577840" cy="685800"/>
          </a:xfrm>
          <a:prstGeom prst="roundRect">
            <a:avLst/>
          </a:prstGeom>
          <a:solidFill>
            <a:srgbClr val="0A2E36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 panose="02020603050405020304"/>
              </a:rPr>
              <a:t>Output: 7 24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3 — Multiple Variables Interacting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5212080" cy="420624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Program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a = 4;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b = a + 1;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a = a + b;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b = a - b;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printf("%d %d", a, b);</a:t>
            </a:r>
          </a:p>
        </p:txBody>
      </p:sp>
      <p:graphicFrame>
        <p:nvGraphicFramePr>
          <p:cNvPr id="1002" name="Table 3"/>
          <p:cNvGraphicFramePr>
            <a:graphicFrameLocks noGrp="1"/>
          </p:cNvGraphicFramePr>
          <p:nvPr/>
        </p:nvGraphicFramePr>
        <p:xfrm>
          <a:off x="6126480" y="1965960"/>
          <a:ext cx="53949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Line executed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b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 a = 4;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 b = a + 1;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 = a + b;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b = a - b;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03" name="Rounded Rectangle 4"/>
          <p:cNvSpPr/>
          <p:nvPr/>
        </p:nvSpPr>
        <p:spPr>
          <a:xfrm>
            <a:off x="6126480" y="5120640"/>
            <a:ext cx="5394960" cy="914400"/>
          </a:xfrm>
          <a:prstGeom prst="roundRect">
            <a:avLst/>
          </a:prstGeom>
          <a:solidFill>
            <a:srgbClr val="0A2E36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/>
              </a:rPr>
              <a:t>Output: 9 4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Times New Roman" panose="02020603050405020304"/>
              </a:rPr>
              <a:t>Notice: variables update in the ORDER the lines run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 When Tracing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Using the NEW value of a variable before it has actually been updated on that line.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Forgetting that a = a + b; uses the OLD value of a on the right side, then stores the new result.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Skipping a line because it looks 'unimportant' — every executed line can change a variable.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Mixing up int division: 7 / 2 gives 3, not 3.5, if both are int.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1" i="0">
                <a:solidFill>
                  <a:srgbClr val="000000"/>
                </a:solidFill>
                <a:latin typeface="Times New Roman" panose="02020603050405020304"/>
              </a:rPr>
              <a:t>Not updating every affected variable in the table after each line.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You Trace It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5212080" cy="420624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Program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p = 6;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q = 2;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p = p * q;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q = p / q;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p = p - q;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printf("%d %d", p, q);</a:t>
            </a:r>
          </a:p>
        </p:txBody>
      </p:sp>
      <p:graphicFrame>
        <p:nvGraphicFramePr>
          <p:cNvPr id="1002" name="Table 3"/>
          <p:cNvGraphicFramePr>
            <a:graphicFrameLocks noGrp="1"/>
          </p:cNvGraphicFramePr>
          <p:nvPr/>
        </p:nvGraphicFramePr>
        <p:xfrm>
          <a:off x="6126480" y="1965960"/>
          <a:ext cx="53949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Line executed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p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q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 p = 6;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 q = 2;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p = p * q;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q = p / q;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p = p - q;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— SLO-3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25488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Tracing means executing a program mentally, line by line, to find the final output.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A variable table (one column per variable) keeps track of every value as it changes.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Only the variable(s) affected by the current line are updated in the table — others stay the same.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The right side of = is evaluated using OLD values, before the new value is stored.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Tracing builds the habit of reading code the way the computer executes it.</a:t>
            </a:r>
          </a:p>
          <a:p>
            <a:pPr indent="0">
              <a:lnSpc>
                <a:spcPct val="115000"/>
              </a:lnSpc>
              <a:spcAft>
                <a:spcPts val="1000"/>
              </a:spcAft>
              <a:buFont typeface="Arial" panose="020B0604020202020204"/>
              <a:buNone/>
            </a:pPr>
            <a:endParaRPr sz="1800" b="1" i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 — Trace This Program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5212080" cy="420624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Program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m = 3;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n = 7;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m = m + n;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n = m - n;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m = m - n;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printf("%d %d", m, n);</a:t>
            </a:r>
          </a:p>
        </p:txBody>
      </p:sp>
      <p:graphicFrame>
        <p:nvGraphicFramePr>
          <p:cNvPr id="1002" name="Table 3"/>
          <p:cNvGraphicFramePr>
            <a:graphicFrameLocks noGrp="1"/>
          </p:cNvGraphicFramePr>
          <p:nvPr/>
        </p:nvGraphicFramePr>
        <p:xfrm>
          <a:off x="6126480" y="1965960"/>
          <a:ext cx="52120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Line executed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m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n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 m = 3;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 n = 7;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m = m + n;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n = m - n;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m = m - n;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03" name="Rounded Rectangle 4"/>
          <p:cNvSpPr/>
          <p:nvPr/>
        </p:nvSpPr>
        <p:spPr>
          <a:xfrm>
            <a:off x="6126480" y="5669280"/>
            <a:ext cx="5394960" cy="548640"/>
          </a:xfrm>
          <a:prstGeom prst="roundRect">
            <a:avLst/>
          </a:prstGeom>
          <a:solidFill>
            <a:srgbClr val="0A2E36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</a:rPr>
              <a:t>Output: 7 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Trace 1 — Fill In the Table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5212080" cy="420624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Program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x = 2;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y = 5;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x = x * y;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y = y + 1;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x = x - y;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printf("%d %d", x, y);</a:t>
            </a:r>
          </a:p>
        </p:txBody>
      </p:sp>
      <p:graphicFrame>
        <p:nvGraphicFramePr>
          <p:cNvPr id="1002" name="Table 3"/>
          <p:cNvGraphicFramePr>
            <a:graphicFrameLocks noGrp="1"/>
          </p:cNvGraphicFramePr>
          <p:nvPr/>
        </p:nvGraphicFramePr>
        <p:xfrm>
          <a:off x="6126480" y="1965960"/>
          <a:ext cx="52120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Line executed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x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y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 x = 2;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 y = 5;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x = x * y;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y = y + 1;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x = x - y;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Trace 2 — Fill In the Table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5212080" cy="420624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Program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int p = 10;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int q = 4;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int r;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r = p % q;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p = p / q;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q = r + p;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printf("%d %d %d", p, q, r);</a:t>
            </a:r>
          </a:p>
        </p:txBody>
      </p:sp>
      <p:graphicFrame>
        <p:nvGraphicFramePr>
          <p:cNvPr id="1002" name="Table 3"/>
          <p:cNvGraphicFramePr>
            <a:graphicFrameLocks noGrp="1"/>
          </p:cNvGraphicFramePr>
          <p:nvPr/>
        </p:nvGraphicFramePr>
        <p:xfrm>
          <a:off x="6126480" y="1965960"/>
          <a:ext cx="53949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Line executed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p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q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 p = 10;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 q = 4;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 r;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r = p % q;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p = p / q;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q = r + p;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Trace 3 — Fill In the Table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5212080" cy="420624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Program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a = 5;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b = a + 2;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c = a * b;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a = b + c;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c = a - b - c;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printf("%d %d %d", a, b, c);</a:t>
            </a:r>
          </a:p>
        </p:txBody>
      </p:sp>
      <p:graphicFrame>
        <p:nvGraphicFramePr>
          <p:cNvPr id="1002" name="Table 3"/>
          <p:cNvGraphicFramePr>
            <a:graphicFrameLocks noGrp="1"/>
          </p:cNvGraphicFramePr>
          <p:nvPr/>
        </p:nvGraphicFramePr>
        <p:xfrm>
          <a:off x="6126480" y="1965960"/>
          <a:ext cx="53949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Line executed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b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 a = 5;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 b = a + 2;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 c = a * b;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 = b + c;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c = a - b - c;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Key — Final Outputs</a:t>
            </a:r>
          </a:p>
        </p:txBody>
      </p:sp>
      <p:graphicFrame>
        <p:nvGraphicFramePr>
          <p:cNvPr id="1001" name="Table 2"/>
          <p:cNvGraphicFramePr>
            <a:graphicFrameLocks noGrp="1"/>
          </p:cNvGraphicFramePr>
          <p:nvPr/>
        </p:nvGraphicFramePr>
        <p:xfrm>
          <a:off x="640080" y="196596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Practice Trace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Final Output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Practice Trace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x = 4, y = 6  -&gt;  Output: 4 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Practice Trace 2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p = 2, q = 4, r = 2  -&gt;  Output: 2 4 2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Practice Trace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 = 42, b = 7, c = 0  -&gt;  Output: 42 7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02" name="TextBox 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Times New Roman" panose="02020603050405020304"/>
              </a:rPr>
              <a:t>Try tracing each program yourself first — then use this table only to check your work.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Practice Questions — Try These Yourself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 b="0" i="0">
                <a:solidFill>
                  <a:srgbClr val="000000"/>
                </a:solidFill>
                <a:latin typeface="Times New Roman" panose="02020603050405020304"/>
              </a:rPr>
              <a:t>1.  Trace: int a=1,b=2,c=3; c=a+b; a=b+c; b=a-c; printf("%d %d %d",a,b,c);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 b="0" i="0">
                <a:solidFill>
                  <a:srgbClr val="000000"/>
                </a:solidFill>
                <a:latin typeface="Times New Roman" panose="02020603050405020304"/>
              </a:rPr>
              <a:t>2.  Trace: int n=6; n=n*n; n=n-10; printf("%d", n);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 b="0" i="0">
                <a:solidFill>
                  <a:srgbClr val="000000"/>
                </a:solidFill>
                <a:latin typeface="Times New Roman" panose="02020603050405020304"/>
              </a:rPr>
              <a:t>3.  Trace: int p=8,q=3; p=p/q; q=p*q; printf("%d %d", p, q);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 b="0" i="0">
                <a:solidFill>
                  <a:srgbClr val="000000"/>
                </a:solidFill>
                <a:latin typeface="Times New Roman" panose="02020603050405020304"/>
              </a:rPr>
              <a:t>4.  Write your own 4-line program using int variables and arithmetic, then trace it using a variable table before running it on a compiler.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0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01" name="Picture 3"/>
          <p:cNvPicPr>
            <a:picLocks noChangeAspect="1"/>
          </p:cNvPicPr>
          <p:nvPr/>
        </p:nvPicPr>
        <p:blipFill>
          <a:blip r:embed="rId2">
            <a:alphaModFix amt="35000"/>
          </a:blip>
          <a:srcRect b="1604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1002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1906214"/>
            <a:ext cx="12192000" cy="4957314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1814">
                <a:schemeClr val="accent1">
                  <a:lumMod val="60000"/>
                  <a:lumOff val="40000"/>
                  <a:alpha val="89000"/>
                </a:schemeClr>
              </a:gs>
              <a:gs pos="94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3" name="Title 1"/>
          <p:cNvSpPr>
            <a:spLocks noGrp="1"/>
          </p:cNvSpPr>
          <p:nvPr>
            <p:ph type="ctrTitle"/>
          </p:nvPr>
        </p:nvSpPr>
        <p:spPr>
          <a:xfrm>
            <a:off x="1524000" y="2714445"/>
            <a:ext cx="7355457" cy="1560167"/>
          </a:xfrm>
        </p:spPr>
        <p:txBody>
          <a:bodyPr>
            <a:normAutofit/>
          </a:bodyPr>
          <a:lstStyle/>
          <a:p>
            <a:r>
              <a:rPr lang="en-IN" spc="0" dirty="0">
                <a:latin typeface="Arial Black" panose="020B0A04020102020204" charset="0"/>
                <a:cs typeface="Arial Black" panose="020B0A04020102020204" charset="0"/>
              </a:rPr>
              <a:t>26CSE1002J - Programming for Problem Solving</a:t>
            </a:r>
          </a:p>
        </p:txBody>
      </p:sp>
      <p:sp>
        <p:nvSpPr>
          <p:cNvPr id="1004" name="Subtitle 2"/>
          <p:cNvSpPr>
            <a:spLocks noGrp="1"/>
          </p:cNvSpPr>
          <p:nvPr>
            <p:ph type="subTitle" idx="1"/>
          </p:nvPr>
        </p:nvSpPr>
        <p:spPr>
          <a:xfrm>
            <a:off x="1524000" y="4920137"/>
            <a:ext cx="9974580" cy="112236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t>Unit 1 : Decision-Making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t>Session 2  |  SLO-4 (Practice)</a:t>
            </a:r>
          </a:p>
          <a:p>
            <a:r>
              <a:t>SLO: Apply operator precedence rules and perform variable swapping (with and without a temporary variable).</a:t>
            </a:r>
          </a:p>
        </p:txBody>
      </p:sp>
      <p:cxnSp>
        <p:nvCxnSpPr>
          <p:cNvPr id="1005" name="Straight Connector 12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1612574" y="460241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Operator Precedence?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When an expression has more than one operator, C must decide which operation to perform first.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Operator precedence is the fixed set of rules that decides this order — similar to BODMAS/PEMDAS in mathematics.</a:t>
            </a:r>
          </a:p>
        </p:txBody>
      </p:sp>
      <p:sp>
        <p:nvSpPr>
          <p:cNvPr id="1002" name="Rounded Rectangle 3"/>
          <p:cNvSpPr/>
          <p:nvPr/>
        </p:nvSpPr>
        <p:spPr>
          <a:xfrm>
            <a:off x="640080" y="3931920"/>
            <a:ext cx="10881360" cy="210312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</a:rPr>
              <a:t>Without knowing precedence, this is confusing: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result = 4 + 3 * 2;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// Is it (4 + 3) * 2 = 14 ?   or   4 + (3 * 2) = 10 ?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// C follows a fixed rule: multiplication before addition -&gt; result = 10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Operator Precedence Table (Basic)</a:t>
            </a:r>
          </a:p>
        </p:txBody>
      </p:sp>
      <p:graphicFrame>
        <p:nvGraphicFramePr>
          <p:cNvPr id="1001" name="Table 2"/>
          <p:cNvGraphicFramePr>
            <a:graphicFrameLocks noGrp="1"/>
          </p:cNvGraphicFramePr>
          <p:nvPr/>
        </p:nvGraphicFramePr>
        <p:xfrm>
          <a:off x="640080" y="196596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Precedence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Operator(s)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Meaning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Associativity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Highest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( 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Parentheses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Left to Right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* , / , %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Multiply, Divide, Modulus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Left to Right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+ , 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Add, Subtract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Left to Right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Lowest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=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Assignment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Right to Left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02" name="TextBox 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Times New Roman" panose="02020603050405020304"/>
              </a:rPr>
              <a:t>Rule of thumb: Parentheses first, then * / %, then + -, and assignment ( = ) happens last.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Associativity — What If Operators Have the Same Rank?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When two operators have the same precedence, associativity decides the order — usually left to right.</a:t>
            </a:r>
          </a:p>
        </p:txBody>
      </p:sp>
      <p:sp>
        <p:nvSpPr>
          <p:cNvPr id="1002" name="Rounded Rectangle 3"/>
          <p:cNvSpPr/>
          <p:nvPr/>
        </p:nvSpPr>
        <p:spPr>
          <a:xfrm>
            <a:off x="640080" y="3291840"/>
            <a:ext cx="10881360" cy="310896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Example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int result = 20 / 5 * 2;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// / and * have the SAME precedence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// Evaluated left to right: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// Step 1: 20 / 5 = 4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// Step 2: 4 * 2 = 8</a:t>
            </a:r>
          </a:p>
          <a:p>
            <a:r>
              <a:rPr sz="1600" b="1" i="0">
                <a:solidFill>
                  <a:srgbClr val="FFFFFF"/>
                </a:solidFill>
                <a:latin typeface="Courier New" panose="02070309020205020404"/>
              </a:rPr>
              <a:t>// result = 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Example: Evaluate Step by Step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5120640" cy="429768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Expression</a:t>
            </a:r>
          </a:p>
          <a:p>
            <a:r>
              <a:rPr sz="1700" b="1" i="0">
                <a:solidFill>
                  <a:srgbClr val="FFFFFF"/>
                </a:solidFill>
                <a:latin typeface="Courier New" panose="02070309020205020404"/>
              </a:rPr>
              <a:t>int result;</a:t>
            </a:r>
          </a:p>
          <a:p>
            <a:r>
              <a:rPr sz="1700" b="1" i="0">
                <a:solidFill>
                  <a:srgbClr val="FFFFFF"/>
                </a:solidFill>
                <a:latin typeface="Courier New" panose="02070309020205020404"/>
              </a:rPr>
              <a:t>result = 6 + 4 * 2 - 3;</a:t>
            </a:r>
          </a:p>
        </p:txBody>
      </p:sp>
      <p:graphicFrame>
        <p:nvGraphicFramePr>
          <p:cNvPr id="1002" name="Table 3"/>
          <p:cNvGraphicFramePr>
            <a:graphicFrameLocks noGrp="1"/>
          </p:cNvGraphicFramePr>
          <p:nvPr/>
        </p:nvGraphicFramePr>
        <p:xfrm>
          <a:off x="6035040" y="1965960"/>
          <a:ext cx="5486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Step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Operation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Expression Becomes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4 * 2 (multiply first)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6 + 8 - 3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6 + 8 (left to right)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14 - 3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14 - 3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Final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result = 11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 i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Evaluate These Expressions</a:t>
            </a:r>
          </a:p>
        </p:txBody>
      </p:sp>
      <p:graphicFrame>
        <p:nvGraphicFramePr>
          <p:cNvPr id="1001" name="Table 2"/>
          <p:cNvGraphicFramePr>
            <a:graphicFrameLocks noGrp="1"/>
          </p:cNvGraphicFramePr>
          <p:nvPr/>
        </p:nvGraphicFramePr>
        <p:xfrm>
          <a:off x="640080" y="196596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Expression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Your Answer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10 + 2 * 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(10 + 2) * 5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20 - 4 / 2 + 1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3 * 4 % 5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2 + 3 * (4 - 1)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Variable Swapping?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Swapping means exchanging the values stored in two variables.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Example: if a = 5 and b = 9, after swapping a = 9 and b = 5.</a:t>
            </a:r>
          </a:p>
        </p:txBody>
      </p:sp>
      <p:sp>
        <p:nvSpPr>
          <p:cNvPr id="1002" name="Rounded Rectangle 3"/>
          <p:cNvSpPr/>
          <p:nvPr/>
        </p:nvSpPr>
        <p:spPr>
          <a:xfrm>
            <a:off x="1280160" y="3840480"/>
            <a:ext cx="2743200" cy="146304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i="0">
                <a:solidFill>
                  <a:srgbClr val="0A2E36"/>
                </a:solidFill>
                <a:latin typeface="Times New Roman" panose="02020603050405020304"/>
              </a:rPr>
              <a:t>a</a:t>
            </a:r>
          </a:p>
          <a:p>
            <a:pPr algn="ctr"/>
            <a:r>
              <a:rPr sz="2200" b="1" i="0">
                <a:solidFill>
                  <a:srgbClr val="0A2E36"/>
                </a:solidFill>
                <a:latin typeface="Times New Roman" panose="02020603050405020304"/>
              </a:rPr>
              <a:t>5</a:t>
            </a:r>
          </a:p>
        </p:txBody>
      </p:sp>
      <p:sp>
        <p:nvSpPr>
          <p:cNvPr id="1003" name="Rounded Rectangle 4"/>
          <p:cNvSpPr/>
          <p:nvPr/>
        </p:nvSpPr>
        <p:spPr>
          <a:xfrm>
            <a:off x="8138160" y="3840480"/>
            <a:ext cx="2743200" cy="1463040"/>
          </a:xfrm>
          <a:prstGeom prst="roundRect">
            <a:avLst/>
          </a:prstGeom>
          <a:solidFill>
            <a:srgbClr val="E8F5EF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i="0">
                <a:solidFill>
                  <a:srgbClr val="0A2E36"/>
                </a:solidFill>
                <a:latin typeface="Times New Roman" panose="02020603050405020304"/>
              </a:rPr>
              <a:t>b</a:t>
            </a:r>
          </a:p>
          <a:p>
            <a:pPr algn="ctr"/>
            <a:r>
              <a:rPr sz="2200" b="1" i="0">
                <a:solidFill>
                  <a:srgbClr val="0A2E36"/>
                </a:solidFill>
                <a:latin typeface="Times New Roman" panose="02020603050405020304"/>
              </a:rPr>
              <a:t>9</a:t>
            </a:r>
          </a:p>
        </p:txBody>
      </p:sp>
      <p:sp>
        <p:nvSpPr>
          <p:cNvPr id="1004" name="Right Arrow 5"/>
          <p:cNvSpPr/>
          <p:nvPr/>
        </p:nvSpPr>
        <p:spPr>
          <a:xfrm>
            <a:off x="4297680" y="4160520"/>
            <a:ext cx="3566160" cy="365760"/>
          </a:xfrm>
          <a:prstGeom prst="rightArrow">
            <a:avLst/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Right Arrow 6"/>
          <p:cNvSpPr/>
          <p:nvPr/>
        </p:nvSpPr>
        <p:spPr>
          <a:xfrm rot="10800000">
            <a:off x="4297680" y="4617720"/>
            <a:ext cx="3566160" cy="365760"/>
          </a:xfrm>
          <a:prstGeom prst="rightArrow">
            <a:avLst/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Times New Roman" panose="02020603050405020304"/>
              </a:rPr>
              <a:t>A common beginner mistake: writing  a = b; b = a;  directly loses the original value of a. We solve this next.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Swapping WITH a Temporary Variable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5394960" cy="429768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Code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a = 5, b = 9, temp;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temp = a;   // save a's value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a = b;      // put b's value into a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b = temp;   // put saved value into b</a:t>
            </a:r>
          </a:p>
        </p:txBody>
      </p:sp>
      <p:graphicFrame>
        <p:nvGraphicFramePr>
          <p:cNvPr id="1002" name="Table 3"/>
          <p:cNvGraphicFramePr>
            <a:graphicFrameLocks noGrp="1"/>
          </p:cNvGraphicFramePr>
          <p:nvPr/>
        </p:nvGraphicFramePr>
        <p:xfrm>
          <a:off x="6309360" y="1965960"/>
          <a:ext cx="52120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9807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Statement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b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temp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7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Start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7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temp = a;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7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 = b;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11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b = temp;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Swapping WITHOUT a Temporary Variable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5394960" cy="429768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Code (arithmetic method)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int a = 5, b = 9;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a = a + b;   // a now holds 5+9 = 14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b = a - b;   // b = 14 - 9 = 5 (old a)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a = a - b;   // a = 14 - 5 = 9 (old b)</a:t>
            </a:r>
          </a:p>
        </p:txBody>
      </p:sp>
      <p:graphicFrame>
        <p:nvGraphicFramePr>
          <p:cNvPr id="1002" name="Table 3"/>
          <p:cNvGraphicFramePr>
            <a:graphicFrameLocks noGrp="1"/>
          </p:cNvGraphicFramePr>
          <p:nvPr/>
        </p:nvGraphicFramePr>
        <p:xfrm>
          <a:off x="6309360" y="1965960"/>
          <a:ext cx="512064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9807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Statement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b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7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Start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7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 = a + b;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7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b = a - b;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11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 = a - b;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03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Times New Roman" panose="02020603050405020304"/>
              </a:rPr>
              <a:t>This method uses only + and - and needs no extra variable — but works only with numbers.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— SLO-4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25488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Operator precedence decides the order operators are evaluated: ( ) first, then * / %, then + -, then =.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Operators with the same precedence are evaluated using associativity, usually left to right.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Swapping exchanges the values of two variables.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With a temporary variable: save one value first, then overwrite safely, then restore from temp.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Arial" panose="020B0604020202020204"/>
              <a:buChar char="●"/>
            </a:pPr>
            <a:r>
              <a:rPr sz="1800" b="0" i="0">
                <a:solidFill>
                  <a:srgbClr val="000000"/>
                </a:solidFill>
                <a:latin typeface="Times New Roman" panose="02020603050405020304"/>
              </a:rPr>
              <a:t>Without a temporary variable: use arithmetic (+ / -) to swap in place — no extra variable needed.</a:t>
            </a:r>
          </a:p>
          <a:p>
            <a:pPr indent="0">
              <a:lnSpc>
                <a:spcPct val="115000"/>
              </a:lnSpc>
              <a:spcAft>
                <a:spcPts val="1000"/>
              </a:spcAft>
              <a:buFont typeface="Arial" panose="020B0604020202020204"/>
              <a:buNone/>
            </a:pPr>
            <a:endParaRPr sz="1800" b="1" i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0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01" name="Picture 3"/>
          <p:cNvPicPr>
            <a:picLocks noChangeAspect="1"/>
          </p:cNvPicPr>
          <p:nvPr/>
        </p:nvPicPr>
        <p:blipFill>
          <a:blip r:embed="rId2">
            <a:alphaModFix amt="35000"/>
          </a:blip>
          <a:srcRect b="1604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1002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1906214"/>
            <a:ext cx="12192000" cy="4957314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1814">
                <a:schemeClr val="accent1">
                  <a:lumMod val="60000"/>
                  <a:lumOff val="40000"/>
                  <a:alpha val="89000"/>
                </a:schemeClr>
              </a:gs>
              <a:gs pos="94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3" name="Title 1"/>
          <p:cNvSpPr>
            <a:spLocks noGrp="1"/>
          </p:cNvSpPr>
          <p:nvPr>
            <p:ph type="ctrTitle"/>
          </p:nvPr>
        </p:nvSpPr>
        <p:spPr>
          <a:xfrm>
            <a:off x="1524000" y="2714445"/>
            <a:ext cx="7355457" cy="1560167"/>
          </a:xfrm>
        </p:spPr>
        <p:txBody>
          <a:bodyPr>
            <a:normAutofit/>
          </a:bodyPr>
          <a:lstStyle/>
          <a:p>
            <a:r>
              <a:rPr lang="en-IN" spc="0" dirty="0">
                <a:latin typeface="Arial Black" panose="020B0A04020102020204" charset="0"/>
                <a:cs typeface="Arial Black" panose="020B0A04020102020204" charset="0"/>
              </a:rPr>
              <a:t>26CSE1002J - Programming for Problem Solving</a:t>
            </a:r>
          </a:p>
        </p:txBody>
      </p:sp>
      <p:sp>
        <p:nvSpPr>
          <p:cNvPr id="1004" name="Subtitle 2"/>
          <p:cNvSpPr>
            <a:spLocks noGrp="1"/>
          </p:cNvSpPr>
          <p:nvPr>
            <p:ph type="subTitle" idx="1"/>
          </p:nvPr>
        </p:nvSpPr>
        <p:spPr>
          <a:xfrm>
            <a:off x="1524000" y="4920137"/>
            <a:ext cx="9974580" cy="11223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t>Unit 1 : Decision-Making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t>|  SLO-4</a:t>
            </a:r>
          </a:p>
          <a:p>
            <a:r>
              <a:t>Example Programs &amp; Practice Questions: Operator Precedence &amp; Variable Swapping</a:t>
            </a:r>
          </a:p>
        </p:txBody>
      </p:sp>
      <p:cxnSp>
        <p:nvCxnSpPr>
          <p:cNvPr id="1005" name="Straight Connector 12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1612574" y="460241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Program 1 — Precedence in Action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5669280" cy="420624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Program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#include &lt;stdio.h&gt;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int main()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{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   int result = 5 + 3 * 2 - 4 / 2;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   printf("Result = %d\n", result);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    return 0;</a:t>
            </a:r>
          </a:p>
          <a:p>
            <a:r>
              <a:rPr sz="1500" b="1" i="0">
                <a:solidFill>
                  <a:srgbClr val="FFFFFF"/>
                </a:solidFill>
                <a:latin typeface="Courier New" panose="02070309020205020404"/>
              </a:rPr>
              <a:t>}</a:t>
            </a:r>
          </a:p>
        </p:txBody>
      </p:sp>
      <p:graphicFrame>
        <p:nvGraphicFramePr>
          <p:cNvPr id="1002" name="Table 3"/>
          <p:cNvGraphicFramePr>
            <a:graphicFrameLocks noGrp="1"/>
          </p:cNvGraphicFramePr>
          <p:nvPr/>
        </p:nvGraphicFramePr>
        <p:xfrm>
          <a:off x="6492240" y="196596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Step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Operation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Value So Far</a:t>
                      </a:r>
                    </a:p>
                  </a:txBody>
                  <a:tcPr marL="73152" marR="73152" marT="36576" marB="36576" anchor="ctr">
                    <a:solidFill>
                      <a:srgbClr val="188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3 *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 + 6 - 4 /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4 / 2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 + 6 - 2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 + 6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11 - 2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11 - 2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03" name="Rounded Rectangle 4"/>
          <p:cNvSpPr/>
          <p:nvPr/>
        </p:nvSpPr>
        <p:spPr>
          <a:xfrm>
            <a:off x="6492240" y="5394960"/>
            <a:ext cx="5029200" cy="640080"/>
          </a:xfrm>
          <a:prstGeom prst="roundRect">
            <a:avLst/>
          </a:prstGeom>
          <a:solidFill>
            <a:srgbClr val="0A2E36"/>
          </a:solidFill>
          <a:ln w="15875">
            <a:solidFill>
              <a:srgbClr val="18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Result = 9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Program 2 — Swap Two Numbers (Temp Variable)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10881360" cy="402336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Program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#include &lt;stdio.h&gt;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int main()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{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int a, b, temp;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printf("Enter two numbers: ");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scanf("%d %d", &amp;a, &amp;b);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temp = a;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a = b;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b = temp;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printf("After swap: a = %d, b = %d\n", a, b);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return 0;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}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Program 3 — Swap Two Numbers (No Temp Variable)</a:t>
            </a:r>
          </a:p>
        </p:txBody>
      </p:sp>
      <p:sp>
        <p:nvSpPr>
          <p:cNvPr id="1001" name="Rounded Rectangle 2"/>
          <p:cNvSpPr/>
          <p:nvPr/>
        </p:nvSpPr>
        <p:spPr>
          <a:xfrm>
            <a:off x="640080" y="1965960"/>
            <a:ext cx="10881360" cy="4023360"/>
          </a:xfrm>
          <a:prstGeom prst="roundRect">
            <a:avLst>
              <a:gd name="adj" fmla="val 4000"/>
            </a:avLst>
          </a:prstGeom>
          <a:solidFill>
            <a:srgbClr val="18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603050405020304"/>
              </a:rPr>
              <a:t>Program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#include &lt;stdio.h&gt;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int main()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{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int a, b;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printf("Enter two numbers: ");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scanf("%d %d", &amp;a, &amp;b);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a = a + b;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b = a - b;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a = a - b;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printf("After swap: a = %d, b = %d\n", a, b);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    return 0;</a:t>
            </a:r>
          </a:p>
          <a:p>
            <a:r>
              <a:rPr sz="1400" b="1" i="0">
                <a:solidFill>
                  <a:srgbClr val="FFFFFF"/>
                </a:solidFill>
                <a:latin typeface="Courier New" panose="02070309020205020404"/>
              </a:rPr>
              <a:t>}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 the Output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52120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1. printf("%d", 2 + 3 * 4 - 1);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Answer: </a:t>
            </a:r>
            <a:r>
              <a:rPr sz="1400" b="1" i="0">
                <a:solidFill>
                  <a:srgbClr val="0A2E36"/>
                </a:solidFill>
                <a:latin typeface="Times New Roman" panose="02020603050405020304"/>
              </a:rPr>
              <a:t>13</a:t>
            </a:r>
          </a:p>
          <a:p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Reason: </a:t>
            </a:r>
            <a:r>
              <a:rPr sz="1400" b="0" i="0">
                <a:solidFill>
                  <a:srgbClr val="000000"/>
                </a:solidFill>
                <a:latin typeface="Times New Roman" panose="02020603050405020304"/>
              </a:rPr>
              <a:t>Multiply first (3*4=12), then left to right: 2+12-1=13.</a:t>
            </a:r>
          </a:p>
        </p:txBody>
      </p:sp>
      <p:sp>
        <p:nvSpPr>
          <p:cNvPr id="1002" name="TextBox 3"/>
          <p:cNvSpPr txBox="1"/>
          <p:nvPr/>
        </p:nvSpPr>
        <p:spPr>
          <a:xfrm>
            <a:off x="6126480" y="1965960"/>
            <a:ext cx="52120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2. printf("%d", (2 + 3) * (4 - 1));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Answer: </a:t>
            </a:r>
            <a:r>
              <a:rPr sz="1400" b="1" i="0">
                <a:solidFill>
                  <a:srgbClr val="0A2E36"/>
                </a:solidFill>
                <a:latin typeface="Times New Roman" panose="02020603050405020304"/>
              </a:rPr>
              <a:t>15</a:t>
            </a:r>
          </a:p>
          <a:p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Reason: </a:t>
            </a:r>
            <a:r>
              <a:rPr sz="1400" b="0" i="0">
                <a:solidFill>
                  <a:srgbClr val="000000"/>
                </a:solidFill>
                <a:latin typeface="Times New Roman" panose="02020603050405020304"/>
              </a:rPr>
              <a:t>Parentheses are evaluated first: 5 * 3 = 15.</a:t>
            </a:r>
          </a:p>
        </p:txBody>
      </p:sp>
      <p:sp>
        <p:nvSpPr>
          <p:cNvPr id="1003" name="TextBox 4"/>
          <p:cNvSpPr txBox="1"/>
          <p:nvPr/>
        </p:nvSpPr>
        <p:spPr>
          <a:xfrm>
            <a:off x="640080" y="4297680"/>
            <a:ext cx="52120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3. int a=5,b=8;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   a=a+b; b=a-b; a=a-b;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   printf("%d %d", a, b);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Answer: </a:t>
            </a:r>
            <a:r>
              <a:rPr sz="1400" b="1" i="0">
                <a:solidFill>
                  <a:srgbClr val="0A2E36"/>
                </a:solidFill>
                <a:latin typeface="Times New Roman" panose="02020603050405020304"/>
              </a:rPr>
              <a:t>8 5</a:t>
            </a:r>
          </a:p>
          <a:p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Reason: </a:t>
            </a:r>
            <a:r>
              <a:rPr sz="1400" b="0" i="0">
                <a:solidFill>
                  <a:srgbClr val="000000"/>
                </a:solidFill>
                <a:latin typeface="Times New Roman" panose="02020603050405020304"/>
              </a:rPr>
              <a:t>This is the no-temp swap — a and b exchange values.</a:t>
            </a:r>
          </a:p>
        </p:txBody>
      </p:sp>
      <p:sp>
        <p:nvSpPr>
          <p:cNvPr id="1004" name="TextBox 5"/>
          <p:cNvSpPr txBox="1"/>
          <p:nvPr/>
        </p:nvSpPr>
        <p:spPr>
          <a:xfrm>
            <a:off x="6126480" y="4297680"/>
            <a:ext cx="52120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 panose="02020603050405020304"/>
              </a:rPr>
              <a:t>4. printf("%d", 20 % 6 + 2 * 3);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Answer: </a:t>
            </a:r>
            <a:r>
              <a:rPr sz="1400" b="1" i="0">
                <a:solidFill>
                  <a:srgbClr val="0A2E36"/>
                </a:solidFill>
                <a:latin typeface="Times New Roman" panose="02020603050405020304"/>
              </a:rPr>
              <a:t>8</a:t>
            </a:r>
          </a:p>
          <a:p>
            <a:r>
              <a:rPr sz="1400" b="1" i="0">
                <a:solidFill>
                  <a:srgbClr val="188659"/>
                </a:solidFill>
                <a:latin typeface="Times New Roman" panose="02020603050405020304"/>
              </a:rPr>
              <a:t>Reason: </a:t>
            </a:r>
            <a:r>
              <a:rPr sz="1400" b="0" i="0">
                <a:solidFill>
                  <a:srgbClr val="000000"/>
                </a:solidFill>
                <a:latin typeface="Times New Roman" panose="02020603050405020304"/>
              </a:rPr>
              <a:t>% and * rank above +, so they happen first: 20%6=2 and 2*3=6, then 2+6=8.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Questions — Try These Yourself</a:t>
            </a:r>
          </a:p>
        </p:txBody>
      </p:sp>
      <p:sp>
        <p:nvSpPr>
          <p:cNvPr id="1001" name="TextBox 2"/>
          <p:cNvSpPr txBox="1"/>
          <p:nvPr/>
        </p:nvSpPr>
        <p:spPr>
          <a:xfrm>
            <a:off x="640080" y="196596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0" i="0">
                <a:solidFill>
                  <a:srgbClr val="000000"/>
                </a:solidFill>
                <a:latin typeface="Times New Roman" panose="02020603050405020304"/>
              </a:rPr>
              <a:t>1.  Evaluate by hand, then verify on a compiler: 15 - 2 * 3 + 8 / 4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0" i="0">
                <a:solidFill>
                  <a:srgbClr val="000000"/>
                </a:solidFill>
                <a:latin typeface="Times New Roman" panose="02020603050405020304"/>
              </a:rPr>
              <a:t>2.  Evaluate by hand, then verify: (15 - 2) * (3 + 8) / 4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0" i="0">
                <a:solidFill>
                  <a:srgbClr val="000000"/>
                </a:solidFill>
                <a:latin typeface="Times New Roman" panose="02020603050405020304"/>
              </a:rPr>
              <a:t>3.  Write a program to swap two float values using a temporary variable.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0" i="0">
                <a:solidFill>
                  <a:srgbClr val="000000"/>
                </a:solidFill>
                <a:latin typeface="Times New Roman" panose="02020603050405020304"/>
              </a:rPr>
              <a:t>4.  Write a program to swap two integers without using a temporary variable, then test it with negative numbers too.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0" i="0">
                <a:solidFill>
                  <a:srgbClr val="000000"/>
                </a:solidFill>
                <a:latin typeface="Times New Roman" panose="02020603050405020304"/>
              </a:rPr>
              <a:t>5.  Write a program that reads three integers and prints them in reverse order using swapping logic.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F55FD1-95FA-98DA-84AA-145D29A53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B0948C-92F4-50F2-FE07-51C68C3A5A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604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AC9EE06-57AF-0FF5-450C-2A606C23B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906214"/>
            <a:ext cx="12192000" cy="4957314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61814">
                <a:schemeClr val="accent1">
                  <a:lumMod val="60000"/>
                  <a:lumOff val="40000"/>
                  <a:alpha val="89000"/>
                </a:schemeClr>
              </a:gs>
              <a:gs pos="94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862082-9BE5-EB71-810E-C0A509546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4445"/>
            <a:ext cx="7355457" cy="1560167"/>
          </a:xfrm>
        </p:spPr>
        <p:txBody>
          <a:bodyPr>
            <a:normAutofit/>
          </a:bodyPr>
          <a:lstStyle/>
          <a:p>
            <a:r>
              <a:rPr lang="en-IN" spc="0" dirty="0"/>
              <a:t>26CSE1002J - Programming for Problem Solving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4EFE2E-A077-3088-4871-EFEFD9342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0137"/>
            <a:ext cx="9974580" cy="1122363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</a:pPr>
            <a:r>
              <a:rPr lang="en-IN" sz="2800" b="1" cap="all" dirty="0">
                <a:latin typeface="+mj-lt"/>
                <a:ea typeface="+mj-ea"/>
                <a:cs typeface="+mj-cs"/>
              </a:rPr>
              <a:t>Unit 1</a:t>
            </a:r>
          </a:p>
          <a:p>
            <a:pPr>
              <a:lnSpc>
                <a:spcPct val="110000"/>
              </a:lnSpc>
            </a:pPr>
            <a:r>
              <a:rPr lang="en-IN" sz="2800" b="1" cap="all" dirty="0">
                <a:latin typeface="+mj-lt"/>
                <a:ea typeface="+mj-ea"/>
                <a:cs typeface="+mj-cs"/>
              </a:rPr>
              <a:t>Session: 5</a:t>
            </a:r>
          </a:p>
          <a:p>
            <a:r>
              <a:rPr lang="en-IN" sz="2800" b="1" cap="all" dirty="0">
                <a:latin typeface="+mj-lt"/>
                <a:ea typeface="+mj-ea"/>
                <a:cs typeface="+mj-cs"/>
              </a:rPr>
              <a:t>SLO :</a:t>
            </a:r>
            <a:r>
              <a:rPr lang="en-US" sz="2800" b="1" cap="all" dirty="0">
                <a:latin typeface="+mj-lt"/>
                <a:ea typeface="+mj-ea"/>
                <a:cs typeface="+mj-cs"/>
              </a:rPr>
              <a:t>Implement decision-making using if…else  statements in C.</a:t>
            </a:r>
            <a:endParaRPr lang="en-IN" sz="2800" b="1" cap="all" dirty="0"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3FECB8-44EE-4A45-9F7B-66ECF1C3C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12574" y="460241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36622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35138-7FDC-57A2-E06D-1F5467F36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 err="1"/>
              <a:t>Decision-making</a:t>
            </a:r>
            <a:r>
              <a:rPr lang="ta-IN" dirty="0"/>
              <a:t> </a:t>
            </a:r>
            <a:r>
              <a:rPr lang="ta-IN" dirty="0" err="1"/>
              <a:t>statements</a:t>
            </a:r>
            <a:r>
              <a:rPr lang="ta-IN" dirty="0"/>
              <a:t> </a:t>
            </a:r>
            <a:r>
              <a:rPr lang="ta-IN" dirty="0" err="1"/>
              <a:t>in</a:t>
            </a:r>
            <a:r>
              <a:rPr lang="ta-IN" dirty="0"/>
              <a:t> C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42559-D2C7-6A13-4E91-1EAA23D76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a-IN" b="1" dirty="0" err="1">
                <a:latin typeface="Times New Roman" panose="02020603050405020304" pitchFamily="18" charset="0"/>
              </a:rPr>
              <a:t>Decision-making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statements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in</a:t>
            </a:r>
            <a:r>
              <a:rPr lang="ta-IN" b="1" dirty="0">
                <a:latin typeface="Times New Roman" panose="02020603050405020304" pitchFamily="18" charset="0"/>
              </a:rPr>
              <a:t> C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allow</a:t>
            </a:r>
            <a:r>
              <a:rPr lang="ta-IN" dirty="0">
                <a:latin typeface="Times New Roman" panose="02020603050405020304" pitchFamily="18" charset="0"/>
              </a:rPr>
              <a:t> a </a:t>
            </a:r>
            <a:r>
              <a:rPr lang="ta-IN" dirty="0" err="1">
                <a:latin typeface="Times New Roman" panose="02020603050405020304" pitchFamily="18" charset="0"/>
              </a:rPr>
              <a:t>program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to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evaluate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specific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conditions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and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alter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its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execution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path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dynamically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based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whether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those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conditions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are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true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or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false</a:t>
            </a:r>
            <a:r>
              <a:rPr lang="ta-IN" dirty="0">
                <a:latin typeface="Times New Roman" panose="02020603050405020304" pitchFamily="18" charset="0"/>
              </a:rPr>
              <a:t>. </a:t>
            </a:r>
            <a:endParaRPr lang="en-IN" dirty="0">
              <a:latin typeface="Times New Roman" panose="02020603050405020304" pitchFamily="18" charset="0"/>
            </a:endParaRPr>
          </a:p>
          <a:p>
            <a:r>
              <a:rPr lang="ta-IN" dirty="0" err="1">
                <a:latin typeface="Times New Roman" panose="02020603050405020304" pitchFamily="18" charset="0"/>
              </a:rPr>
              <a:t>In</a:t>
            </a:r>
            <a:r>
              <a:rPr lang="ta-IN" dirty="0">
                <a:latin typeface="Times New Roman" panose="02020603050405020304" pitchFamily="18" charset="0"/>
              </a:rPr>
              <a:t> C, </a:t>
            </a:r>
            <a:r>
              <a:rPr lang="ta-IN" dirty="0" err="1">
                <a:latin typeface="Times New Roman" panose="02020603050405020304" pitchFamily="18" charset="0"/>
              </a:rPr>
              <a:t>any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non-zero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value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treated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true</a:t>
            </a:r>
            <a:r>
              <a:rPr lang="ta-IN" dirty="0">
                <a:latin typeface="Times New Roman" panose="02020603050405020304" pitchFamily="18" charset="0"/>
              </a:rPr>
              <a:t>, </a:t>
            </a:r>
            <a:r>
              <a:rPr lang="ta-IN" dirty="0" err="1">
                <a:latin typeface="Times New Roman" panose="02020603050405020304" pitchFamily="18" charset="0"/>
              </a:rPr>
              <a:t>while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zero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treated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false</a:t>
            </a:r>
            <a:r>
              <a:rPr lang="ta-IN" dirty="0">
                <a:latin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</a:endParaRPr>
          </a:p>
          <a:p>
            <a:r>
              <a:rPr lang="ta-IN" dirty="0" err="1"/>
              <a:t>The</a:t>
            </a:r>
            <a:r>
              <a:rPr lang="ta-IN" dirty="0"/>
              <a:t> </a:t>
            </a:r>
            <a:r>
              <a:rPr lang="ta-IN" dirty="0" err="1"/>
              <a:t>decision-making</a:t>
            </a:r>
            <a:r>
              <a:rPr lang="ta-IN" dirty="0"/>
              <a:t> </a:t>
            </a:r>
            <a:r>
              <a:rPr lang="ta-IN" dirty="0" err="1"/>
              <a:t>structures</a:t>
            </a:r>
            <a:r>
              <a:rPr lang="ta-IN" dirty="0"/>
              <a:t> </a:t>
            </a:r>
            <a:r>
              <a:rPr lang="ta-IN" dirty="0" err="1"/>
              <a:t>in</a:t>
            </a:r>
            <a:r>
              <a:rPr lang="ta-IN" dirty="0"/>
              <a:t> C </a:t>
            </a:r>
            <a:r>
              <a:rPr lang="ta-IN" dirty="0" err="1"/>
              <a:t>include</a:t>
            </a:r>
            <a:r>
              <a:rPr lang="ta-IN" dirty="0"/>
              <a:t> </a:t>
            </a:r>
            <a:endParaRPr lang="en-IN" dirty="0"/>
          </a:p>
          <a:p>
            <a:pPr marL="541782" lvl="1" indent="-285750">
              <a:buFont typeface="Wingdings" panose="05000000000000000000" pitchFamily="2" charset="2"/>
              <a:buChar char="v"/>
            </a:pPr>
            <a:r>
              <a:rPr lang="en-IN" b="1" dirty="0"/>
              <a:t>I</a:t>
            </a:r>
            <a:r>
              <a:rPr lang="ta-IN" b="1" dirty="0"/>
              <a:t>f</a:t>
            </a:r>
            <a:r>
              <a:rPr lang="en-IN" b="1" dirty="0"/>
              <a:t> statement</a:t>
            </a:r>
          </a:p>
          <a:p>
            <a:pPr marL="541782" lvl="1" indent="-285750">
              <a:buFont typeface="Wingdings" panose="05000000000000000000" pitchFamily="2" charset="2"/>
              <a:buChar char="v"/>
            </a:pPr>
            <a:r>
              <a:rPr lang="ta-IN" dirty="0"/>
              <a:t> </a:t>
            </a:r>
            <a:r>
              <a:rPr lang="ta-IN" b="1" dirty="0" err="1"/>
              <a:t>if-else</a:t>
            </a:r>
            <a:r>
              <a:rPr lang="en-IN" b="1" dirty="0"/>
              <a:t> statement</a:t>
            </a:r>
          </a:p>
          <a:p>
            <a:pPr marL="541782" lvl="1" indent="-285750">
              <a:buFont typeface="Wingdings" panose="05000000000000000000" pitchFamily="2" charset="2"/>
              <a:buChar char="v"/>
            </a:pPr>
            <a:r>
              <a:rPr lang="ta-IN" dirty="0"/>
              <a:t> </a:t>
            </a:r>
            <a:r>
              <a:rPr lang="ta-IN" b="1" dirty="0" err="1"/>
              <a:t>if-else</a:t>
            </a:r>
            <a:r>
              <a:rPr lang="ta-IN" b="1" dirty="0"/>
              <a:t> </a:t>
            </a:r>
            <a:r>
              <a:rPr lang="ta-IN" b="1" dirty="0" err="1"/>
              <a:t>if-else</a:t>
            </a:r>
            <a:r>
              <a:rPr lang="en-IN" b="1" dirty="0"/>
              <a:t> statement</a:t>
            </a:r>
            <a:r>
              <a:rPr lang="ta-IN" dirty="0"/>
              <a:t>, </a:t>
            </a:r>
            <a:r>
              <a:rPr lang="ta-IN" dirty="0" err="1"/>
              <a:t>and</a:t>
            </a:r>
            <a:r>
              <a:rPr lang="ta-IN" dirty="0"/>
              <a:t> </a:t>
            </a:r>
            <a:endParaRPr lang="en-IN" dirty="0"/>
          </a:p>
          <a:p>
            <a:pPr marL="541782" lvl="1" indent="-285750">
              <a:buFont typeface="Wingdings" panose="05000000000000000000" pitchFamily="2" charset="2"/>
              <a:buChar char="v"/>
            </a:pPr>
            <a:r>
              <a:rPr lang="ta-IN" b="1" dirty="0" err="1"/>
              <a:t>switch-case</a:t>
            </a:r>
            <a:r>
              <a:rPr lang="en-IN" b="1" dirty="0"/>
              <a:t>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10636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862D19-8FE5-6132-0498-E420ABC15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8" r="150"/>
          <a:stretch>
            <a:fillRect/>
          </a:stretch>
        </p:blipFill>
        <p:spPr>
          <a:xfrm>
            <a:off x="1436594" y="341643"/>
            <a:ext cx="9318812" cy="584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57648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71C38-3E03-51C8-1779-57AB29BD5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1. </a:t>
            </a:r>
            <a:r>
              <a:rPr lang="ta-IN" dirty="0" err="1"/>
              <a:t>The</a:t>
            </a:r>
            <a:r>
              <a:rPr lang="ta-IN" dirty="0"/>
              <a:t> </a:t>
            </a:r>
            <a:r>
              <a:rPr lang="ta-IN" dirty="0" err="1"/>
              <a:t>if</a:t>
            </a:r>
            <a:r>
              <a:rPr lang="ta-IN" dirty="0"/>
              <a:t> </a:t>
            </a:r>
            <a:r>
              <a:rPr lang="ta-IN" dirty="0" err="1"/>
              <a:t>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EE148-1254-1E3D-8DEE-06F88A108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804216"/>
            <a:ext cx="10287000" cy="3890965"/>
          </a:xfrm>
        </p:spPr>
        <p:txBody>
          <a:bodyPr>
            <a:normAutofit/>
          </a:bodyPr>
          <a:lstStyle/>
          <a:p>
            <a:r>
              <a:rPr lang="ta-IN" sz="2000" dirty="0" err="1">
                <a:latin typeface="Times New Roman" panose="02020603050405020304" pitchFamily="18" charset="0"/>
              </a:rPr>
              <a:t>The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simple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if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statement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executes</a:t>
            </a:r>
            <a:r>
              <a:rPr lang="ta-IN" sz="2000" dirty="0">
                <a:latin typeface="Times New Roman" panose="02020603050405020304" pitchFamily="18" charset="0"/>
              </a:rPr>
              <a:t> a </a:t>
            </a:r>
            <a:r>
              <a:rPr lang="ta-IN" sz="2000" dirty="0" err="1">
                <a:latin typeface="Times New Roman" panose="02020603050405020304" pitchFamily="18" charset="0"/>
              </a:rPr>
              <a:t>block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of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code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latin typeface="Times New Roman" panose="02020603050405020304" pitchFamily="18" charset="0"/>
              </a:rPr>
              <a:t>only</a:t>
            </a:r>
            <a:r>
              <a:rPr lang="ta-IN" sz="2000" b="1" dirty="0"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latin typeface="Times New Roman" panose="02020603050405020304" pitchFamily="18" charset="0"/>
              </a:rPr>
              <a:t>if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the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specified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condition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evaluates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to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true</a:t>
            </a:r>
            <a:r>
              <a:rPr lang="ta-IN" sz="2000" dirty="0">
                <a:latin typeface="Times New Roman" panose="02020603050405020304" pitchFamily="18" charset="0"/>
              </a:rPr>
              <a:t>. </a:t>
            </a:r>
            <a:r>
              <a:rPr lang="ta-IN" sz="2000" dirty="0" err="1">
                <a:latin typeface="Times New Roman" panose="02020603050405020304" pitchFamily="18" charset="0"/>
              </a:rPr>
              <a:t>If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the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condition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false</a:t>
            </a:r>
            <a:r>
              <a:rPr lang="ta-IN" sz="2000" dirty="0">
                <a:latin typeface="Times New Roman" panose="02020603050405020304" pitchFamily="18" charset="0"/>
              </a:rPr>
              <a:t>, </a:t>
            </a:r>
            <a:r>
              <a:rPr lang="ta-IN" sz="2000" dirty="0" err="1">
                <a:latin typeface="Times New Roman" panose="02020603050405020304" pitchFamily="18" charset="0"/>
              </a:rPr>
              <a:t>the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block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skipped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entirely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C0D755-F09D-5162-B224-EA79C306AE11}"/>
              </a:ext>
            </a:extLst>
          </p:cNvPr>
          <p:cNvSpPr/>
          <p:nvPr/>
        </p:nvSpPr>
        <p:spPr>
          <a:xfrm>
            <a:off x="1070487" y="3156155"/>
            <a:ext cx="5143500" cy="23302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Syntax</a:t>
            </a:r>
          </a:p>
          <a:p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if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condition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) 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{ //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Code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to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execute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if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condition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is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true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}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ta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817885-D244-6E32-9D87-38E6594EB224}"/>
              </a:ext>
            </a:extLst>
          </p:cNvPr>
          <p:cNvSpPr txBox="1"/>
          <p:nvPr/>
        </p:nvSpPr>
        <p:spPr>
          <a:xfrm>
            <a:off x="6518787" y="3429000"/>
            <a:ext cx="47207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</a:rPr>
              <a:t>Example</a:t>
            </a:r>
          </a:p>
          <a:p>
            <a:r>
              <a:rPr lang="ta-IN" sz="2000" b="1" dirty="0">
                <a:latin typeface="Times New Roman" panose="02020603050405020304" pitchFamily="18" charset="0"/>
              </a:rPr>
              <a:t>#include &lt;</a:t>
            </a:r>
            <a:r>
              <a:rPr lang="ta-IN" sz="2000" b="1" dirty="0" err="1">
                <a:latin typeface="Times New Roman" panose="02020603050405020304" pitchFamily="18" charset="0"/>
              </a:rPr>
              <a:t>stdio.h</a:t>
            </a:r>
            <a:r>
              <a:rPr lang="ta-IN" sz="2000" b="1" dirty="0">
                <a:latin typeface="Times New Roman" panose="02020603050405020304" pitchFamily="18" charset="0"/>
              </a:rPr>
              <a:t>&gt;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a-IN" sz="2000" b="1" dirty="0" err="1">
                <a:latin typeface="Times New Roman" panose="02020603050405020304" pitchFamily="18" charset="0"/>
              </a:rPr>
              <a:t>int</a:t>
            </a:r>
            <a:r>
              <a:rPr lang="ta-IN" sz="2000" b="1" dirty="0"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latin typeface="Times New Roman" panose="02020603050405020304" pitchFamily="18" charset="0"/>
              </a:rPr>
              <a:t>main</a:t>
            </a:r>
            <a:r>
              <a:rPr lang="ta-IN" sz="2000" b="1" dirty="0">
                <a:latin typeface="Times New Roman" panose="02020603050405020304" pitchFamily="18" charset="0"/>
              </a:rPr>
              <a:t>()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a-IN" sz="2000" b="1" dirty="0">
                <a:latin typeface="Times New Roman" panose="02020603050405020304" pitchFamily="18" charset="0"/>
              </a:rPr>
              <a:t> { </a:t>
            </a:r>
            <a:r>
              <a:rPr lang="ta-IN" sz="2000" b="1" dirty="0" err="1">
                <a:latin typeface="Times New Roman" panose="02020603050405020304" pitchFamily="18" charset="0"/>
              </a:rPr>
              <a:t>int</a:t>
            </a:r>
            <a:r>
              <a:rPr lang="ta-IN" sz="2000" b="1" dirty="0"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latin typeface="Times New Roman" panose="02020603050405020304" pitchFamily="18" charset="0"/>
              </a:rPr>
              <a:t>score</a:t>
            </a:r>
            <a:r>
              <a:rPr lang="ta-IN" sz="2000" b="1" dirty="0">
                <a:latin typeface="Times New Roman" panose="02020603050405020304" pitchFamily="18" charset="0"/>
              </a:rPr>
              <a:t> = 85;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a-IN" sz="2000" b="1" dirty="0"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latin typeface="Times New Roman" panose="02020603050405020304" pitchFamily="18" charset="0"/>
              </a:rPr>
              <a:t>if</a:t>
            </a:r>
            <a:r>
              <a:rPr lang="ta-IN" sz="2000" b="1" dirty="0">
                <a:latin typeface="Times New Roman" panose="02020603050405020304" pitchFamily="18" charset="0"/>
              </a:rPr>
              <a:t> (</a:t>
            </a:r>
            <a:r>
              <a:rPr lang="ta-IN" sz="2000" b="1" dirty="0" err="1">
                <a:latin typeface="Times New Roman" panose="02020603050405020304" pitchFamily="18" charset="0"/>
              </a:rPr>
              <a:t>score</a:t>
            </a:r>
            <a:r>
              <a:rPr lang="ta-IN" sz="2000" b="1" dirty="0">
                <a:latin typeface="Times New Roman" panose="02020603050405020304" pitchFamily="18" charset="0"/>
              </a:rPr>
              <a:t> &gt;= 50)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ta-IN" sz="2000" b="1" dirty="0">
                <a:latin typeface="Times New Roman" panose="02020603050405020304" pitchFamily="18" charset="0"/>
              </a:rPr>
              <a:t>{ </a:t>
            </a:r>
            <a:r>
              <a:rPr lang="ta-IN" sz="2000" b="1" dirty="0" err="1">
                <a:latin typeface="Times New Roman" panose="02020603050405020304" pitchFamily="18" charset="0"/>
              </a:rPr>
              <a:t>printf</a:t>
            </a:r>
            <a:r>
              <a:rPr lang="ta-IN" sz="2000" b="1" dirty="0">
                <a:latin typeface="Times New Roman" panose="02020603050405020304" pitchFamily="18" charset="0"/>
              </a:rPr>
              <a:t>("</a:t>
            </a:r>
            <a:r>
              <a:rPr lang="ta-IN" sz="2000" b="1" dirty="0" err="1">
                <a:latin typeface="Times New Roman" panose="02020603050405020304" pitchFamily="18" charset="0"/>
              </a:rPr>
              <a:t>You</a:t>
            </a:r>
            <a:r>
              <a:rPr lang="ta-IN" sz="2000" b="1" dirty="0"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latin typeface="Times New Roman" panose="02020603050405020304" pitchFamily="18" charset="0"/>
              </a:rPr>
              <a:t>passed</a:t>
            </a:r>
            <a:r>
              <a:rPr lang="ta-IN" sz="2000" b="1" dirty="0">
                <a:latin typeface="Times New Roman" panose="02020603050405020304" pitchFamily="18" charset="0"/>
              </a:rPr>
              <a:t>!\n"); }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a-IN" sz="2000" b="1" dirty="0"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latin typeface="Times New Roman" panose="02020603050405020304" pitchFamily="18" charset="0"/>
              </a:rPr>
              <a:t>return</a:t>
            </a:r>
            <a:r>
              <a:rPr lang="ta-IN" sz="2000" b="1" dirty="0">
                <a:latin typeface="Times New Roman" panose="02020603050405020304" pitchFamily="18" charset="0"/>
              </a:rPr>
              <a:t> 0;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a-IN" sz="2000" b="1" dirty="0">
                <a:latin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721257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5FE43-500F-1655-AEBB-4348F3792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</a:t>
            </a:r>
            <a:r>
              <a:rPr lang="ta-IN" dirty="0" err="1"/>
              <a:t>The</a:t>
            </a:r>
            <a:r>
              <a:rPr lang="ta-IN" dirty="0"/>
              <a:t> </a:t>
            </a:r>
            <a:r>
              <a:rPr lang="ta-IN" dirty="0" err="1"/>
              <a:t>if-else</a:t>
            </a:r>
            <a:r>
              <a:rPr lang="ta-IN" dirty="0"/>
              <a:t> </a:t>
            </a:r>
            <a:r>
              <a:rPr lang="ta-IN" dirty="0" err="1"/>
              <a:t>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CFDE-C167-C64E-17B2-0E6EA4F47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981197"/>
            <a:ext cx="10287000" cy="3890965"/>
          </a:xfrm>
        </p:spPr>
        <p:txBody>
          <a:bodyPr/>
          <a:lstStyle/>
          <a:p>
            <a:r>
              <a:rPr lang="ta-IN" sz="2000" dirty="0" err="1">
                <a:latin typeface="Times New Roman" panose="02020603050405020304" pitchFamily="18" charset="0"/>
              </a:rPr>
              <a:t>The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if-else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statement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evaluates</a:t>
            </a:r>
            <a:r>
              <a:rPr lang="ta-IN" sz="2000" dirty="0">
                <a:latin typeface="Times New Roman" panose="02020603050405020304" pitchFamily="18" charset="0"/>
              </a:rPr>
              <a:t> a </a:t>
            </a:r>
            <a:r>
              <a:rPr lang="ta-IN" sz="2000" dirty="0" err="1">
                <a:latin typeface="Times New Roman" panose="02020603050405020304" pitchFamily="18" charset="0"/>
              </a:rPr>
              <a:t>condition</a:t>
            </a:r>
            <a:r>
              <a:rPr lang="ta-IN" sz="2000" dirty="0">
                <a:latin typeface="Times New Roman" panose="02020603050405020304" pitchFamily="18" charset="0"/>
              </a:rPr>
              <a:t>, </a:t>
            </a:r>
            <a:r>
              <a:rPr lang="ta-IN" sz="2000" dirty="0" err="1">
                <a:latin typeface="Times New Roman" panose="02020603050405020304" pitchFamily="18" charset="0"/>
              </a:rPr>
              <a:t>executing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the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if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block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if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the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condition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true</a:t>
            </a:r>
            <a:r>
              <a:rPr lang="ta-IN" sz="2000" dirty="0">
                <a:latin typeface="Times New Roman" panose="02020603050405020304" pitchFamily="18" charset="0"/>
              </a:rPr>
              <a:t>, </a:t>
            </a:r>
            <a:r>
              <a:rPr lang="ta-IN" sz="2000" dirty="0" err="1">
                <a:latin typeface="Times New Roman" panose="02020603050405020304" pitchFamily="18" charset="0"/>
              </a:rPr>
              <a:t>and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the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else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block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if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the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condition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false</a:t>
            </a:r>
            <a:r>
              <a:rPr lang="ta-IN" sz="2000" dirty="0">
                <a:latin typeface="Times New Roman" panose="02020603050405020304" pitchFamily="18" charset="0"/>
              </a:rPr>
              <a:t>. </a:t>
            </a:r>
            <a:endParaRPr lang="en-IN" sz="2000" dirty="0">
              <a:latin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5A5AEE-F988-7B0F-5D9F-22A96F8EA389}"/>
              </a:ext>
            </a:extLst>
          </p:cNvPr>
          <p:cNvSpPr txBox="1"/>
          <p:nvPr/>
        </p:nvSpPr>
        <p:spPr>
          <a:xfrm>
            <a:off x="1125792" y="3338052"/>
            <a:ext cx="4744065" cy="193899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Syntax</a:t>
            </a:r>
          </a:p>
          <a:p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if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(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condition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) 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{ //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Code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if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true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} 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else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{ //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Code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if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false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E4DF1F-073A-515F-EDA9-9B16709183F2}"/>
              </a:ext>
            </a:extLst>
          </p:cNvPr>
          <p:cNvSpPr txBox="1"/>
          <p:nvPr/>
        </p:nvSpPr>
        <p:spPr>
          <a:xfrm>
            <a:off x="6803921" y="3164699"/>
            <a:ext cx="3962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</a:rPr>
              <a:t>Example</a:t>
            </a:r>
          </a:p>
          <a:p>
            <a:r>
              <a:rPr lang="ta-IN" sz="2000" b="1" dirty="0">
                <a:latin typeface="Times New Roman" panose="02020603050405020304" pitchFamily="18" charset="0"/>
              </a:rPr>
              <a:t>#include &lt;</a:t>
            </a:r>
            <a:r>
              <a:rPr lang="ta-IN" sz="2000" b="1" dirty="0" err="1">
                <a:latin typeface="Times New Roman" panose="02020603050405020304" pitchFamily="18" charset="0"/>
              </a:rPr>
              <a:t>stdio.h</a:t>
            </a:r>
            <a:r>
              <a:rPr lang="ta-IN" sz="2000" b="1" dirty="0">
                <a:latin typeface="Times New Roman" panose="02020603050405020304" pitchFamily="18" charset="0"/>
              </a:rPr>
              <a:t>&gt; </a:t>
            </a:r>
            <a:endParaRPr lang="en-IN" sz="2000" b="1" dirty="0">
              <a:latin typeface="Times New Roman" panose="02020603050405020304" pitchFamily="18" charset="0"/>
            </a:endParaRPr>
          </a:p>
          <a:p>
            <a:r>
              <a:rPr lang="ta-IN" sz="2000" b="1" dirty="0" err="1">
                <a:latin typeface="Times New Roman" panose="02020603050405020304" pitchFamily="18" charset="0"/>
              </a:rPr>
              <a:t>int</a:t>
            </a:r>
            <a:r>
              <a:rPr lang="ta-IN" sz="2000" b="1" dirty="0"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latin typeface="Times New Roman" panose="02020603050405020304" pitchFamily="18" charset="0"/>
              </a:rPr>
              <a:t>main</a:t>
            </a:r>
            <a:r>
              <a:rPr lang="ta-IN" sz="2000" b="1" dirty="0">
                <a:latin typeface="Times New Roman" panose="02020603050405020304" pitchFamily="18" charset="0"/>
              </a:rPr>
              <a:t>() </a:t>
            </a:r>
            <a:endParaRPr lang="en-IN" sz="2000" b="1" dirty="0">
              <a:latin typeface="Times New Roman" panose="02020603050405020304" pitchFamily="18" charset="0"/>
            </a:endParaRPr>
          </a:p>
          <a:p>
            <a:r>
              <a:rPr lang="ta-IN" sz="2000" b="1" dirty="0">
                <a:latin typeface="Times New Roman" panose="02020603050405020304" pitchFamily="18" charset="0"/>
              </a:rPr>
              <a:t>{ </a:t>
            </a:r>
            <a:r>
              <a:rPr lang="ta-IN" sz="2000" b="1" dirty="0" err="1">
                <a:latin typeface="Times New Roman" panose="02020603050405020304" pitchFamily="18" charset="0"/>
              </a:rPr>
              <a:t>int</a:t>
            </a:r>
            <a:r>
              <a:rPr lang="ta-IN" sz="2000" b="1" dirty="0"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latin typeface="Times New Roman" panose="02020603050405020304" pitchFamily="18" charset="0"/>
              </a:rPr>
              <a:t>number</a:t>
            </a:r>
            <a:r>
              <a:rPr lang="ta-IN" sz="2000" b="1" dirty="0">
                <a:latin typeface="Times New Roman" panose="02020603050405020304" pitchFamily="18" charset="0"/>
              </a:rPr>
              <a:t> = 13; </a:t>
            </a:r>
            <a:endParaRPr lang="en-IN" sz="2000" b="1" dirty="0">
              <a:latin typeface="Times New Roman" panose="02020603050405020304" pitchFamily="18" charset="0"/>
            </a:endParaRPr>
          </a:p>
          <a:p>
            <a:r>
              <a:rPr lang="ta-IN" sz="2000" b="1" dirty="0" err="1">
                <a:latin typeface="Times New Roman" panose="02020603050405020304" pitchFamily="18" charset="0"/>
              </a:rPr>
              <a:t>if</a:t>
            </a:r>
            <a:r>
              <a:rPr lang="ta-IN" sz="2000" b="1" dirty="0">
                <a:latin typeface="Times New Roman" panose="02020603050405020304" pitchFamily="18" charset="0"/>
              </a:rPr>
              <a:t> (</a:t>
            </a:r>
            <a:r>
              <a:rPr lang="ta-IN" sz="2000" b="1" dirty="0" err="1">
                <a:latin typeface="Times New Roman" panose="02020603050405020304" pitchFamily="18" charset="0"/>
              </a:rPr>
              <a:t>number</a:t>
            </a:r>
            <a:r>
              <a:rPr lang="ta-IN" sz="2000" b="1" dirty="0">
                <a:latin typeface="Times New Roman" panose="02020603050405020304" pitchFamily="18" charset="0"/>
              </a:rPr>
              <a:t> % 2 == 0) { </a:t>
            </a:r>
            <a:r>
              <a:rPr lang="en-IN" sz="2000" b="1" dirty="0">
                <a:latin typeface="Times New Roman" panose="02020603050405020304" pitchFamily="18" charset="0"/>
              </a:rPr>
              <a:t>    	</a:t>
            </a:r>
            <a:r>
              <a:rPr lang="ta-IN" sz="2000" b="1" dirty="0" err="1">
                <a:latin typeface="Times New Roman" panose="02020603050405020304" pitchFamily="18" charset="0"/>
              </a:rPr>
              <a:t>printf</a:t>
            </a:r>
            <a:r>
              <a:rPr lang="ta-IN" sz="2000" b="1" dirty="0">
                <a:latin typeface="Times New Roman" panose="02020603050405020304" pitchFamily="18" charset="0"/>
              </a:rPr>
              <a:t>("</a:t>
            </a:r>
            <a:r>
              <a:rPr lang="ta-IN" sz="2000" b="1" dirty="0" err="1">
                <a:latin typeface="Times New Roman" panose="02020603050405020304" pitchFamily="18" charset="0"/>
              </a:rPr>
              <a:t>Even</a:t>
            </a:r>
            <a:r>
              <a:rPr lang="ta-IN" sz="2000" b="1" dirty="0"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latin typeface="Times New Roman" panose="02020603050405020304" pitchFamily="18" charset="0"/>
              </a:rPr>
              <a:t>number</a:t>
            </a:r>
            <a:r>
              <a:rPr lang="ta-IN" sz="2000" b="1" dirty="0">
                <a:latin typeface="Times New Roman" panose="02020603050405020304" pitchFamily="18" charset="0"/>
              </a:rPr>
              <a:t>\n");} </a:t>
            </a:r>
            <a:endParaRPr lang="en-IN" sz="2000" b="1" dirty="0">
              <a:latin typeface="Times New Roman" panose="02020603050405020304" pitchFamily="18" charset="0"/>
            </a:endParaRPr>
          </a:p>
          <a:p>
            <a:r>
              <a:rPr lang="ta-IN" sz="2000" b="1" dirty="0" err="1">
                <a:latin typeface="Times New Roman" panose="02020603050405020304" pitchFamily="18" charset="0"/>
              </a:rPr>
              <a:t>else</a:t>
            </a:r>
            <a:r>
              <a:rPr lang="ta-IN" sz="2000" b="1" dirty="0">
                <a:latin typeface="Times New Roman" panose="02020603050405020304" pitchFamily="18" charset="0"/>
              </a:rPr>
              <a:t> { </a:t>
            </a:r>
            <a:r>
              <a:rPr lang="ta-IN" sz="2000" b="1" dirty="0" err="1">
                <a:latin typeface="Times New Roman" panose="02020603050405020304" pitchFamily="18" charset="0"/>
              </a:rPr>
              <a:t>printf</a:t>
            </a:r>
            <a:r>
              <a:rPr lang="ta-IN" sz="2000" b="1" dirty="0">
                <a:latin typeface="Times New Roman" panose="02020603050405020304" pitchFamily="18" charset="0"/>
              </a:rPr>
              <a:t>("</a:t>
            </a:r>
            <a:r>
              <a:rPr lang="ta-IN" sz="2000" b="1" dirty="0" err="1">
                <a:latin typeface="Times New Roman" panose="02020603050405020304" pitchFamily="18" charset="0"/>
              </a:rPr>
              <a:t>Odd</a:t>
            </a:r>
            <a:r>
              <a:rPr lang="ta-IN" sz="2000" b="1" dirty="0"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latin typeface="Times New Roman" panose="02020603050405020304" pitchFamily="18" charset="0"/>
              </a:rPr>
              <a:t>number</a:t>
            </a:r>
            <a:r>
              <a:rPr lang="ta-IN" sz="2000" b="1" dirty="0">
                <a:latin typeface="Times New Roman" panose="02020603050405020304" pitchFamily="18" charset="0"/>
              </a:rPr>
              <a:t>\n"); } </a:t>
            </a:r>
            <a:endParaRPr lang="en-IN" sz="2000" b="1" dirty="0">
              <a:latin typeface="Times New Roman" panose="02020603050405020304" pitchFamily="18" charset="0"/>
            </a:endParaRPr>
          </a:p>
          <a:p>
            <a:r>
              <a:rPr lang="ta-IN" sz="2000" b="1" dirty="0" err="1">
                <a:latin typeface="Times New Roman" panose="02020603050405020304" pitchFamily="18" charset="0"/>
              </a:rPr>
              <a:t>return</a:t>
            </a:r>
            <a:r>
              <a:rPr lang="ta-IN" sz="2000" b="1" dirty="0">
                <a:latin typeface="Times New Roman" panose="02020603050405020304" pitchFamily="18" charset="0"/>
              </a:rPr>
              <a:t> 0; </a:t>
            </a:r>
            <a:endParaRPr lang="en-IN" sz="2000" b="1" dirty="0">
              <a:latin typeface="Times New Roman" panose="02020603050405020304" pitchFamily="18" charset="0"/>
            </a:endParaRPr>
          </a:p>
          <a:p>
            <a:r>
              <a:rPr lang="ta-IN" sz="2000" b="1" dirty="0">
                <a:latin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1487553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ACAEA-B921-B267-16AC-31938C5D1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655" y="265625"/>
            <a:ext cx="10287000" cy="1147762"/>
          </a:xfrm>
        </p:spPr>
        <p:txBody>
          <a:bodyPr/>
          <a:lstStyle/>
          <a:p>
            <a:r>
              <a:rPr lang="ta-IN" dirty="0"/>
              <a:t>3. </a:t>
            </a:r>
            <a:r>
              <a:rPr lang="ta-IN" dirty="0" err="1"/>
              <a:t>The</a:t>
            </a:r>
            <a:r>
              <a:rPr lang="ta-IN" dirty="0"/>
              <a:t> </a:t>
            </a:r>
            <a:r>
              <a:rPr lang="ta-IN" dirty="0" err="1"/>
              <a:t>if-else-if</a:t>
            </a:r>
            <a:r>
              <a:rPr lang="ta-IN" dirty="0"/>
              <a:t> </a:t>
            </a:r>
            <a:r>
              <a:rPr lang="ta-IN" dirty="0" err="1"/>
              <a:t>Ladder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A11A7-4649-83EE-2A20-59F368358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587907"/>
            <a:ext cx="10287000" cy="3890965"/>
          </a:xfrm>
        </p:spPr>
        <p:txBody>
          <a:bodyPr/>
          <a:lstStyle/>
          <a:p>
            <a:r>
              <a:rPr lang="ta-IN" sz="2000" dirty="0">
                <a:latin typeface="Times New Roman" panose="02020603050405020304" pitchFamily="18" charset="0"/>
              </a:rPr>
              <a:t>When </a:t>
            </a:r>
            <a:r>
              <a:rPr lang="ta-IN" sz="2000" dirty="0" err="1">
                <a:latin typeface="Times New Roman" panose="02020603050405020304" pitchFamily="18" charset="0"/>
              </a:rPr>
              <a:t>you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need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to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test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multiple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conditions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sequentially</a:t>
            </a:r>
            <a:r>
              <a:rPr lang="ta-IN" sz="2000" dirty="0">
                <a:latin typeface="Times New Roman" panose="02020603050405020304" pitchFamily="18" charset="0"/>
              </a:rPr>
              <a:t>, </a:t>
            </a:r>
            <a:r>
              <a:rPr lang="ta-IN" sz="2000" dirty="0" err="1">
                <a:latin typeface="Times New Roman" panose="02020603050405020304" pitchFamily="18" charset="0"/>
              </a:rPr>
              <a:t>the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if-else-if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ladder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evaluates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conditions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from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top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to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bottom</a:t>
            </a:r>
            <a:r>
              <a:rPr lang="ta-IN" sz="2000" dirty="0">
                <a:latin typeface="Times New Roman" panose="02020603050405020304" pitchFamily="18" charset="0"/>
              </a:rPr>
              <a:t>. </a:t>
            </a:r>
            <a:r>
              <a:rPr lang="ta-IN" sz="2000" dirty="0" err="1">
                <a:latin typeface="Times New Roman" panose="02020603050405020304" pitchFamily="18" charset="0"/>
              </a:rPr>
              <a:t>As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soon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as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one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condition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evaluates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to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true</a:t>
            </a:r>
            <a:r>
              <a:rPr lang="ta-IN" sz="2000" dirty="0">
                <a:latin typeface="Times New Roman" panose="02020603050405020304" pitchFamily="18" charset="0"/>
              </a:rPr>
              <a:t>, </a:t>
            </a:r>
            <a:r>
              <a:rPr lang="ta-IN" sz="2000" dirty="0" err="1">
                <a:latin typeface="Times New Roman" panose="02020603050405020304" pitchFamily="18" charset="0"/>
              </a:rPr>
              <a:t>its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corresponding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block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executes</a:t>
            </a:r>
            <a:r>
              <a:rPr lang="ta-IN" sz="2000" dirty="0">
                <a:latin typeface="Times New Roman" panose="02020603050405020304" pitchFamily="18" charset="0"/>
              </a:rPr>
              <a:t>, </a:t>
            </a:r>
            <a:r>
              <a:rPr lang="ta-IN" sz="2000" dirty="0" err="1">
                <a:latin typeface="Times New Roman" panose="02020603050405020304" pitchFamily="18" charset="0"/>
              </a:rPr>
              <a:t>and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the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rest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of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the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ladder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skipped</a:t>
            </a:r>
            <a:r>
              <a:rPr lang="ta-IN" sz="2000" dirty="0">
                <a:latin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80F0A-8850-8B9E-120A-D1CED60DE260}"/>
              </a:ext>
            </a:extLst>
          </p:cNvPr>
          <p:cNvSpPr txBox="1"/>
          <p:nvPr/>
        </p:nvSpPr>
        <p:spPr>
          <a:xfrm>
            <a:off x="952500" y="3102077"/>
            <a:ext cx="5438469" cy="267765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Syntax</a:t>
            </a:r>
          </a:p>
          <a:p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if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(condition1) 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{ //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Code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if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condition1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is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true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} 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else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if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(condition2)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{ //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Code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if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condition2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is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true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} 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else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{ //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Code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if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all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conditions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are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false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ta-I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4B642D-8E3F-9A56-403A-74932D780352}"/>
              </a:ext>
            </a:extLst>
          </p:cNvPr>
          <p:cNvSpPr txBox="1"/>
          <p:nvPr/>
        </p:nvSpPr>
        <p:spPr>
          <a:xfrm>
            <a:off x="6931742" y="2969342"/>
            <a:ext cx="463099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a-IN" sz="2000" b="1" dirty="0">
                <a:latin typeface="Times New Roman" panose="02020603050405020304" pitchFamily="18" charset="0"/>
              </a:rPr>
              <a:t>#include &lt;</a:t>
            </a:r>
            <a:r>
              <a:rPr lang="ta-IN" sz="2000" b="1" dirty="0" err="1">
                <a:latin typeface="Times New Roman" panose="02020603050405020304" pitchFamily="18" charset="0"/>
              </a:rPr>
              <a:t>stdio.h</a:t>
            </a:r>
            <a:r>
              <a:rPr lang="ta-IN" sz="2000" b="1" dirty="0">
                <a:latin typeface="Times New Roman" panose="02020603050405020304" pitchFamily="18" charset="0"/>
              </a:rPr>
              <a:t>&gt; </a:t>
            </a:r>
            <a:endParaRPr lang="en-IN" sz="2000" b="1" dirty="0">
              <a:latin typeface="Times New Roman" panose="02020603050405020304" pitchFamily="18" charset="0"/>
            </a:endParaRPr>
          </a:p>
          <a:p>
            <a:r>
              <a:rPr lang="ta-IN" sz="2000" b="1" dirty="0" err="1">
                <a:latin typeface="Times New Roman" panose="02020603050405020304" pitchFamily="18" charset="0"/>
              </a:rPr>
              <a:t>int</a:t>
            </a:r>
            <a:r>
              <a:rPr lang="ta-IN" sz="2000" b="1" dirty="0"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latin typeface="Times New Roman" panose="02020603050405020304" pitchFamily="18" charset="0"/>
              </a:rPr>
              <a:t>main</a:t>
            </a:r>
            <a:r>
              <a:rPr lang="ta-IN" sz="2000" b="1" dirty="0">
                <a:latin typeface="Times New Roman" panose="02020603050405020304" pitchFamily="18" charset="0"/>
              </a:rPr>
              <a:t>() { </a:t>
            </a:r>
            <a:endParaRPr lang="en-IN" sz="2000" b="1" dirty="0">
              <a:latin typeface="Times New Roman" panose="02020603050405020304" pitchFamily="18" charset="0"/>
            </a:endParaRPr>
          </a:p>
          <a:p>
            <a:r>
              <a:rPr lang="ta-IN" sz="2000" b="1" dirty="0" err="1">
                <a:latin typeface="Times New Roman" panose="02020603050405020304" pitchFamily="18" charset="0"/>
              </a:rPr>
              <a:t>int</a:t>
            </a:r>
            <a:r>
              <a:rPr lang="ta-IN" sz="2000" b="1" dirty="0"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latin typeface="Times New Roman" panose="02020603050405020304" pitchFamily="18" charset="0"/>
              </a:rPr>
              <a:t>temperature</a:t>
            </a:r>
            <a:r>
              <a:rPr lang="ta-IN" sz="2000" b="1" dirty="0">
                <a:latin typeface="Times New Roman" panose="02020603050405020304" pitchFamily="18" charset="0"/>
              </a:rPr>
              <a:t> = 25; </a:t>
            </a:r>
            <a:endParaRPr lang="en-IN" sz="2000" b="1" dirty="0">
              <a:latin typeface="Times New Roman" panose="02020603050405020304" pitchFamily="18" charset="0"/>
            </a:endParaRPr>
          </a:p>
          <a:p>
            <a:r>
              <a:rPr lang="ta-IN" sz="2000" b="1" dirty="0" err="1">
                <a:latin typeface="Times New Roman" panose="02020603050405020304" pitchFamily="18" charset="0"/>
              </a:rPr>
              <a:t>if</a:t>
            </a:r>
            <a:r>
              <a:rPr lang="ta-IN" sz="2000" b="1" dirty="0">
                <a:latin typeface="Times New Roman" panose="02020603050405020304" pitchFamily="18" charset="0"/>
              </a:rPr>
              <a:t> (</a:t>
            </a:r>
            <a:r>
              <a:rPr lang="ta-IN" sz="2000" b="1" dirty="0" err="1">
                <a:latin typeface="Times New Roman" panose="02020603050405020304" pitchFamily="18" charset="0"/>
              </a:rPr>
              <a:t>temperature</a:t>
            </a:r>
            <a:r>
              <a:rPr lang="ta-IN" sz="2000" b="1" dirty="0">
                <a:latin typeface="Times New Roman" panose="02020603050405020304" pitchFamily="18" charset="0"/>
              </a:rPr>
              <a:t> &gt; 30) </a:t>
            </a:r>
            <a:endParaRPr lang="en-IN" sz="2000" b="1" dirty="0">
              <a:latin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</a:rPr>
              <a:t>	</a:t>
            </a:r>
            <a:r>
              <a:rPr lang="ta-IN" sz="2000" b="1" dirty="0">
                <a:latin typeface="Times New Roman" panose="02020603050405020304" pitchFamily="18" charset="0"/>
              </a:rPr>
              <a:t>{ </a:t>
            </a:r>
            <a:r>
              <a:rPr lang="ta-IN" sz="2000" b="1" dirty="0" err="1">
                <a:latin typeface="Times New Roman" panose="02020603050405020304" pitchFamily="18" charset="0"/>
              </a:rPr>
              <a:t>printf</a:t>
            </a:r>
            <a:r>
              <a:rPr lang="ta-IN" sz="2000" b="1" dirty="0">
                <a:latin typeface="Times New Roman" panose="02020603050405020304" pitchFamily="18" charset="0"/>
              </a:rPr>
              <a:t>("</a:t>
            </a:r>
            <a:r>
              <a:rPr lang="ta-IN" sz="2000" b="1" dirty="0" err="1">
                <a:latin typeface="Times New Roman" panose="02020603050405020304" pitchFamily="18" charset="0"/>
              </a:rPr>
              <a:t>It's</a:t>
            </a:r>
            <a:r>
              <a:rPr lang="ta-IN" sz="2000" b="1" dirty="0"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latin typeface="Times New Roman" panose="02020603050405020304" pitchFamily="18" charset="0"/>
              </a:rPr>
              <a:t>hot</a:t>
            </a:r>
            <a:r>
              <a:rPr lang="ta-IN" sz="2000" b="1" dirty="0">
                <a:latin typeface="Times New Roman" panose="02020603050405020304" pitchFamily="18" charset="0"/>
              </a:rPr>
              <a:t>.\n"); } </a:t>
            </a:r>
            <a:endParaRPr lang="en-IN" sz="2000" b="1" dirty="0">
              <a:latin typeface="Times New Roman" panose="02020603050405020304" pitchFamily="18" charset="0"/>
            </a:endParaRPr>
          </a:p>
          <a:p>
            <a:r>
              <a:rPr lang="ta-IN" sz="2000" b="1" dirty="0" err="1">
                <a:latin typeface="Times New Roman" panose="02020603050405020304" pitchFamily="18" charset="0"/>
              </a:rPr>
              <a:t>else</a:t>
            </a:r>
            <a:r>
              <a:rPr lang="ta-IN" sz="2000" b="1" dirty="0"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latin typeface="Times New Roman" panose="02020603050405020304" pitchFamily="18" charset="0"/>
              </a:rPr>
              <a:t>if</a:t>
            </a:r>
            <a:r>
              <a:rPr lang="ta-IN" sz="2000" b="1" dirty="0">
                <a:latin typeface="Times New Roman" panose="02020603050405020304" pitchFamily="18" charset="0"/>
              </a:rPr>
              <a:t> (</a:t>
            </a:r>
            <a:r>
              <a:rPr lang="ta-IN" sz="2000" b="1" dirty="0" err="1">
                <a:latin typeface="Times New Roman" panose="02020603050405020304" pitchFamily="18" charset="0"/>
              </a:rPr>
              <a:t>temperature</a:t>
            </a:r>
            <a:r>
              <a:rPr lang="ta-IN" sz="2000" b="1" dirty="0">
                <a:latin typeface="Times New Roman" panose="02020603050405020304" pitchFamily="18" charset="0"/>
              </a:rPr>
              <a:t> &gt;= 15) </a:t>
            </a:r>
            <a:endParaRPr lang="en-IN" sz="2000" b="1" dirty="0">
              <a:latin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</a:rPr>
              <a:t>	</a:t>
            </a:r>
            <a:r>
              <a:rPr lang="ta-IN" sz="2000" b="1" dirty="0">
                <a:latin typeface="Times New Roman" panose="02020603050405020304" pitchFamily="18" charset="0"/>
              </a:rPr>
              <a:t>{ </a:t>
            </a:r>
            <a:r>
              <a:rPr lang="ta-IN" sz="2000" b="1" dirty="0" err="1">
                <a:latin typeface="Times New Roman" panose="02020603050405020304" pitchFamily="18" charset="0"/>
              </a:rPr>
              <a:t>printf</a:t>
            </a:r>
            <a:r>
              <a:rPr lang="ta-IN" sz="2000" b="1" dirty="0">
                <a:latin typeface="Times New Roman" panose="02020603050405020304" pitchFamily="18" charset="0"/>
              </a:rPr>
              <a:t>("</a:t>
            </a:r>
            <a:r>
              <a:rPr lang="ta-IN" sz="2000" b="1" dirty="0" err="1">
                <a:latin typeface="Times New Roman" panose="02020603050405020304" pitchFamily="18" charset="0"/>
              </a:rPr>
              <a:t>It's</a:t>
            </a:r>
            <a:r>
              <a:rPr lang="ta-IN" sz="2000" b="1" dirty="0"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latin typeface="Times New Roman" panose="02020603050405020304" pitchFamily="18" charset="0"/>
              </a:rPr>
              <a:t>pleasant</a:t>
            </a:r>
            <a:r>
              <a:rPr lang="ta-IN" sz="2000" b="1" dirty="0">
                <a:latin typeface="Times New Roman" panose="02020603050405020304" pitchFamily="18" charset="0"/>
              </a:rPr>
              <a:t>.\n"); }</a:t>
            </a:r>
            <a:endParaRPr lang="en-IN" sz="2000" b="1" dirty="0">
              <a:latin typeface="Times New Roman" panose="02020603050405020304" pitchFamily="18" charset="0"/>
            </a:endParaRPr>
          </a:p>
          <a:p>
            <a:r>
              <a:rPr lang="ta-IN" sz="2000" b="1" dirty="0"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latin typeface="Times New Roman" panose="02020603050405020304" pitchFamily="18" charset="0"/>
              </a:rPr>
              <a:t>else</a:t>
            </a:r>
            <a:r>
              <a:rPr lang="ta-IN" sz="2000" b="1" dirty="0">
                <a:latin typeface="Times New Roman" panose="02020603050405020304" pitchFamily="18" charset="0"/>
              </a:rPr>
              <a:t> </a:t>
            </a:r>
            <a:endParaRPr lang="en-IN" sz="2000" b="1" dirty="0">
              <a:latin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</a:rPr>
              <a:t>	</a:t>
            </a:r>
            <a:r>
              <a:rPr lang="ta-IN" sz="2000" b="1" dirty="0">
                <a:latin typeface="Times New Roman" panose="02020603050405020304" pitchFamily="18" charset="0"/>
              </a:rPr>
              <a:t>{ </a:t>
            </a:r>
            <a:r>
              <a:rPr lang="ta-IN" sz="2000" b="1" dirty="0" err="1">
                <a:latin typeface="Times New Roman" panose="02020603050405020304" pitchFamily="18" charset="0"/>
              </a:rPr>
              <a:t>printf</a:t>
            </a:r>
            <a:r>
              <a:rPr lang="ta-IN" sz="2000" b="1" dirty="0">
                <a:latin typeface="Times New Roman" panose="02020603050405020304" pitchFamily="18" charset="0"/>
              </a:rPr>
              <a:t>("</a:t>
            </a:r>
            <a:r>
              <a:rPr lang="ta-IN" sz="2000" b="1" dirty="0" err="1">
                <a:latin typeface="Times New Roman" panose="02020603050405020304" pitchFamily="18" charset="0"/>
              </a:rPr>
              <a:t>It's</a:t>
            </a:r>
            <a:r>
              <a:rPr lang="ta-IN" sz="2000" b="1" dirty="0"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latin typeface="Times New Roman" panose="02020603050405020304" pitchFamily="18" charset="0"/>
              </a:rPr>
              <a:t>cold</a:t>
            </a:r>
            <a:r>
              <a:rPr lang="ta-IN" sz="2000" b="1" dirty="0">
                <a:latin typeface="Times New Roman" panose="02020603050405020304" pitchFamily="18" charset="0"/>
              </a:rPr>
              <a:t>.\n"); } </a:t>
            </a:r>
            <a:endParaRPr lang="en-IN" sz="2000" b="1" dirty="0">
              <a:latin typeface="Times New Roman" panose="02020603050405020304" pitchFamily="18" charset="0"/>
            </a:endParaRPr>
          </a:p>
          <a:p>
            <a:r>
              <a:rPr lang="ta-IN" sz="2000" b="1" dirty="0" err="1">
                <a:latin typeface="Times New Roman" panose="02020603050405020304" pitchFamily="18" charset="0"/>
              </a:rPr>
              <a:t>return</a:t>
            </a:r>
            <a:r>
              <a:rPr lang="ta-IN" sz="2000" b="1" dirty="0">
                <a:latin typeface="Times New Roman" panose="02020603050405020304" pitchFamily="18" charset="0"/>
              </a:rPr>
              <a:t> 0;</a:t>
            </a:r>
            <a:endParaRPr lang="en-IN" sz="2000" b="1" dirty="0">
              <a:latin typeface="Times New Roman" panose="02020603050405020304" pitchFamily="18" charset="0"/>
            </a:endParaRPr>
          </a:p>
          <a:p>
            <a:r>
              <a:rPr lang="ta-IN" sz="2000" b="1" dirty="0">
                <a:latin typeface="Times New Roman" panose="02020603050405020304" pitchFamily="18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52779200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FDE08-84F8-EB5B-50DC-2B82E5D4F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4. </a:t>
            </a:r>
            <a:r>
              <a:rPr lang="ta-IN" dirty="0" err="1"/>
              <a:t>Nested</a:t>
            </a:r>
            <a:r>
              <a:rPr lang="ta-IN" dirty="0"/>
              <a:t> </a:t>
            </a:r>
            <a:r>
              <a:rPr lang="ta-IN" dirty="0" err="1"/>
              <a:t>if-else</a:t>
            </a:r>
            <a:r>
              <a:rPr lang="ta-IN" dirty="0"/>
              <a:t> </a:t>
            </a:r>
            <a:r>
              <a:rPr lang="ta-IN" dirty="0" err="1"/>
              <a:t>Statements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E9323-C552-7036-EE8A-42A61EFD1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888768"/>
            <a:ext cx="5802261" cy="3890965"/>
          </a:xfrm>
        </p:spPr>
        <p:txBody>
          <a:bodyPr/>
          <a:lstStyle/>
          <a:p>
            <a:r>
              <a:rPr lang="ta-IN" sz="2000" dirty="0">
                <a:latin typeface="Times New Roman" panose="02020603050405020304" pitchFamily="18" charset="0"/>
              </a:rPr>
              <a:t>A </a:t>
            </a:r>
            <a:r>
              <a:rPr lang="ta-IN" sz="2000" dirty="0" err="1">
                <a:latin typeface="Times New Roman" panose="02020603050405020304" pitchFamily="18" charset="0"/>
              </a:rPr>
              <a:t>nested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if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statement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simply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an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if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statement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placed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inside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another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if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or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else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block</a:t>
            </a:r>
            <a:r>
              <a:rPr lang="ta-IN" sz="2000" dirty="0">
                <a:latin typeface="Times New Roman" panose="02020603050405020304" pitchFamily="18" charset="0"/>
              </a:rPr>
              <a:t>. </a:t>
            </a:r>
            <a:r>
              <a:rPr lang="ta-IN" sz="2000" dirty="0" err="1">
                <a:latin typeface="Times New Roman" panose="02020603050405020304" pitchFamily="18" charset="0"/>
              </a:rPr>
              <a:t>It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used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when</a:t>
            </a:r>
            <a:r>
              <a:rPr lang="ta-IN" sz="2000" dirty="0">
                <a:latin typeface="Times New Roman" panose="02020603050405020304" pitchFamily="18" charset="0"/>
              </a:rPr>
              <a:t> a </a:t>
            </a:r>
            <a:r>
              <a:rPr lang="ta-IN" sz="2000" dirty="0" err="1">
                <a:latin typeface="Times New Roman" panose="02020603050405020304" pitchFamily="18" charset="0"/>
              </a:rPr>
              <a:t>subsequent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decision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depends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entirely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on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the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outcome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of</a:t>
            </a:r>
            <a:r>
              <a:rPr lang="ta-IN" sz="2000" dirty="0">
                <a:latin typeface="Times New Roman" panose="02020603050405020304" pitchFamily="18" charset="0"/>
              </a:rPr>
              <a:t> a </a:t>
            </a:r>
            <a:r>
              <a:rPr lang="ta-IN" sz="2000" dirty="0" err="1">
                <a:latin typeface="Times New Roman" panose="02020603050405020304" pitchFamily="18" charset="0"/>
              </a:rPr>
              <a:t>previous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decision</a:t>
            </a:r>
            <a:r>
              <a:rPr lang="ta-IN" sz="2000" dirty="0">
                <a:latin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ECE129-FC91-331E-238A-4CE3BD3D3CD0}"/>
              </a:ext>
            </a:extLst>
          </p:cNvPr>
          <p:cNvSpPr txBox="1"/>
          <p:nvPr/>
        </p:nvSpPr>
        <p:spPr>
          <a:xfrm>
            <a:off x="952500" y="3772798"/>
            <a:ext cx="5438469" cy="224676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Syntax</a:t>
            </a:r>
          </a:p>
          <a:p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if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(condition1) 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{ //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Code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if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condition1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is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true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} 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else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if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(condition2)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{ //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Code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if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condition2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is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true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} 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else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{ //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Code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if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all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conditions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are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false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71D63A-11A4-8BF6-2387-77FF21EFFFF4}"/>
              </a:ext>
            </a:extLst>
          </p:cNvPr>
          <p:cNvSpPr txBox="1"/>
          <p:nvPr/>
        </p:nvSpPr>
        <p:spPr>
          <a:xfrm>
            <a:off x="6754761" y="2148348"/>
            <a:ext cx="49997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</a:rPr>
              <a:t>#include &lt;</a:t>
            </a:r>
            <a:r>
              <a:rPr lang="en-IN" b="1" dirty="0" err="1">
                <a:latin typeface="Times New Roman" panose="02020603050405020304" pitchFamily="18" charset="0"/>
              </a:rPr>
              <a:t>stdio.h</a:t>
            </a:r>
            <a:r>
              <a:rPr lang="en-IN" b="1" dirty="0">
                <a:latin typeface="Times New Roman" panose="02020603050405020304" pitchFamily="18" charset="0"/>
              </a:rPr>
              <a:t>&gt;</a:t>
            </a:r>
          </a:p>
          <a:p>
            <a:r>
              <a:rPr lang="en-IN" b="1" dirty="0">
                <a:latin typeface="Times New Roman" panose="02020603050405020304" pitchFamily="18" charset="0"/>
              </a:rPr>
              <a:t>int main() {    </a:t>
            </a:r>
          </a:p>
          <a:p>
            <a:r>
              <a:rPr lang="en-IN" b="1" dirty="0">
                <a:latin typeface="Times New Roman" panose="02020603050405020304" pitchFamily="18" charset="0"/>
              </a:rPr>
              <a:t>int marks;    </a:t>
            </a:r>
          </a:p>
          <a:p>
            <a:r>
              <a:rPr lang="en-IN" b="1" dirty="0" err="1">
                <a:latin typeface="Times New Roman" panose="02020603050405020304" pitchFamily="18" charset="0"/>
              </a:rPr>
              <a:t>printf</a:t>
            </a:r>
            <a:r>
              <a:rPr lang="en-IN" b="1" dirty="0">
                <a:latin typeface="Times New Roman" panose="02020603050405020304" pitchFamily="18" charset="0"/>
              </a:rPr>
              <a:t>("Enter your marks: ");    </a:t>
            </a:r>
            <a:r>
              <a:rPr lang="en-IN" b="1" dirty="0" err="1">
                <a:latin typeface="Times New Roman" panose="02020603050405020304" pitchFamily="18" charset="0"/>
              </a:rPr>
              <a:t>scanf</a:t>
            </a:r>
            <a:r>
              <a:rPr lang="en-IN" b="1" dirty="0">
                <a:latin typeface="Times New Roman" panose="02020603050405020304" pitchFamily="18" charset="0"/>
              </a:rPr>
              <a:t>("%d", &amp;marks);   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</a:rPr>
              <a:t> if (marks &gt;= 40) 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</a:rPr>
              <a:t>{        </a:t>
            </a:r>
            <a:r>
              <a:rPr lang="en-IN" b="1" dirty="0" err="1">
                <a:latin typeface="Times New Roman" panose="02020603050405020304" pitchFamily="18" charset="0"/>
              </a:rPr>
              <a:t>printf</a:t>
            </a:r>
            <a:r>
              <a:rPr lang="en-IN" b="1" dirty="0">
                <a:latin typeface="Times New Roman" panose="02020603050405020304" pitchFamily="18" charset="0"/>
              </a:rPr>
              <a:t>("You have passed.\n");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</a:rPr>
              <a:t>       if (marks &gt;= 75) 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</a:rPr>
              <a:t>	{   </a:t>
            </a:r>
            <a:r>
              <a:rPr lang="en-IN" b="1" dirty="0" err="1">
                <a:latin typeface="Times New Roman" panose="02020603050405020304" pitchFamily="18" charset="0"/>
              </a:rPr>
              <a:t>printf</a:t>
            </a:r>
            <a:r>
              <a:rPr lang="en-IN" b="1" dirty="0">
                <a:latin typeface="Times New Roman" panose="02020603050405020304" pitchFamily="18" charset="0"/>
              </a:rPr>
              <a:t>("Grade: A");  } 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</a:rPr>
              <a:t>        else {   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if (marks &gt;= 60) </a:t>
            </a:r>
          </a:p>
          <a:p>
            <a:pPr lvl="1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                        {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printf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("Grade: B");  } </a:t>
            </a:r>
          </a:p>
          <a:p>
            <a:pPr lvl="1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                   else  {  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printf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("Grade: C");    }   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</a:rPr>
              <a:t>                }    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</a:rPr>
              <a:t>} else {        </a:t>
            </a:r>
            <a:r>
              <a:rPr lang="en-IN" b="1" dirty="0" err="1">
                <a:latin typeface="Times New Roman" panose="02020603050405020304" pitchFamily="18" charset="0"/>
              </a:rPr>
              <a:t>printf</a:t>
            </a:r>
            <a:r>
              <a:rPr lang="en-IN" b="1" dirty="0">
                <a:latin typeface="Times New Roman" panose="02020603050405020304" pitchFamily="18" charset="0"/>
              </a:rPr>
              <a:t>("You have failed.");    }    return 0;</a:t>
            </a:r>
          </a:p>
          <a:p>
            <a:r>
              <a:rPr lang="en-IN" b="1" dirty="0">
                <a:latin typeface="Times New Roman" panose="02020603050405020304" pitchFamily="18" charset="0"/>
              </a:rPr>
              <a:t>}</a:t>
            </a:r>
            <a:endParaRPr lang="ta-IN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08033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FE0E4-1006-01B0-405E-267B6B53B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3948"/>
            <a:ext cx="10287000" cy="1147762"/>
          </a:xfrm>
        </p:spPr>
        <p:txBody>
          <a:bodyPr/>
          <a:lstStyle/>
          <a:p>
            <a:r>
              <a:rPr lang="ta-IN" dirty="0"/>
              <a:t>5. </a:t>
            </a:r>
            <a:r>
              <a:rPr lang="ta-IN" dirty="0" err="1"/>
              <a:t>The</a:t>
            </a:r>
            <a:r>
              <a:rPr lang="ta-IN" dirty="0"/>
              <a:t> </a:t>
            </a:r>
            <a:r>
              <a:rPr lang="ta-IN" dirty="0" err="1"/>
              <a:t>switch</a:t>
            </a:r>
            <a:r>
              <a:rPr lang="ta-IN" dirty="0"/>
              <a:t> </a:t>
            </a:r>
            <a:r>
              <a:rPr lang="ta-IN" dirty="0" err="1"/>
              <a:t>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A79FC-B943-7516-E3CA-4C647D51F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803" y="1765224"/>
            <a:ext cx="6706829" cy="4478259"/>
          </a:xfrm>
        </p:spPr>
        <p:txBody>
          <a:bodyPr>
            <a:normAutofit/>
          </a:bodyPr>
          <a:lstStyle/>
          <a:p>
            <a:r>
              <a:rPr lang="ta-IN" sz="2000" dirty="0" err="1">
                <a:latin typeface="Times New Roman" panose="02020603050405020304" pitchFamily="18" charset="0"/>
              </a:rPr>
              <a:t>The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switch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statement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provides</a:t>
            </a:r>
            <a:r>
              <a:rPr lang="ta-IN" sz="2000" dirty="0">
                <a:latin typeface="Times New Roman" panose="02020603050405020304" pitchFamily="18" charset="0"/>
              </a:rPr>
              <a:t> a </a:t>
            </a:r>
            <a:r>
              <a:rPr lang="ta-IN" sz="2000" dirty="0" err="1">
                <a:latin typeface="Times New Roman" panose="02020603050405020304" pitchFamily="18" charset="0"/>
              </a:rPr>
              <a:t>clean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alternative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to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an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if-else-if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ladder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when</a:t>
            </a:r>
            <a:r>
              <a:rPr lang="ta-IN" sz="2000" dirty="0">
                <a:latin typeface="Times New Roman" panose="02020603050405020304" pitchFamily="18" charset="0"/>
              </a:rPr>
              <a:t> a </a:t>
            </a:r>
            <a:r>
              <a:rPr lang="ta-IN" sz="2000" dirty="0" err="1">
                <a:latin typeface="Times New Roman" panose="02020603050405020304" pitchFamily="18" charset="0"/>
              </a:rPr>
              <a:t>single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variable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or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expression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needs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to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be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compared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against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latin typeface="Times New Roman" panose="02020603050405020304" pitchFamily="18" charset="0"/>
              </a:rPr>
              <a:t>multiple</a:t>
            </a:r>
            <a:r>
              <a:rPr lang="ta-IN" sz="2000" b="1" dirty="0"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latin typeface="Times New Roman" panose="02020603050405020304" pitchFamily="18" charset="0"/>
              </a:rPr>
              <a:t>constant</a:t>
            </a:r>
            <a:r>
              <a:rPr lang="ta-IN" sz="2000" b="1" dirty="0"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latin typeface="Times New Roman" panose="02020603050405020304" pitchFamily="18" charset="0"/>
              </a:rPr>
              <a:t>integral</a:t>
            </a:r>
            <a:r>
              <a:rPr lang="ta-IN" sz="2000" b="1" dirty="0"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latin typeface="Times New Roman" panose="02020603050405020304" pitchFamily="18" charset="0"/>
              </a:rPr>
              <a:t>values</a:t>
            </a:r>
            <a:r>
              <a:rPr lang="ta-IN" sz="2000" dirty="0">
                <a:latin typeface="Times New Roman" panose="02020603050405020304" pitchFamily="18" charset="0"/>
              </a:rPr>
              <a:t> (</a:t>
            </a:r>
            <a:r>
              <a:rPr lang="ta-IN" sz="2000" dirty="0" err="1">
                <a:latin typeface="Times New Roman" panose="02020603050405020304" pitchFamily="18" charset="0"/>
              </a:rPr>
              <a:t>like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integers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or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characters</a:t>
            </a:r>
            <a:r>
              <a:rPr lang="ta-IN" sz="2000" dirty="0">
                <a:latin typeface="Times New Roman" panose="02020603050405020304" pitchFamily="18" charset="0"/>
              </a:rPr>
              <a:t>)</a:t>
            </a:r>
            <a:endParaRPr lang="en-IN" sz="2000" dirty="0">
              <a:latin typeface="Times New Roman" panose="02020603050405020304" pitchFamily="18" charset="0"/>
            </a:endParaRPr>
          </a:p>
          <a:p>
            <a:pPr lvl="0"/>
            <a:r>
              <a:rPr lang="ta-IN" b="1" dirty="0" err="1"/>
              <a:t>Key</a:t>
            </a:r>
            <a:r>
              <a:rPr lang="ta-IN" b="1" dirty="0"/>
              <a:t> </a:t>
            </a:r>
            <a:r>
              <a:rPr lang="ta-IN" b="1" dirty="0" err="1"/>
              <a:t>Components</a:t>
            </a:r>
            <a:r>
              <a:rPr lang="ta-IN" b="1" dirty="0"/>
              <a:t>:</a:t>
            </a:r>
            <a:endParaRPr lang="en-IN" b="1" dirty="0"/>
          </a:p>
          <a:p>
            <a:pPr lvl="1"/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case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: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Matches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the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expression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against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a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specific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constant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value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.</a:t>
            </a:r>
          </a:p>
          <a:p>
            <a:pPr lvl="1"/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break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: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Exits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the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switch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block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immediately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If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omitted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,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the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program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execution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"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falls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through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"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into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subsequent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cases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.</a:t>
            </a:r>
          </a:p>
          <a:p>
            <a:pPr lvl="1"/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default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: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Executes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if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none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of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the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explicit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cases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match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the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expression's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8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value</a:t>
            </a:r>
            <a:r>
              <a:rPr lang="ta-IN" sz="1800" dirty="0">
                <a:solidFill>
                  <a:srgbClr val="002060"/>
                </a:solidFill>
                <a:latin typeface="Times New Roman" panose="02020603050405020304" pitchFamily="18" charset="0"/>
              </a:rPr>
              <a:t>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D36650-033F-C500-5D0F-2D323B4D0AAC}"/>
              </a:ext>
            </a:extLst>
          </p:cNvPr>
          <p:cNvSpPr txBox="1"/>
          <p:nvPr/>
        </p:nvSpPr>
        <p:spPr>
          <a:xfrm>
            <a:off x="7172632" y="2567659"/>
            <a:ext cx="4940710" cy="224676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Syntax</a:t>
            </a:r>
          </a:p>
          <a:p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switch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(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expression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) 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{ 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lvl="1"/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case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value1: //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Code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block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break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;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case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value2: //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Code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block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break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;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default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: //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Code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block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if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no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match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8146683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A2DF96-C369-B351-DFCF-4615BCB3D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413109"/>
            <a:ext cx="10287000" cy="1147762"/>
          </a:xfrm>
        </p:spPr>
        <p:txBody>
          <a:bodyPr/>
          <a:lstStyle/>
          <a:p>
            <a:r>
              <a:rPr lang="en-IN" dirty="0"/>
              <a:t>Example</a:t>
            </a:r>
            <a:endParaRPr lang="ta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C9F104-EC9C-BDA8-4E88-1A1B27448C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 ch;  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a character between a and z: ");      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 %c", &amp;ch);    </a:t>
            </a:r>
            <a:endParaRPr lang="ta-IN" sz="2000" dirty="0">
              <a:latin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828545-0A86-CF10-2376-C4F21A36B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477" y="1863214"/>
            <a:ext cx="5067300" cy="43948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(ch) {       </a:t>
            </a:r>
          </a:p>
          <a:p>
            <a:pPr marL="310896"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'a':        </a:t>
            </a:r>
          </a:p>
          <a:p>
            <a:pPr marL="310896"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'e':       </a:t>
            </a:r>
          </a:p>
          <a:p>
            <a:pPr marL="310896"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case 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      </a:t>
            </a:r>
          </a:p>
          <a:p>
            <a:pPr marL="310896"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case 'o':        </a:t>
            </a:r>
          </a:p>
          <a:p>
            <a:pPr marL="310896"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'u': 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("Vowel"); break;        default:     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("Consonant"); 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return 0;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ta-IN" sz="20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40133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0D320-F5D5-165B-D56C-8FDC33F22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6. </a:t>
            </a:r>
            <a:r>
              <a:rPr lang="ta-IN" dirty="0" err="1"/>
              <a:t>The</a:t>
            </a:r>
            <a:r>
              <a:rPr lang="ta-IN" dirty="0"/>
              <a:t> </a:t>
            </a:r>
            <a:r>
              <a:rPr lang="ta-IN" dirty="0" err="1"/>
              <a:t>Conditional</a:t>
            </a:r>
            <a:r>
              <a:rPr lang="ta-IN" dirty="0"/>
              <a:t> (</a:t>
            </a:r>
            <a:r>
              <a:rPr lang="ta-IN" dirty="0" err="1"/>
              <a:t>Ternary</a:t>
            </a:r>
            <a:r>
              <a:rPr lang="ta-IN" dirty="0"/>
              <a:t>) </a:t>
            </a:r>
            <a:r>
              <a:rPr lang="ta-IN" dirty="0" err="1"/>
              <a:t>Operator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6FED9-DE6C-8536-CA5F-BAFC09192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a-IN" dirty="0" err="1"/>
              <a:t>The</a:t>
            </a:r>
            <a:r>
              <a:rPr lang="ta-IN" dirty="0"/>
              <a:t> </a:t>
            </a:r>
            <a:r>
              <a:rPr lang="ta-IN" dirty="0" err="1"/>
              <a:t>ternary</a:t>
            </a:r>
            <a:r>
              <a:rPr lang="ta-IN" dirty="0"/>
              <a:t> </a:t>
            </a:r>
            <a:r>
              <a:rPr lang="ta-IN" dirty="0" err="1"/>
              <a:t>operator</a:t>
            </a:r>
            <a:r>
              <a:rPr lang="ta-IN" dirty="0"/>
              <a:t> (? :) </a:t>
            </a:r>
            <a:r>
              <a:rPr lang="ta-IN" dirty="0" err="1"/>
              <a:t>serves</a:t>
            </a:r>
            <a:r>
              <a:rPr lang="ta-IN" dirty="0"/>
              <a:t> </a:t>
            </a:r>
            <a:r>
              <a:rPr lang="ta-IN" dirty="0" err="1"/>
              <a:t>as</a:t>
            </a:r>
            <a:r>
              <a:rPr lang="ta-IN" dirty="0"/>
              <a:t> a </a:t>
            </a:r>
            <a:r>
              <a:rPr lang="ta-IN" dirty="0" err="1"/>
              <a:t>shorthand</a:t>
            </a:r>
            <a:r>
              <a:rPr lang="ta-IN" dirty="0"/>
              <a:t> </a:t>
            </a:r>
            <a:r>
              <a:rPr lang="ta-IN" dirty="0" err="1"/>
              <a:t>alternative</a:t>
            </a:r>
            <a:r>
              <a:rPr lang="ta-IN" dirty="0"/>
              <a:t> </a:t>
            </a:r>
            <a:r>
              <a:rPr lang="ta-IN" dirty="0" err="1"/>
              <a:t>to</a:t>
            </a:r>
            <a:r>
              <a:rPr lang="ta-IN" dirty="0"/>
              <a:t> a </a:t>
            </a:r>
            <a:r>
              <a:rPr lang="ta-IN" dirty="0" err="1"/>
              <a:t>basic</a:t>
            </a:r>
            <a:r>
              <a:rPr lang="ta-IN" dirty="0"/>
              <a:t> </a:t>
            </a:r>
            <a:r>
              <a:rPr lang="ta-IN" dirty="0" err="1"/>
              <a:t>if-else</a:t>
            </a:r>
            <a:r>
              <a:rPr lang="ta-IN" dirty="0"/>
              <a:t> </a:t>
            </a:r>
            <a:r>
              <a:rPr lang="ta-IN" dirty="0" err="1"/>
              <a:t>statement</a:t>
            </a:r>
            <a:r>
              <a:rPr lang="ta-IN" dirty="0"/>
              <a:t>. </a:t>
            </a:r>
            <a:r>
              <a:rPr lang="ta-IN" dirty="0" err="1"/>
              <a:t>It</a:t>
            </a:r>
            <a:r>
              <a:rPr lang="ta-IN" dirty="0"/>
              <a:t> </a:t>
            </a:r>
            <a:r>
              <a:rPr lang="ta-IN" dirty="0" err="1"/>
              <a:t>evaluates</a:t>
            </a:r>
            <a:r>
              <a:rPr lang="ta-IN" dirty="0"/>
              <a:t> </a:t>
            </a:r>
            <a:r>
              <a:rPr lang="ta-IN" dirty="0" err="1"/>
              <a:t>an</a:t>
            </a:r>
            <a:r>
              <a:rPr lang="ta-IN" dirty="0"/>
              <a:t> </a:t>
            </a:r>
            <a:r>
              <a:rPr lang="ta-IN" dirty="0" err="1"/>
              <a:t>inline</a:t>
            </a:r>
            <a:r>
              <a:rPr lang="ta-IN" dirty="0"/>
              <a:t> </a:t>
            </a:r>
            <a:r>
              <a:rPr lang="ta-IN" dirty="0" err="1"/>
              <a:t>condition</a:t>
            </a:r>
            <a:r>
              <a:rPr lang="ta-IN" dirty="0"/>
              <a:t> </a:t>
            </a:r>
            <a:r>
              <a:rPr lang="ta-IN" dirty="0" err="1"/>
              <a:t>and</a:t>
            </a:r>
            <a:r>
              <a:rPr lang="ta-IN" dirty="0"/>
              <a:t> </a:t>
            </a:r>
            <a:r>
              <a:rPr lang="ta-IN" dirty="0" err="1"/>
              <a:t>returns</a:t>
            </a:r>
            <a:r>
              <a:rPr lang="ta-IN" dirty="0"/>
              <a:t> </a:t>
            </a:r>
            <a:r>
              <a:rPr lang="ta-IN" dirty="0" err="1"/>
              <a:t>one</a:t>
            </a:r>
            <a:r>
              <a:rPr lang="ta-IN" dirty="0"/>
              <a:t> </a:t>
            </a:r>
            <a:r>
              <a:rPr lang="ta-IN" dirty="0" err="1"/>
              <a:t>of</a:t>
            </a:r>
            <a:r>
              <a:rPr lang="ta-IN" dirty="0"/>
              <a:t> </a:t>
            </a:r>
            <a:r>
              <a:rPr lang="ta-IN" dirty="0" err="1"/>
              <a:t>two</a:t>
            </a:r>
            <a:r>
              <a:rPr lang="ta-IN" dirty="0"/>
              <a:t> </a:t>
            </a:r>
            <a:r>
              <a:rPr lang="ta-IN" dirty="0" err="1"/>
              <a:t>expressions</a:t>
            </a:r>
            <a:r>
              <a:rPr lang="ta-IN" dirty="0"/>
              <a:t>.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762E6C-EEEA-3FE4-6E98-D55C02F3B3F6}"/>
              </a:ext>
            </a:extLst>
          </p:cNvPr>
          <p:cNvSpPr txBox="1"/>
          <p:nvPr/>
        </p:nvSpPr>
        <p:spPr>
          <a:xfrm>
            <a:off x="1364224" y="3429000"/>
            <a:ext cx="8205021" cy="707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syntax</a:t>
            </a:r>
          </a:p>
          <a:p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variable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= (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condition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) ?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expression_if_true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: </a:t>
            </a:r>
            <a:r>
              <a:rPr lang="ta-IN" sz="20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expression_if_false</a:t>
            </a:r>
            <a:r>
              <a:rPr lang="ta-I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1E3E40-CA02-48EE-1346-819B318FD77A}"/>
              </a:ext>
            </a:extLst>
          </p:cNvPr>
          <p:cNvSpPr txBox="1"/>
          <p:nvPr/>
        </p:nvSpPr>
        <p:spPr>
          <a:xfrm>
            <a:off x="1474839" y="4473677"/>
            <a:ext cx="7983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</a:rPr>
              <a:t>Example</a:t>
            </a:r>
          </a:p>
          <a:p>
            <a:r>
              <a:rPr lang="ta-IN" b="1" dirty="0" err="1">
                <a:latin typeface="Times New Roman" panose="02020603050405020304" pitchFamily="18" charset="0"/>
              </a:rPr>
              <a:t>int</a:t>
            </a:r>
            <a:r>
              <a:rPr lang="ta-IN" b="1" dirty="0">
                <a:latin typeface="Times New Roman" panose="02020603050405020304" pitchFamily="18" charset="0"/>
              </a:rPr>
              <a:t> a = 10, b = 20; </a:t>
            </a:r>
            <a:r>
              <a:rPr lang="ta-IN" b="1" dirty="0" err="1">
                <a:latin typeface="Times New Roman" panose="02020603050405020304" pitchFamily="18" charset="0"/>
              </a:rPr>
              <a:t>int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max</a:t>
            </a:r>
            <a:r>
              <a:rPr lang="ta-IN" b="1" dirty="0">
                <a:latin typeface="Times New Roman" panose="02020603050405020304" pitchFamily="18" charset="0"/>
              </a:rPr>
              <a:t> = (a &gt; b) ? a : b; // </a:t>
            </a:r>
            <a:r>
              <a:rPr lang="ta-IN" b="1" dirty="0" err="1">
                <a:latin typeface="Times New Roman" panose="02020603050405020304" pitchFamily="18" charset="0"/>
              </a:rPr>
              <a:t>max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will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be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assigned</a:t>
            </a:r>
            <a:r>
              <a:rPr lang="ta-IN" b="1" dirty="0">
                <a:latin typeface="Times New Roman" panose="02020603050405020304" pitchFamily="18" charset="0"/>
              </a:rPr>
              <a:t> 20</a:t>
            </a:r>
          </a:p>
        </p:txBody>
      </p:sp>
    </p:spTree>
    <p:extLst>
      <p:ext uri="{BB962C8B-B14F-4D97-AF65-F5344CB8AC3E}">
        <p14:creationId xmlns:p14="http://schemas.microsoft.com/office/powerpoint/2010/main" val="35471728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135E8-B1F1-2F68-FF6A-845D0A96F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9388D57-2A59-3D49-86D4-64163445FC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2478306"/>
              </p:ext>
            </p:extLst>
          </p:nvPr>
        </p:nvGraphicFramePr>
        <p:xfrm>
          <a:off x="943897" y="2002508"/>
          <a:ext cx="10374261" cy="4114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07690">
                  <a:extLst>
                    <a:ext uri="{9D8B030D-6E8A-4147-A177-3AD203B41FA5}">
                      <a16:colId xmlns:a16="http://schemas.microsoft.com/office/drawing/2014/main" val="2816268526"/>
                    </a:ext>
                  </a:extLst>
                </a:gridCol>
                <a:gridCol w="3569110">
                  <a:extLst>
                    <a:ext uri="{9D8B030D-6E8A-4147-A177-3AD203B41FA5}">
                      <a16:colId xmlns:a16="http://schemas.microsoft.com/office/drawing/2014/main" val="2435541268"/>
                    </a:ext>
                  </a:extLst>
                </a:gridCol>
                <a:gridCol w="3470787">
                  <a:extLst>
                    <a:ext uri="{9D8B030D-6E8A-4147-A177-3AD203B41FA5}">
                      <a16:colId xmlns:a16="http://schemas.microsoft.com/office/drawing/2014/main" val="234230421"/>
                    </a:ext>
                  </a:extLst>
                </a:gridCol>
                <a:gridCol w="2026674">
                  <a:extLst>
                    <a:ext uri="{9D8B030D-6E8A-4147-A177-3AD203B41FA5}">
                      <a16:colId xmlns:a16="http://schemas.microsoft.com/office/drawing/2014/main" val="30496890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20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Statement</a:t>
                      </a:r>
                      <a:endParaRPr lang="ta-IN" sz="20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20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Best</a:t>
                      </a:r>
                      <a:r>
                        <a:rPr lang="ta-I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ta-IN" sz="20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Used</a:t>
                      </a:r>
                      <a:r>
                        <a:rPr lang="ta-I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ta-IN" sz="20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For</a:t>
                      </a:r>
                      <a:endParaRPr lang="ta-IN" sz="20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20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Condition</a:t>
                      </a:r>
                      <a:r>
                        <a:rPr lang="ta-I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ta-IN" sz="20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Type</a:t>
                      </a:r>
                      <a:r>
                        <a:rPr lang="ta-I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ta-IN" sz="20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Allowed</a:t>
                      </a:r>
                      <a:endParaRPr lang="ta-IN" sz="20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20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Efficiency</a:t>
                      </a:r>
                      <a:endParaRPr lang="ta-IN" sz="20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280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if</a:t>
                      </a:r>
                      <a:endParaRPr lang="ta-IN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Evaluating</a:t>
                      </a:r>
                      <a:r>
                        <a:rPr lang="ta-I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a </a:t>
                      </a: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single</a:t>
                      </a:r>
                      <a:r>
                        <a:rPr lang="ta-I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Boolean</a:t>
                      </a:r>
                      <a:r>
                        <a:rPr lang="ta-I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condition</a:t>
                      </a:r>
                      <a:endParaRPr lang="ta-IN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Logical expressions (x &gt; 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High for simple conditions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9101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if-else</a:t>
                      </a:r>
                      <a:endParaRPr lang="ta-IN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Handling</a:t>
                      </a:r>
                      <a:r>
                        <a:rPr lang="ta-I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binary</a:t>
                      </a:r>
                      <a:r>
                        <a:rPr lang="ta-I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/ </a:t>
                      </a: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true</a:t>
                      </a:r>
                      <a:r>
                        <a:rPr lang="ta-I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–</a:t>
                      </a: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false</a:t>
                      </a:r>
                      <a:r>
                        <a:rPr lang="ta-I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choices</a:t>
                      </a:r>
                      <a:endParaRPr lang="ta-IN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Logical</a:t>
                      </a:r>
                      <a:r>
                        <a:rPr lang="ta-I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expressions</a:t>
                      </a:r>
                      <a:endParaRPr lang="ta-IN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2323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if-else if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Evaluating ranges or multiple complex conditions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Logical</a:t>
                      </a:r>
                      <a:r>
                        <a:rPr lang="ta-I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expressions</a:t>
                      </a:r>
                      <a:endParaRPr lang="ta-IN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Evaluates</a:t>
                      </a:r>
                      <a:r>
                        <a:rPr lang="ta-I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conditions</a:t>
                      </a:r>
                      <a:r>
                        <a:rPr lang="ta-I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sequentially</a:t>
                      </a:r>
                      <a:endParaRPr lang="ta-IN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1263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switch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Testing a single variable against a specific set of constant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Integral types such as integers and characters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Efficient</a:t>
                      </a:r>
                      <a:r>
                        <a:rPr lang="ta-I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for</a:t>
                      </a:r>
                      <a:r>
                        <a:rPr lang="ta-I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multiple</a:t>
                      </a:r>
                      <a:r>
                        <a:rPr lang="ta-I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fixed</a:t>
                      </a:r>
                      <a:r>
                        <a:rPr lang="ta-I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choices</a:t>
                      </a:r>
                      <a:r>
                        <a:rPr lang="ta-I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; </a:t>
                      </a: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may</a:t>
                      </a:r>
                      <a:r>
                        <a:rPr lang="ta-I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use</a:t>
                      </a:r>
                      <a:r>
                        <a:rPr lang="ta-I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jump</a:t>
                      </a:r>
                      <a:r>
                        <a:rPr lang="ta-I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ta-IN" sz="20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tables</a:t>
                      </a:r>
                      <a:endParaRPr lang="ta-IN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235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455887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60429-381B-97EC-9F21-CE590AF9B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475884"/>
            <a:ext cx="10287000" cy="1147762"/>
          </a:xfrm>
        </p:spPr>
        <p:txBody>
          <a:bodyPr/>
          <a:lstStyle/>
          <a:p>
            <a:r>
              <a:rPr lang="en-IN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74665-C052-7EB5-732D-B354F22CE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873042"/>
            <a:ext cx="10287000" cy="389096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</a:rPr>
              <a:t>1. </a:t>
            </a:r>
            <a:r>
              <a:rPr lang="ta-IN" sz="2000" dirty="0">
                <a:latin typeface="Times New Roman" panose="02020603050405020304" pitchFamily="18" charset="0"/>
              </a:rPr>
              <a:t>A </a:t>
            </a:r>
            <a:r>
              <a:rPr lang="ta-IN" sz="2000" dirty="0" err="1">
                <a:latin typeface="Times New Roman" panose="02020603050405020304" pitchFamily="18" charset="0"/>
              </a:rPr>
              <a:t>college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wants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to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develop</a:t>
            </a:r>
            <a:r>
              <a:rPr lang="ta-IN" sz="2000" dirty="0">
                <a:latin typeface="Times New Roman" panose="02020603050405020304" pitchFamily="18" charset="0"/>
              </a:rPr>
              <a:t> a </a:t>
            </a:r>
            <a:r>
              <a:rPr lang="ta-IN" sz="2000" dirty="0" err="1">
                <a:latin typeface="Times New Roman" panose="02020603050405020304" pitchFamily="18" charset="0"/>
              </a:rPr>
              <a:t>program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that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checks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whether</a:t>
            </a:r>
            <a:r>
              <a:rPr lang="ta-IN" sz="2000" dirty="0">
                <a:latin typeface="Times New Roman" panose="02020603050405020304" pitchFamily="18" charset="0"/>
              </a:rPr>
              <a:t> a </a:t>
            </a:r>
            <a:r>
              <a:rPr lang="ta-IN" sz="2000" dirty="0" err="1">
                <a:latin typeface="Times New Roman" panose="02020603050405020304" pitchFamily="18" charset="0"/>
              </a:rPr>
              <a:t>student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has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an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attendance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percentage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of</a:t>
            </a:r>
            <a:r>
              <a:rPr lang="ta-IN" sz="2000" dirty="0">
                <a:latin typeface="Times New Roman" panose="02020603050405020304" pitchFamily="18" charset="0"/>
              </a:rPr>
              <a:t> 75% </a:t>
            </a:r>
            <a:r>
              <a:rPr lang="ta-IN" sz="2000" dirty="0" err="1">
                <a:latin typeface="Times New Roman" panose="02020603050405020304" pitchFamily="18" charset="0"/>
              </a:rPr>
              <a:t>or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above</a:t>
            </a:r>
            <a:r>
              <a:rPr lang="ta-IN" sz="2000" dirty="0">
                <a:latin typeface="Times New Roman" panose="02020603050405020304" pitchFamily="18" charset="0"/>
              </a:rPr>
              <a:t>. </a:t>
            </a:r>
            <a:r>
              <a:rPr lang="ta-IN" sz="2000" dirty="0" err="1">
                <a:latin typeface="Times New Roman" panose="02020603050405020304" pitchFamily="18" charset="0"/>
              </a:rPr>
              <a:t>If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yes</a:t>
            </a:r>
            <a:r>
              <a:rPr lang="ta-IN" sz="2000" dirty="0">
                <a:latin typeface="Times New Roman" panose="02020603050405020304" pitchFamily="18" charset="0"/>
              </a:rPr>
              <a:t>, </a:t>
            </a:r>
            <a:r>
              <a:rPr lang="ta-IN" sz="2000" dirty="0" err="1">
                <a:latin typeface="Times New Roman" panose="02020603050405020304" pitchFamily="18" charset="0"/>
              </a:rPr>
              <a:t>the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student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eligible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to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write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the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examination</a:t>
            </a:r>
            <a:r>
              <a:rPr lang="ta-IN" sz="2000" dirty="0">
                <a:latin typeface="Times New Roman" panose="02020603050405020304" pitchFamily="18" charset="0"/>
              </a:rPr>
              <a:t>. </a:t>
            </a:r>
            <a:r>
              <a:rPr lang="ta-IN" sz="2000" dirty="0" err="1">
                <a:latin typeface="Times New Roman" panose="02020603050405020304" pitchFamily="18" charset="0"/>
              </a:rPr>
              <a:t>Which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statement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should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be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used</a:t>
            </a:r>
            <a:r>
              <a:rPr lang="ta-IN" sz="2000" dirty="0">
                <a:latin typeface="Times New Roman" panose="02020603050405020304" pitchFamily="18" charset="0"/>
              </a:rPr>
              <a:t>?</a:t>
            </a:r>
          </a:p>
          <a:p>
            <a:r>
              <a:rPr lang="ta-IN" sz="2000" dirty="0" err="1">
                <a:latin typeface="Times New Roman" panose="02020603050405020304" pitchFamily="18" charset="0"/>
              </a:rPr>
              <a:t>Answer</a:t>
            </a:r>
            <a:r>
              <a:rPr lang="ta-IN" sz="2000" dirty="0">
                <a:latin typeface="Times New Roman" panose="02020603050405020304" pitchFamily="18" charset="0"/>
              </a:rPr>
              <a:t>: </a:t>
            </a:r>
            <a:r>
              <a:rPr lang="ta-IN" sz="2000" dirty="0" err="1">
                <a:latin typeface="Times New Roman" panose="02020603050405020304" pitchFamily="18" charset="0"/>
              </a:rPr>
              <a:t>if</a:t>
            </a:r>
            <a:br>
              <a:rPr lang="ta-IN" sz="2000" dirty="0">
                <a:latin typeface="Times New Roman" panose="02020603050405020304" pitchFamily="18" charset="0"/>
              </a:rPr>
            </a:br>
            <a:r>
              <a:rPr lang="ta-IN" sz="2000" dirty="0" err="1">
                <a:latin typeface="Times New Roman" panose="02020603050405020304" pitchFamily="18" charset="0"/>
              </a:rPr>
              <a:t>Reason</a:t>
            </a:r>
            <a:r>
              <a:rPr lang="ta-IN" sz="2000" dirty="0">
                <a:latin typeface="Times New Roman" panose="02020603050405020304" pitchFamily="18" charset="0"/>
              </a:rPr>
              <a:t>: </a:t>
            </a:r>
            <a:r>
              <a:rPr lang="ta-IN" sz="2000" dirty="0" err="1">
                <a:latin typeface="Times New Roman" panose="02020603050405020304" pitchFamily="18" charset="0"/>
              </a:rPr>
              <a:t>There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only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one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condition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to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evaluate</a:t>
            </a:r>
            <a:r>
              <a:rPr lang="ta-IN" sz="2000" dirty="0">
                <a:latin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</a:rPr>
              <a:t>2. </a:t>
            </a:r>
            <a:r>
              <a:rPr lang="ta-IN" sz="2000" dirty="0" err="1">
                <a:latin typeface="Times New Roman" panose="02020603050405020304" pitchFamily="18" charset="0"/>
              </a:rPr>
              <a:t>An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online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shopping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application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checks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whether</a:t>
            </a:r>
            <a:r>
              <a:rPr lang="ta-IN" sz="2000" dirty="0">
                <a:latin typeface="Times New Roman" panose="02020603050405020304" pitchFamily="18" charset="0"/>
              </a:rPr>
              <a:t> a </a:t>
            </a:r>
            <a:r>
              <a:rPr lang="ta-IN" sz="2000" dirty="0" err="1">
                <a:latin typeface="Times New Roman" panose="02020603050405020304" pitchFamily="18" charset="0"/>
              </a:rPr>
              <a:t>customer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eligible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for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free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shipping</a:t>
            </a:r>
            <a:r>
              <a:rPr lang="ta-IN" sz="2000" dirty="0">
                <a:latin typeface="Times New Roman" panose="02020603050405020304" pitchFamily="18" charset="0"/>
              </a:rPr>
              <a:t>. </a:t>
            </a:r>
            <a:r>
              <a:rPr lang="ta-IN" sz="2000" dirty="0" err="1">
                <a:latin typeface="Times New Roman" panose="02020603050405020304" pitchFamily="18" charset="0"/>
              </a:rPr>
              <a:t>If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the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order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amount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is</a:t>
            </a:r>
            <a:r>
              <a:rPr lang="ta-IN" sz="2000" dirty="0">
                <a:latin typeface="Times New Roman" panose="02020603050405020304" pitchFamily="18" charset="0"/>
              </a:rPr>
              <a:t> ₹1,000 </a:t>
            </a:r>
            <a:r>
              <a:rPr lang="ta-IN" sz="2000" dirty="0" err="1">
                <a:latin typeface="Times New Roman" panose="02020603050405020304" pitchFamily="18" charset="0"/>
              </a:rPr>
              <a:t>or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more</a:t>
            </a:r>
            <a:r>
              <a:rPr lang="ta-IN" sz="2000" dirty="0">
                <a:latin typeface="Times New Roman" panose="02020603050405020304" pitchFamily="18" charset="0"/>
              </a:rPr>
              <a:t>, </a:t>
            </a:r>
            <a:r>
              <a:rPr lang="ta-IN" sz="2000" dirty="0" err="1">
                <a:latin typeface="Times New Roman" panose="02020603050405020304" pitchFamily="18" charset="0"/>
              </a:rPr>
              <a:t>shipping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free</a:t>
            </a:r>
            <a:r>
              <a:rPr lang="ta-IN" sz="2000" dirty="0">
                <a:latin typeface="Times New Roman" panose="02020603050405020304" pitchFamily="18" charset="0"/>
              </a:rPr>
              <a:t>; </a:t>
            </a:r>
            <a:r>
              <a:rPr lang="ta-IN" sz="2000" dirty="0" err="1">
                <a:latin typeface="Times New Roman" panose="02020603050405020304" pitchFamily="18" charset="0"/>
              </a:rPr>
              <a:t>otherwise</a:t>
            </a:r>
            <a:r>
              <a:rPr lang="ta-IN" sz="2000" dirty="0">
                <a:latin typeface="Times New Roman" panose="02020603050405020304" pitchFamily="18" charset="0"/>
              </a:rPr>
              <a:t>, ₹100 </a:t>
            </a:r>
            <a:r>
              <a:rPr lang="ta-IN" sz="2000" dirty="0" err="1">
                <a:latin typeface="Times New Roman" panose="02020603050405020304" pitchFamily="18" charset="0"/>
              </a:rPr>
              <a:t>shipping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charged</a:t>
            </a:r>
            <a:r>
              <a:rPr lang="ta-IN" sz="2000" dirty="0">
                <a:latin typeface="Times New Roman" panose="02020603050405020304" pitchFamily="18" charset="0"/>
              </a:rPr>
              <a:t>. </a:t>
            </a:r>
            <a:r>
              <a:rPr lang="ta-IN" sz="2000" dirty="0" err="1">
                <a:latin typeface="Times New Roman" panose="02020603050405020304" pitchFamily="18" charset="0"/>
              </a:rPr>
              <a:t>Which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statement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is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most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appropriate</a:t>
            </a:r>
            <a:r>
              <a:rPr lang="ta-IN" sz="2000" dirty="0">
                <a:latin typeface="Times New Roman" panose="02020603050405020304" pitchFamily="18" charset="0"/>
              </a:rPr>
              <a:t>?</a:t>
            </a:r>
          </a:p>
          <a:p>
            <a:r>
              <a:rPr lang="ta-IN" sz="2000" dirty="0" err="1">
                <a:latin typeface="Times New Roman" panose="02020603050405020304" pitchFamily="18" charset="0"/>
              </a:rPr>
              <a:t>Answer</a:t>
            </a:r>
            <a:r>
              <a:rPr lang="ta-IN" sz="2000" dirty="0">
                <a:latin typeface="Times New Roman" panose="02020603050405020304" pitchFamily="18" charset="0"/>
              </a:rPr>
              <a:t>: </a:t>
            </a:r>
            <a:r>
              <a:rPr lang="ta-IN" sz="2000" dirty="0" err="1">
                <a:latin typeface="Times New Roman" panose="02020603050405020304" pitchFamily="18" charset="0"/>
              </a:rPr>
              <a:t>if-else</a:t>
            </a:r>
            <a:br>
              <a:rPr lang="ta-IN" sz="2000" dirty="0">
                <a:latin typeface="Times New Roman" panose="02020603050405020304" pitchFamily="18" charset="0"/>
              </a:rPr>
            </a:br>
            <a:r>
              <a:rPr lang="ta-IN" sz="2000" dirty="0" err="1">
                <a:latin typeface="Times New Roman" panose="02020603050405020304" pitchFamily="18" charset="0"/>
              </a:rPr>
              <a:t>Reason</a:t>
            </a:r>
            <a:r>
              <a:rPr lang="ta-IN" sz="2000" dirty="0">
                <a:latin typeface="Times New Roman" panose="02020603050405020304" pitchFamily="18" charset="0"/>
              </a:rPr>
              <a:t>: </a:t>
            </a:r>
            <a:r>
              <a:rPr lang="ta-IN" sz="2000" dirty="0" err="1">
                <a:latin typeface="Times New Roman" panose="02020603050405020304" pitchFamily="18" charset="0"/>
              </a:rPr>
              <a:t>There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are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two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possible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outcomes</a:t>
            </a:r>
            <a:r>
              <a:rPr lang="ta-IN" sz="2000" dirty="0">
                <a:latin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</a:endParaRPr>
          </a:p>
          <a:p>
            <a:endParaRPr lang="ta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169818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DC41C-96EE-46A0-FE67-ADA03C038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326" y="275457"/>
            <a:ext cx="10287000" cy="1147762"/>
          </a:xfrm>
        </p:spPr>
        <p:txBody>
          <a:bodyPr/>
          <a:lstStyle/>
          <a:p>
            <a:r>
              <a:rPr lang="en-IN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98C50-91D3-016F-3F27-02CD76AA7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774719"/>
            <a:ext cx="10287000" cy="389096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ta-IN" dirty="0">
                <a:latin typeface="Times New Roman" panose="02020603050405020304" pitchFamily="18" charset="0"/>
              </a:rPr>
              <a:t> A </a:t>
            </a:r>
            <a:r>
              <a:rPr lang="ta-IN" dirty="0" err="1">
                <a:latin typeface="Times New Roman" panose="02020603050405020304" pitchFamily="18" charset="0"/>
              </a:rPr>
              <a:t>university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assigns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grades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follows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lv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90–100 → A </a:t>
            </a:r>
          </a:p>
          <a:p>
            <a:pPr marL="0" lv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80–89 → B </a:t>
            </a:r>
          </a:p>
          <a:p>
            <a:pPr marL="0" lv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70–79 → C </a:t>
            </a:r>
          </a:p>
          <a:p>
            <a:pPr marL="0" lv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60–69 → D </a:t>
            </a:r>
          </a:p>
          <a:p>
            <a:pPr marL="0" lv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Below</a:t>
            </a:r>
            <a:r>
              <a:rPr lang="ta-IN" dirty="0">
                <a:latin typeface="Times New Roman" panose="02020603050405020304" pitchFamily="18" charset="0"/>
              </a:rPr>
              <a:t> 60 → F </a:t>
            </a:r>
          </a:p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Which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decision-making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statement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most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appropriate</a:t>
            </a:r>
            <a:r>
              <a:rPr lang="ta-IN" dirty="0">
                <a:latin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r>
              <a:rPr lang="ta-IN" b="1" dirty="0" err="1">
                <a:latin typeface="Times New Roman" panose="02020603050405020304" pitchFamily="18" charset="0"/>
              </a:rPr>
              <a:t>Answer</a:t>
            </a:r>
            <a:r>
              <a:rPr lang="ta-IN" b="1" dirty="0">
                <a:latin typeface="Times New Roman" panose="02020603050405020304" pitchFamily="18" charset="0"/>
              </a:rPr>
              <a:t>: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else-if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ladder</a:t>
            </a:r>
            <a:br>
              <a:rPr lang="ta-IN" dirty="0">
                <a:latin typeface="Times New Roman" panose="02020603050405020304" pitchFamily="18" charset="0"/>
              </a:rPr>
            </a:br>
            <a:r>
              <a:rPr lang="ta-IN" b="1" dirty="0" err="1">
                <a:latin typeface="Times New Roman" panose="02020603050405020304" pitchFamily="18" charset="0"/>
              </a:rPr>
              <a:t>Reason</a:t>
            </a:r>
            <a:r>
              <a:rPr lang="ta-IN" b="1" dirty="0">
                <a:latin typeface="Times New Roman" panose="02020603050405020304" pitchFamily="18" charset="0"/>
              </a:rPr>
              <a:t>: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Multiple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ranges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have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to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be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evaluated</a:t>
            </a:r>
            <a:r>
              <a:rPr lang="ta-IN" dirty="0">
                <a:latin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983384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F7A7C-D9F8-A875-C1FF-D214F29E1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413109"/>
            <a:ext cx="10287000" cy="1147762"/>
          </a:xfrm>
        </p:spPr>
        <p:txBody>
          <a:bodyPr/>
          <a:lstStyle/>
          <a:p>
            <a:r>
              <a:rPr lang="en-IN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1676B-5A0B-F767-2FB3-7B13345D9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804216"/>
            <a:ext cx="10287000" cy="3890965"/>
          </a:xfrm>
        </p:spPr>
        <p:txBody>
          <a:bodyPr/>
          <a:lstStyle/>
          <a:p>
            <a:pPr mar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A </a:t>
            </a:r>
            <a:r>
              <a:rPr lang="ta-IN" dirty="0" err="1">
                <a:latin typeface="Times New Roman" panose="02020603050405020304" pitchFamily="18" charset="0"/>
              </a:rPr>
              <a:t>food-ordering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application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asks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user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to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enter</a:t>
            </a:r>
            <a:r>
              <a:rPr lang="ta-IN" dirty="0">
                <a:latin typeface="Times New Roman" panose="02020603050405020304" pitchFamily="18" charset="0"/>
              </a:rPr>
              <a:t> a </a:t>
            </a:r>
            <a:r>
              <a:rPr lang="ta-IN" dirty="0" err="1">
                <a:latin typeface="Times New Roman" panose="02020603050405020304" pitchFamily="18" charset="0"/>
              </a:rPr>
              <a:t>choice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1 → </a:t>
            </a:r>
            <a:r>
              <a:rPr lang="ta-IN" dirty="0" err="1">
                <a:latin typeface="Times New Roman" panose="02020603050405020304" pitchFamily="18" charset="0"/>
              </a:rPr>
              <a:t>Pizza</a:t>
            </a:r>
            <a:br>
              <a:rPr lang="ta-IN" dirty="0">
                <a:latin typeface="Times New Roman" panose="02020603050405020304" pitchFamily="18" charset="0"/>
              </a:rPr>
            </a:br>
            <a:r>
              <a:rPr lang="ta-IN" dirty="0">
                <a:latin typeface="Times New Roman" panose="02020603050405020304" pitchFamily="18" charset="0"/>
              </a:rPr>
              <a:t>2 → </a:t>
            </a:r>
            <a:r>
              <a:rPr lang="ta-IN" dirty="0" err="1">
                <a:latin typeface="Times New Roman" panose="02020603050405020304" pitchFamily="18" charset="0"/>
              </a:rPr>
              <a:t>Burger</a:t>
            </a:r>
            <a:br>
              <a:rPr lang="ta-IN" dirty="0">
                <a:latin typeface="Times New Roman" panose="02020603050405020304" pitchFamily="18" charset="0"/>
              </a:rPr>
            </a:br>
            <a:r>
              <a:rPr lang="ta-IN" dirty="0">
                <a:latin typeface="Times New Roman" panose="02020603050405020304" pitchFamily="18" charset="0"/>
              </a:rPr>
              <a:t>3 → </a:t>
            </a:r>
            <a:r>
              <a:rPr lang="ta-IN" dirty="0" err="1">
                <a:latin typeface="Times New Roman" panose="02020603050405020304" pitchFamily="18" charset="0"/>
              </a:rPr>
              <a:t>Pasta</a:t>
            </a:r>
            <a:br>
              <a:rPr lang="ta-IN" dirty="0">
                <a:latin typeface="Times New Roman" panose="02020603050405020304" pitchFamily="18" charset="0"/>
              </a:rPr>
            </a:br>
            <a:r>
              <a:rPr lang="ta-IN" dirty="0">
                <a:latin typeface="Times New Roman" panose="02020603050405020304" pitchFamily="18" charset="0"/>
              </a:rPr>
              <a:t>4 → </a:t>
            </a:r>
            <a:r>
              <a:rPr lang="ta-IN" dirty="0" err="1">
                <a:latin typeface="Times New Roman" panose="02020603050405020304" pitchFamily="18" charset="0"/>
              </a:rPr>
              <a:t>Biryani</a:t>
            </a:r>
            <a:endParaRPr lang="ta-IN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Which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statement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best</a:t>
            </a:r>
            <a:r>
              <a:rPr lang="ta-IN" dirty="0">
                <a:latin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r>
              <a:rPr lang="ta-IN" b="1" dirty="0" err="1">
                <a:latin typeface="Times New Roman" panose="02020603050405020304" pitchFamily="18" charset="0"/>
              </a:rPr>
              <a:t>Answer</a:t>
            </a:r>
            <a:r>
              <a:rPr lang="ta-IN" b="1" dirty="0">
                <a:latin typeface="Times New Roman" panose="02020603050405020304" pitchFamily="18" charset="0"/>
              </a:rPr>
              <a:t>: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switch</a:t>
            </a:r>
            <a:br>
              <a:rPr lang="ta-IN" dirty="0">
                <a:latin typeface="Times New Roman" panose="02020603050405020304" pitchFamily="18" charset="0"/>
              </a:rPr>
            </a:br>
            <a:r>
              <a:rPr lang="ta-IN" b="1" dirty="0" err="1">
                <a:latin typeface="Times New Roman" panose="02020603050405020304" pitchFamily="18" charset="0"/>
              </a:rPr>
              <a:t>Reason</a:t>
            </a:r>
            <a:r>
              <a:rPr lang="ta-IN" b="1" dirty="0">
                <a:latin typeface="Times New Roman" panose="02020603050405020304" pitchFamily="18" charset="0"/>
              </a:rPr>
              <a:t>:</a:t>
            </a:r>
            <a:r>
              <a:rPr lang="ta-IN" dirty="0">
                <a:latin typeface="Times New Roman" panose="02020603050405020304" pitchFamily="18" charset="0"/>
              </a:rPr>
              <a:t> A </a:t>
            </a:r>
            <a:r>
              <a:rPr lang="ta-IN" dirty="0" err="1">
                <a:latin typeface="Times New Roman" panose="02020603050405020304" pitchFamily="18" charset="0"/>
              </a:rPr>
              <a:t>single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variable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being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compared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with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several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fixed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values</a:t>
            </a:r>
            <a:r>
              <a:rPr lang="ta-IN" dirty="0">
                <a:latin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009337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9CFC7-8F94-A586-2D96-ABDC3389E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560D19-0AF5-70E2-066D-A027C4C715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604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F86977-50B8-74D8-5D3C-31F8C9DC3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4445"/>
            <a:ext cx="7355457" cy="1560167"/>
          </a:xfrm>
        </p:spPr>
        <p:txBody>
          <a:bodyPr>
            <a:normAutofit/>
          </a:bodyPr>
          <a:lstStyle/>
          <a:p>
            <a:r>
              <a:rPr lang="en-IN" spc="0" dirty="0"/>
              <a:t>26CSE1002J - Programming for Problem Solving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4961C-C7D7-3A93-8FEB-5CAA813600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0137"/>
            <a:ext cx="9974580" cy="1122363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</a:pPr>
            <a:r>
              <a:rPr lang="en-IN" sz="2800" b="1" cap="all" dirty="0">
                <a:latin typeface="+mj-lt"/>
                <a:ea typeface="+mj-ea"/>
                <a:cs typeface="+mj-cs"/>
              </a:rPr>
              <a:t>Unit 1</a:t>
            </a:r>
          </a:p>
          <a:p>
            <a:pPr>
              <a:lnSpc>
                <a:spcPct val="110000"/>
              </a:lnSpc>
            </a:pPr>
            <a:r>
              <a:rPr lang="en-IN" sz="2800" b="1" cap="all" dirty="0">
                <a:latin typeface="+mj-lt"/>
                <a:ea typeface="+mj-ea"/>
                <a:cs typeface="+mj-cs"/>
              </a:rPr>
              <a:t>Session: 6</a:t>
            </a:r>
          </a:p>
          <a:p>
            <a:r>
              <a:rPr lang="en-IN" sz="2800" b="1" cap="all" dirty="0">
                <a:latin typeface="+mj-lt"/>
                <a:ea typeface="+mj-ea"/>
                <a:cs typeface="+mj-cs"/>
              </a:rPr>
              <a:t>SLO :</a:t>
            </a:r>
            <a:r>
              <a:rPr lang="en-US" sz="2800" b="1" cap="all" dirty="0">
                <a:latin typeface="+mj-lt"/>
                <a:ea typeface="+mj-ea"/>
                <a:cs typeface="+mj-cs"/>
              </a:rPr>
              <a:t>Evaluate and use Boolean expressions for decision-making for problem solving in C</a:t>
            </a:r>
            <a:endParaRPr lang="en-IN" sz="2800" b="1" cap="all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0191567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C8341-9023-6F72-2914-9EAC902E4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 err="1"/>
              <a:t>What</a:t>
            </a:r>
            <a:r>
              <a:rPr lang="ta-IN" dirty="0"/>
              <a:t> </a:t>
            </a:r>
            <a:r>
              <a:rPr lang="ta-IN" dirty="0" err="1"/>
              <a:t>is</a:t>
            </a:r>
            <a:r>
              <a:rPr lang="ta-IN" dirty="0"/>
              <a:t> </a:t>
            </a:r>
            <a:r>
              <a:rPr lang="ta-IN" dirty="0" err="1"/>
              <a:t>an</a:t>
            </a:r>
            <a:r>
              <a:rPr lang="ta-IN" dirty="0"/>
              <a:t> </a:t>
            </a:r>
            <a:r>
              <a:rPr lang="ta-IN" dirty="0" err="1"/>
              <a:t>Expression</a:t>
            </a:r>
            <a:r>
              <a:rPr lang="ta-IN" dirty="0"/>
              <a:t> </a:t>
            </a:r>
            <a:r>
              <a:rPr lang="ta-IN" dirty="0" err="1"/>
              <a:t>in</a:t>
            </a:r>
            <a:r>
              <a:rPr lang="ta-IN" dirty="0"/>
              <a:t> 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F3AC-F967-BCFB-96B0-B165B1F295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ta-IN" dirty="0" err="1">
                <a:latin typeface="Times New Roman" panose="02020603050405020304" pitchFamily="18" charset="0"/>
              </a:rPr>
              <a:t>An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expression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 a </a:t>
            </a:r>
            <a:r>
              <a:rPr lang="ta-IN" dirty="0" err="1">
                <a:latin typeface="Times New Roman" panose="02020603050405020304" pitchFamily="18" charset="0"/>
              </a:rPr>
              <a:t>combination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of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constants</a:t>
            </a:r>
            <a:r>
              <a:rPr lang="ta-IN" dirty="0">
                <a:latin typeface="Times New Roman" panose="02020603050405020304" pitchFamily="18" charset="0"/>
              </a:rPr>
              <a:t>, </a:t>
            </a:r>
            <a:r>
              <a:rPr lang="ta-IN" dirty="0" err="1">
                <a:latin typeface="Times New Roman" panose="02020603050405020304" pitchFamily="18" charset="0"/>
              </a:rPr>
              <a:t>variables</a:t>
            </a:r>
            <a:r>
              <a:rPr lang="ta-IN" dirty="0">
                <a:latin typeface="Times New Roman" panose="02020603050405020304" pitchFamily="18" charset="0"/>
              </a:rPr>
              <a:t>, </a:t>
            </a:r>
            <a:r>
              <a:rPr lang="ta-IN" dirty="0" err="1">
                <a:latin typeface="Times New Roman" panose="02020603050405020304" pitchFamily="18" charset="0"/>
              </a:rPr>
              <a:t>function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results</a:t>
            </a:r>
            <a:r>
              <a:rPr lang="ta-IN" dirty="0">
                <a:latin typeface="Times New Roman" panose="02020603050405020304" pitchFamily="18" charset="0"/>
              </a:rPr>
              <a:t>, </a:t>
            </a:r>
            <a:r>
              <a:rPr lang="ta-IN" dirty="0" err="1">
                <a:latin typeface="Times New Roman" panose="02020603050405020304" pitchFamily="18" charset="0"/>
              </a:rPr>
              <a:t>and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operators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that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evaluated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to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produce</a:t>
            </a:r>
            <a:r>
              <a:rPr lang="ta-IN" dirty="0">
                <a:latin typeface="Times New Roman" panose="02020603050405020304" pitchFamily="18" charset="0"/>
              </a:rPr>
              <a:t> a </a:t>
            </a:r>
            <a:r>
              <a:rPr lang="ta-IN" dirty="0" err="1">
                <a:latin typeface="Times New Roman" panose="02020603050405020304" pitchFamily="18" charset="0"/>
              </a:rPr>
              <a:t>value</a:t>
            </a:r>
            <a:r>
              <a:rPr lang="ta-IN" dirty="0">
                <a:latin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example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0896" lvl="3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+ b</a:t>
            </a:r>
          </a:p>
          <a:p>
            <a:pPr marL="310896" lvl="3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* 5</a:t>
            </a:r>
          </a:p>
          <a:p>
            <a:pPr marL="310896" lvl="3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/ count</a:t>
            </a:r>
          </a:p>
          <a:p>
            <a:pPr marL="310896" lvl="3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radius * radius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21C5A-A1D5-94CF-826D-C47F0EFCE2D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ta-IN" dirty="0" err="1">
                <a:latin typeface="Times New Roman" panose="02020603050405020304" pitchFamily="18" charset="0"/>
              </a:rPr>
              <a:t>Expressions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are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commonly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used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right-hand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side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of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assignment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statement</a:t>
            </a:r>
            <a:r>
              <a:rPr lang="ta-IN" dirty="0">
                <a:latin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  <a:p>
            <a:r>
              <a:rPr lang="ta-IN" dirty="0" err="1">
                <a:latin typeface="Times New Roman" panose="02020603050405020304" pitchFamily="18" charset="0"/>
              </a:rPr>
              <a:t>Example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kms = KMS_PER_MILE * miles;</a:t>
            </a:r>
          </a:p>
          <a:p>
            <a:pPr marL="0" lv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kms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variable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receiving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result</a:t>
            </a:r>
            <a:r>
              <a:rPr lang="ta-IN" dirty="0">
                <a:latin typeface="Times New Roman" panose="02020603050405020304" pitchFamily="18" charset="0"/>
              </a:rPr>
              <a:t>. </a:t>
            </a:r>
          </a:p>
          <a:p>
            <a:pPr marL="0" lv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= </a:t>
            </a: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assignment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operator</a:t>
            </a:r>
            <a:r>
              <a:rPr lang="ta-IN" dirty="0">
                <a:latin typeface="Times New Roman" panose="02020603050405020304" pitchFamily="18" charset="0"/>
              </a:rPr>
              <a:t>. </a:t>
            </a:r>
          </a:p>
          <a:p>
            <a:pPr marL="0" lv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KMS_PER_MILE * </a:t>
            </a:r>
            <a:r>
              <a:rPr lang="ta-IN" dirty="0" err="1">
                <a:latin typeface="Times New Roman" panose="02020603050405020304" pitchFamily="18" charset="0"/>
              </a:rPr>
              <a:t>miles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expression</a:t>
            </a:r>
            <a:r>
              <a:rPr lang="ta-IN" dirty="0">
                <a:latin typeface="Times New Roman" panose="02020603050405020304" pitchFamily="18" charset="0"/>
              </a:rPr>
              <a:t>.</a:t>
            </a:r>
          </a:p>
          <a:p>
            <a:endParaRPr lang="ta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5EC544-F157-6E23-147D-4220CD7CB82B}"/>
              </a:ext>
            </a:extLst>
          </p:cNvPr>
          <p:cNvSpPr txBox="1"/>
          <p:nvPr/>
        </p:nvSpPr>
        <p:spPr>
          <a:xfrm>
            <a:off x="7085985" y="3244334"/>
            <a:ext cx="323973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variable = expression;</a:t>
            </a:r>
            <a:endParaRPr lang="ta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36633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CDE0-1ED7-BD0F-EF60-9BAA9B378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 err="1"/>
              <a:t>Arithmetic</a:t>
            </a:r>
            <a:r>
              <a:rPr lang="ta-IN" dirty="0"/>
              <a:t> </a:t>
            </a:r>
            <a:r>
              <a:rPr lang="ta-IN" dirty="0" err="1"/>
              <a:t>Expressions</a:t>
            </a:r>
            <a:endParaRPr lang="ta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8F2095-9E27-1613-24B7-2C7AF7AEA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a-IN" sz="2000" dirty="0" err="1">
                <a:latin typeface="Times New Roman" panose="02020603050405020304" pitchFamily="18" charset="0"/>
              </a:rPr>
              <a:t>Arithmetic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expressions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are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used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to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perform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mathematical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calculations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on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numeric</a:t>
            </a:r>
            <a:r>
              <a:rPr lang="ta-IN" sz="2000" dirty="0">
                <a:latin typeface="Times New Roman" panose="02020603050405020304" pitchFamily="18" charset="0"/>
              </a:rPr>
              <a:t> </a:t>
            </a:r>
            <a:r>
              <a:rPr lang="ta-IN" sz="2000" dirty="0" err="1">
                <a:latin typeface="Times New Roman" panose="02020603050405020304" pitchFamily="18" charset="0"/>
              </a:rPr>
              <a:t>data</a:t>
            </a:r>
            <a:r>
              <a:rPr lang="ta-IN" sz="2000" dirty="0">
                <a:latin typeface="Times New Roman" panose="02020603050405020304" pitchFamily="18" charset="0"/>
              </a:rPr>
              <a:t>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ta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165913-1C6D-8F6F-EED2-13001C8C8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082619"/>
              </p:ext>
            </p:extLst>
          </p:nvPr>
        </p:nvGraphicFramePr>
        <p:xfrm>
          <a:off x="1907458" y="3297857"/>
          <a:ext cx="7472515" cy="287910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45342">
                  <a:extLst>
                    <a:ext uri="{9D8B030D-6E8A-4147-A177-3AD203B41FA5}">
                      <a16:colId xmlns:a16="http://schemas.microsoft.com/office/drawing/2014/main" val="2255800613"/>
                    </a:ext>
                  </a:extLst>
                </a:gridCol>
                <a:gridCol w="1838633">
                  <a:extLst>
                    <a:ext uri="{9D8B030D-6E8A-4147-A177-3AD203B41FA5}">
                      <a16:colId xmlns:a16="http://schemas.microsoft.com/office/drawing/2014/main" val="222081670"/>
                    </a:ext>
                  </a:extLst>
                </a:gridCol>
                <a:gridCol w="1779638">
                  <a:extLst>
                    <a:ext uri="{9D8B030D-6E8A-4147-A177-3AD203B41FA5}">
                      <a16:colId xmlns:a16="http://schemas.microsoft.com/office/drawing/2014/main" val="3189046917"/>
                    </a:ext>
                  </a:extLst>
                </a:gridCol>
                <a:gridCol w="2408902">
                  <a:extLst>
                    <a:ext uri="{9D8B030D-6E8A-4147-A177-3AD203B41FA5}">
                      <a16:colId xmlns:a16="http://schemas.microsoft.com/office/drawing/2014/main" val="57080544"/>
                    </a:ext>
                  </a:extLst>
                </a:gridCol>
              </a:tblGrid>
              <a:tr h="502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dirty="0" err="1">
                          <a:latin typeface="Times New Roman" panose="02020603050405020304" pitchFamily="18" charset="0"/>
                        </a:rPr>
                        <a:t>Operator</a:t>
                      </a:r>
                      <a:endParaRPr lang="ta-IN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a-IN" dirty="0" err="1">
                          <a:latin typeface="Times New Roman" panose="02020603050405020304" pitchFamily="18" charset="0"/>
                        </a:rPr>
                        <a:t>Result</a:t>
                      </a:r>
                      <a:endParaRPr lang="ta-IN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7011398"/>
                  </a:ext>
                </a:extLst>
              </a:tr>
              <a:tr h="291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dirty="0" err="1">
                          <a:latin typeface="Times New Roman" panose="02020603050405020304" pitchFamily="18" charset="0"/>
                        </a:rPr>
                        <a:t>Addition</a:t>
                      </a:r>
                      <a:endParaRPr lang="ta-IN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5 + 2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a-IN" dirty="0"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346942"/>
                  </a:ext>
                </a:extLst>
              </a:tr>
              <a:tr h="502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Subtraction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5 - 2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0282809"/>
                  </a:ext>
                </a:extLst>
              </a:tr>
              <a:tr h="502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Multiplication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5 *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4489713"/>
                  </a:ext>
                </a:extLst>
              </a:tr>
              <a:tr h="502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Division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5.0 / 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2.5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0092280"/>
                  </a:ext>
                </a:extLst>
              </a:tr>
              <a:tr h="502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Remainder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5 %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ta-IN" dirty="0"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234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75509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ED6C-69E0-EA91-B6BD-795D21ADD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 err="1"/>
              <a:t>Example</a:t>
            </a:r>
            <a:endParaRPr lang="ta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2DABE-270B-5923-30EC-F006E11318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a = 10;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b = 3;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sum = a + b;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difference = a - b;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product = a * b;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quotient = a / b;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remainder = a % b;</a:t>
            </a:r>
            <a:endParaRPr lang="ta-IN" dirty="0">
              <a:latin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80434-282F-DE3D-8C48-943DA88B9F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ta-IN" dirty="0" err="1"/>
              <a:t>Results</a:t>
            </a:r>
            <a:r>
              <a:rPr lang="ta-IN" dirty="0"/>
              <a:t>:</a:t>
            </a:r>
            <a:endParaRPr lang="en-IN" dirty="0"/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      = 13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= 7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   = 30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quotient   = 3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remainder  = 1</a:t>
            </a:r>
            <a:endParaRPr lang="ta-I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01347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5B789-3D47-C605-A17F-9413EC856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964" y="107156"/>
            <a:ext cx="10287000" cy="1147762"/>
          </a:xfrm>
        </p:spPr>
        <p:txBody>
          <a:bodyPr/>
          <a:lstStyle/>
          <a:p>
            <a:r>
              <a:rPr lang="ta-IN" dirty="0" err="1"/>
              <a:t>Integer</a:t>
            </a:r>
            <a:r>
              <a:rPr lang="ta-IN" dirty="0"/>
              <a:t> </a:t>
            </a:r>
            <a:r>
              <a:rPr lang="ta-IN" dirty="0" err="1"/>
              <a:t>Division</a:t>
            </a:r>
            <a:endParaRPr lang="ta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FB996-0BA6-558F-442F-23DC9A0672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5574" y="1696067"/>
            <a:ext cx="5067300" cy="389096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Cosider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statements,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a = 7;int b = 2;double result;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= a / b;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d</a:t>
            </a:r>
            <a:r>
              <a:rPr lang="ta-IN" dirty="0" err="1">
                <a:latin typeface="Times New Roman" panose="02020603050405020304" pitchFamily="18" charset="0"/>
              </a:rPr>
              <a:t>ifference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between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integer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division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and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real-number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division</a:t>
            </a:r>
            <a:r>
              <a:rPr lang="ta-IN" dirty="0">
                <a:latin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7 / 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Both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operands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are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integers</a:t>
            </a:r>
            <a:r>
              <a:rPr lang="ta-IN" dirty="0">
                <a:latin typeface="Times New Roman" panose="02020603050405020304" pitchFamily="18" charset="0"/>
              </a:rPr>
              <a:t>. </a:t>
            </a:r>
            <a:r>
              <a:rPr lang="ta-IN" dirty="0" err="1">
                <a:latin typeface="Times New Roman" panose="02020603050405020304" pitchFamily="18" charset="0"/>
              </a:rPr>
              <a:t>Therefore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result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3</a:t>
            </a:r>
          </a:p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not</a:t>
            </a:r>
            <a:r>
              <a:rPr lang="ta-IN" dirty="0">
                <a:latin typeface="Times New Roman" panose="02020603050405020304" pitchFamily="18" charset="0"/>
              </a:rPr>
              <a:t> 3.5.</a:t>
            </a:r>
          </a:p>
          <a:p>
            <a:endParaRPr lang="ta-IN" dirty="0">
              <a:latin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DBC6C-8C5F-76B5-DB8D-36ADA1972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49464" y="1277194"/>
            <a:ext cx="5549080" cy="40409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real number division</a:t>
            </a:r>
          </a:p>
          <a:p>
            <a:pPr mar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7.0 / 2.0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expression </a:t>
            </a:r>
            <a:r>
              <a:rPr lang="ta-IN" dirty="0" err="1">
                <a:latin typeface="Times New Roman" panose="02020603050405020304" pitchFamily="18" charset="0"/>
              </a:rPr>
              <a:t>produces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3.5</a:t>
            </a:r>
          </a:p>
          <a:p>
            <a:r>
              <a:rPr lang="ta-IN" dirty="0" err="1">
                <a:latin typeface="Times New Roman" panose="02020603050405020304" pitchFamily="18" charset="0"/>
              </a:rPr>
              <a:t>First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ta-IN" dirty="0">
                <a:latin typeface="Times New Roman" panose="02020603050405020304" pitchFamily="18" charset="0"/>
              </a:rPr>
              <a:t>a / 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evaluated</a:t>
            </a:r>
            <a:r>
              <a:rPr lang="ta-IN" dirty="0">
                <a:latin typeface="Times New Roman" panose="02020603050405020304" pitchFamily="18" charset="0"/>
              </a:rPr>
              <a:t>.</a:t>
            </a:r>
          </a:p>
          <a:p>
            <a:r>
              <a:rPr lang="ta-IN" dirty="0" err="1">
                <a:latin typeface="Times New Roman" panose="02020603050405020304" pitchFamily="18" charset="0"/>
              </a:rPr>
              <a:t>Since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both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are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integers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</a:rPr>
              <a:t> </a:t>
            </a:r>
            <a:endParaRPr lang="ta-IN" dirty="0">
              <a:latin typeface="Times New Roman" panose="02020603050405020304" pitchFamily="18" charset="0"/>
            </a:endParaRPr>
          </a:p>
          <a:p>
            <a:pPr marL="27432" lvl="1"/>
            <a:r>
              <a:rPr lang="ta-IN" dirty="0">
                <a:latin typeface="Times New Roman" panose="02020603050405020304" pitchFamily="18" charset="0"/>
              </a:rPr>
              <a:t>7 / 2 = 3</a:t>
            </a:r>
          </a:p>
          <a:p>
            <a:r>
              <a:rPr lang="ta-IN" dirty="0" err="1">
                <a:latin typeface="Times New Roman" panose="02020603050405020304" pitchFamily="18" charset="0"/>
              </a:rPr>
              <a:t>Only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afterward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 3 </a:t>
            </a:r>
            <a:r>
              <a:rPr lang="ta-IN" dirty="0" err="1">
                <a:latin typeface="Times New Roman" panose="02020603050405020304" pitchFamily="18" charset="0"/>
              </a:rPr>
              <a:t>converted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to</a:t>
            </a:r>
            <a:r>
              <a:rPr lang="ta-IN" dirty="0">
                <a:latin typeface="Times New Roman" panose="02020603050405020304" pitchFamily="18" charset="0"/>
              </a:rPr>
              <a:t> 3.0 </a:t>
            </a:r>
            <a:r>
              <a:rPr lang="ta-IN" dirty="0" err="1">
                <a:latin typeface="Times New Roman" panose="02020603050405020304" pitchFamily="18" charset="0"/>
              </a:rPr>
              <a:t>and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stored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result</a:t>
            </a:r>
            <a:r>
              <a:rPr lang="ta-IN" dirty="0">
                <a:latin typeface="Times New Roman" panose="02020603050405020304" pitchFamily="18" charset="0"/>
              </a:rPr>
              <a:t>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type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of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receiving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variable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does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not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change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how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expression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right-hand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side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was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evaluated</a:t>
            </a:r>
            <a:endParaRPr lang="ta-IN" dirty="0">
              <a:latin typeface="Times New Roman" panose="02020603050405020304" pitchFamily="18" charset="0"/>
            </a:endParaRPr>
          </a:p>
          <a:p>
            <a:endParaRPr lang="ta-I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4325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F5D73-CC8D-8F01-0308-B0FA6815F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Operators </a:t>
            </a:r>
            <a:r>
              <a:rPr lang="ta-IN" dirty="0"/>
              <a:t>/ </a:t>
            </a:r>
            <a:r>
              <a:rPr lang="ta-IN" dirty="0" err="1"/>
              <a:t>and</a:t>
            </a:r>
            <a:r>
              <a:rPr lang="ta-IN" dirty="0"/>
              <a:t> % </a:t>
            </a:r>
            <a:r>
              <a:rPr lang="ta-IN" dirty="0" err="1"/>
              <a:t>together</a:t>
            </a:r>
            <a:endParaRPr lang="ta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E7976E-6F14-7A44-0F9A-DA3AF7AB7E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ta-IN" dirty="0" err="1">
                <a:latin typeface="Times New Roman" panose="02020603050405020304" pitchFamily="18" charset="0"/>
              </a:rPr>
              <a:t>to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show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that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integer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division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produces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quotient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while</a:t>
            </a:r>
            <a:r>
              <a:rPr lang="ta-IN" dirty="0">
                <a:latin typeface="Times New Roman" panose="02020603050405020304" pitchFamily="18" charset="0"/>
              </a:rPr>
              <a:t> % </a:t>
            </a:r>
            <a:r>
              <a:rPr lang="ta-IN" dirty="0" err="1">
                <a:latin typeface="Times New Roman" panose="02020603050405020304" pitchFamily="18" charset="0"/>
              </a:rPr>
              <a:t>produces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remainder</a:t>
            </a:r>
            <a:r>
              <a:rPr lang="ta-IN" dirty="0">
                <a:latin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total_paise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375;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total_rupees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remaining_paise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total_rupees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total_paise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100;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remaining_paise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total_paise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 100;</a:t>
            </a:r>
            <a:endParaRPr lang="ta-IN" b="1" dirty="0">
              <a:latin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F5006-8A8E-A5D7-A5C8-D24A2EF6EF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calculation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375 / 100 = 3</a:t>
            </a:r>
          </a:p>
          <a:p>
            <a:pPr mar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375 % 100 = 75</a:t>
            </a:r>
          </a:p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Therefore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Rupees</a:t>
            </a:r>
            <a:r>
              <a:rPr lang="ta-IN" dirty="0">
                <a:latin typeface="Times New Roman" panose="02020603050405020304" pitchFamily="18" charset="0"/>
              </a:rPr>
              <a:t> = ₹3</a:t>
            </a:r>
          </a:p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Paise</a:t>
            </a:r>
            <a:r>
              <a:rPr lang="ta-IN" dirty="0">
                <a:latin typeface="Times New Roman" panose="02020603050405020304" pitchFamily="18" charset="0"/>
              </a:rPr>
              <a:t>  = 75</a:t>
            </a:r>
          </a:p>
          <a:p>
            <a:endParaRPr lang="ta-IN" dirty="0"/>
          </a:p>
        </p:txBody>
      </p:sp>
    </p:spTree>
    <p:extLst>
      <p:ext uri="{BB962C8B-B14F-4D97-AF65-F5344CB8AC3E}">
        <p14:creationId xmlns:p14="http://schemas.microsoft.com/office/powerpoint/2010/main" val="74421822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B34219-B760-B336-6054-6CCE36471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 err="1"/>
              <a:t>Data</a:t>
            </a:r>
            <a:r>
              <a:rPr lang="ta-IN" dirty="0"/>
              <a:t> </a:t>
            </a:r>
            <a:r>
              <a:rPr lang="ta-IN" dirty="0" err="1"/>
              <a:t>Type</a:t>
            </a:r>
            <a:r>
              <a:rPr lang="ta-IN" dirty="0"/>
              <a:t> </a:t>
            </a:r>
            <a:r>
              <a:rPr lang="ta-IN" dirty="0" err="1"/>
              <a:t>of</a:t>
            </a:r>
            <a:r>
              <a:rPr lang="ta-IN" dirty="0"/>
              <a:t> </a:t>
            </a:r>
            <a:r>
              <a:rPr lang="ta-IN" dirty="0" err="1"/>
              <a:t>an</a:t>
            </a:r>
            <a:r>
              <a:rPr lang="ta-IN" dirty="0"/>
              <a:t> </a:t>
            </a:r>
            <a:r>
              <a:rPr lang="ta-IN" dirty="0" err="1"/>
              <a:t>Expression</a:t>
            </a:r>
            <a:endParaRPr lang="ta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93C0DE-0918-3A90-F6F0-628EFA8B0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data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type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of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arithmetic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expression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depends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data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types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of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its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operands</a:t>
            </a:r>
            <a:r>
              <a:rPr lang="ta-IN" dirty="0">
                <a:latin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a-IN" dirty="0" err="1">
                <a:latin typeface="Times New Roman" panose="02020603050405020304" pitchFamily="18" charset="0"/>
              </a:rPr>
              <a:t>An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expression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containing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operands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of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different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numeric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types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called</a:t>
            </a:r>
            <a:r>
              <a:rPr lang="ta-IN" dirty="0">
                <a:latin typeface="Times New Roman" panose="02020603050405020304" pitchFamily="18" charset="0"/>
              </a:rPr>
              <a:t> a </a:t>
            </a:r>
            <a:r>
              <a:rPr lang="ta-IN" b="1" dirty="0" err="1">
                <a:latin typeface="Times New Roman" panose="02020603050405020304" pitchFamily="18" charset="0"/>
              </a:rPr>
              <a:t>mixed-type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expression</a:t>
            </a:r>
            <a:r>
              <a:rPr lang="ta-IN" dirty="0">
                <a:latin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a-IN" dirty="0">
              <a:latin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335813F-8B47-6B39-1D33-6BB7F0BCE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256487"/>
              </p:ext>
            </p:extLst>
          </p:nvPr>
        </p:nvGraphicFramePr>
        <p:xfrm>
          <a:off x="1237635" y="3428999"/>
          <a:ext cx="5871087" cy="1981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869359">
                  <a:extLst>
                    <a:ext uri="{9D8B030D-6E8A-4147-A177-3AD203B41FA5}">
                      <a16:colId xmlns:a16="http://schemas.microsoft.com/office/drawing/2014/main" val="492479532"/>
                    </a:ext>
                  </a:extLst>
                </a:gridCol>
                <a:gridCol w="2074606">
                  <a:extLst>
                    <a:ext uri="{9D8B030D-6E8A-4147-A177-3AD203B41FA5}">
                      <a16:colId xmlns:a16="http://schemas.microsoft.com/office/drawing/2014/main" val="3286045824"/>
                    </a:ext>
                  </a:extLst>
                </a:gridCol>
                <a:gridCol w="1927122">
                  <a:extLst>
                    <a:ext uri="{9D8B030D-6E8A-4147-A177-3AD203B41FA5}">
                      <a16:colId xmlns:a16="http://schemas.microsoft.com/office/drawing/2014/main" val="3364409174"/>
                    </a:ext>
                  </a:extLst>
                </a:gridCol>
              </a:tblGrid>
              <a:tr h="3701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 sz="2000" dirty="0" err="1">
                          <a:latin typeface="Times New Roman" panose="02020603050405020304" pitchFamily="18" charset="0"/>
                        </a:rPr>
                        <a:t>Operand</a:t>
                      </a:r>
                      <a:r>
                        <a:rPr lang="ta-IN" sz="2000" dirty="0">
                          <a:latin typeface="Times New Roman" panose="02020603050405020304" pitchFamily="18" charset="0"/>
                        </a:rPr>
                        <a:t>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 sz="2000">
                          <a:latin typeface="Times New Roman" panose="02020603050405020304" pitchFamily="18" charset="0"/>
                        </a:rPr>
                        <a:t>Operand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 sz="2000">
                          <a:latin typeface="Times New Roman" panose="02020603050405020304" pitchFamily="18" charset="0"/>
                        </a:rPr>
                        <a:t>Result 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710594"/>
                  </a:ext>
                </a:extLst>
              </a:tr>
              <a:tr h="3701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 sz="2000" dirty="0" err="1">
                          <a:latin typeface="Times New Roman" panose="02020603050405020304" pitchFamily="18" charset="0"/>
                        </a:rPr>
                        <a:t>int</a:t>
                      </a:r>
                      <a:endParaRPr lang="ta-IN" sz="200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 sz="2000" dirty="0" err="1">
                          <a:latin typeface="Times New Roman" panose="02020603050405020304" pitchFamily="18" charset="0"/>
                        </a:rPr>
                        <a:t>int</a:t>
                      </a:r>
                      <a:endParaRPr lang="ta-IN" sz="200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 sz="2000">
                          <a:latin typeface="Times New Roman" panose="02020603050405020304" pitchFamily="18" charset="0"/>
                        </a:rPr>
                        <a:t>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078271"/>
                  </a:ext>
                </a:extLst>
              </a:tr>
              <a:tr h="3701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 sz="2000">
                          <a:latin typeface="Times New Roman" panose="02020603050405020304" pitchFamily="18" charset="0"/>
                        </a:rPr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 sz="2000">
                          <a:latin typeface="Times New Roman" panose="02020603050405020304" pitchFamily="18" charset="0"/>
                        </a:rPr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 sz="2000">
                          <a:latin typeface="Times New Roman" panose="02020603050405020304" pitchFamily="18" charset="0"/>
                        </a:rPr>
                        <a:t>double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7959207"/>
                  </a:ext>
                </a:extLst>
              </a:tr>
              <a:tr h="3701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 sz="2000">
                          <a:latin typeface="Times New Roman" panose="02020603050405020304" pitchFamily="18" charset="0"/>
                        </a:rPr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 sz="2000">
                          <a:latin typeface="Times New Roman" panose="02020603050405020304" pitchFamily="18" charset="0"/>
                        </a:rPr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 sz="2000">
                          <a:latin typeface="Times New Roman" panose="02020603050405020304" pitchFamily="18" charset="0"/>
                        </a:rPr>
                        <a:t>double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555389"/>
                  </a:ext>
                </a:extLst>
              </a:tr>
              <a:tr h="3701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 sz="2000">
                          <a:latin typeface="Times New Roman" panose="02020603050405020304" pitchFamily="18" charset="0"/>
                        </a:rPr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 sz="2000">
                          <a:latin typeface="Times New Roman" panose="02020603050405020304" pitchFamily="18" charset="0"/>
                        </a:rPr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 sz="2000" dirty="0" err="1">
                          <a:latin typeface="Times New Roman" panose="02020603050405020304" pitchFamily="18" charset="0"/>
                        </a:rPr>
                        <a:t>double</a:t>
                      </a:r>
                      <a:endParaRPr lang="ta-IN" sz="200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0986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554426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A5FBA-E716-2452-FFBA-C8F64AD6C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 err="1"/>
              <a:t>Mixed-Type</a:t>
            </a:r>
            <a:r>
              <a:rPr lang="ta-IN" dirty="0"/>
              <a:t> </a:t>
            </a:r>
            <a:r>
              <a:rPr lang="ta-IN" dirty="0" err="1"/>
              <a:t>Assignment</a:t>
            </a:r>
            <a:endParaRPr lang="ta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B3A46-FA89-2C79-5C9B-4DE55F3B35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Consider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double</a:t>
            </a:r>
            <a:r>
              <a:rPr lang="ta-IN" dirty="0">
                <a:latin typeface="Times New Roman" panose="02020603050405020304" pitchFamily="18" charset="0"/>
              </a:rPr>
              <a:t> x;</a:t>
            </a:r>
          </a:p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int</a:t>
            </a:r>
            <a:r>
              <a:rPr lang="ta-IN" dirty="0">
                <a:latin typeface="Times New Roman" panose="02020603050405020304" pitchFamily="18" charset="0"/>
              </a:rPr>
              <a:t> n;</a:t>
            </a:r>
          </a:p>
          <a:p>
            <a:pPr marL="0" indent="0">
              <a:buNone/>
            </a:pPr>
            <a:endParaRPr lang="ta-IN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x = 9 * 0.5;</a:t>
            </a:r>
          </a:p>
          <a:p>
            <a:pPr mar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n = 9 * 0.5;</a:t>
            </a:r>
          </a:p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expression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9 * 0.5</a:t>
            </a:r>
          </a:p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evaluates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to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4.5</a:t>
            </a:r>
            <a:endParaRPr lang="ta-IN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ta-IN" dirty="0">
              <a:latin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A1845-2DD1-9092-B1C6-C223A76B24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ta-IN" dirty="0"/>
          </a:p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Therefore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x = 4.5</a:t>
            </a:r>
          </a:p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But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when</a:t>
            </a:r>
            <a:r>
              <a:rPr lang="ta-IN" dirty="0">
                <a:latin typeface="Times New Roman" panose="02020603050405020304" pitchFamily="18" charset="0"/>
              </a:rPr>
              <a:t> 4.5 </a:t>
            </a: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assigned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to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integer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variable</a:t>
            </a:r>
            <a:r>
              <a:rPr lang="ta-IN" dirty="0">
                <a:latin typeface="Times New Roman" panose="02020603050405020304" pitchFamily="18" charset="0"/>
              </a:rPr>
              <a:t> n,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fractional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part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cannot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be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stored</a:t>
            </a:r>
            <a:r>
              <a:rPr lang="ta-IN" dirty="0">
                <a:latin typeface="Times New Roman" panose="02020603050405020304" pitchFamily="18" charset="0"/>
              </a:rPr>
              <a:t>, </a:t>
            </a:r>
            <a:r>
              <a:rPr lang="ta-IN" dirty="0" err="1">
                <a:latin typeface="Times New Roman" panose="02020603050405020304" pitchFamily="18" charset="0"/>
              </a:rPr>
              <a:t>so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n = 4</a:t>
            </a:r>
          </a:p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warns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about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this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loss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of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fractional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portion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when</a:t>
            </a:r>
            <a:r>
              <a:rPr lang="ta-IN" dirty="0">
                <a:latin typeface="Times New Roman" panose="02020603050405020304" pitchFamily="18" charset="0"/>
              </a:rPr>
              <a:t> a </a:t>
            </a:r>
            <a:r>
              <a:rPr lang="ta-IN" dirty="0" err="1">
                <a:latin typeface="Times New Roman" panose="02020603050405020304" pitchFamily="18" charset="0"/>
              </a:rPr>
              <a:t>double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expression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assigned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to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int</a:t>
            </a:r>
            <a:r>
              <a:rPr lang="ta-IN" dirty="0">
                <a:latin typeface="Times New Roman" panose="02020603050405020304" pitchFamily="18" charset="0"/>
              </a:rPr>
              <a:t>.</a:t>
            </a:r>
          </a:p>
          <a:p>
            <a:endParaRPr lang="ta-IN" dirty="0"/>
          </a:p>
        </p:txBody>
      </p:sp>
    </p:spTree>
    <p:extLst>
      <p:ext uri="{BB962C8B-B14F-4D97-AF65-F5344CB8AC3E}">
        <p14:creationId xmlns:p14="http://schemas.microsoft.com/office/powerpoint/2010/main" val="58310919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01771-287F-6F19-B15C-8E1ED8349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432774"/>
            <a:ext cx="10287000" cy="1147762"/>
          </a:xfrm>
        </p:spPr>
        <p:txBody>
          <a:bodyPr/>
          <a:lstStyle/>
          <a:p>
            <a:r>
              <a:rPr lang="ta-IN" dirty="0" err="1"/>
              <a:t>Type</a:t>
            </a:r>
            <a:r>
              <a:rPr lang="ta-IN" dirty="0"/>
              <a:t> </a:t>
            </a:r>
            <a:r>
              <a:rPr lang="ta-IN" dirty="0" err="1"/>
              <a:t>Casting</a:t>
            </a:r>
            <a:endParaRPr lang="ta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D66F3-8DB1-0D01-1CFD-98F59A66B1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2500" y="1922208"/>
            <a:ext cx="5067300" cy="3890961"/>
          </a:xfrm>
        </p:spPr>
        <p:txBody>
          <a:bodyPr/>
          <a:lstStyle/>
          <a:p>
            <a:pPr mar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C </a:t>
            </a:r>
            <a:r>
              <a:rPr lang="ta-IN" dirty="0" err="1">
                <a:latin typeface="Times New Roman" panose="02020603050405020304" pitchFamily="18" charset="0"/>
              </a:rPr>
              <a:t>allows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programmer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to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explicitly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convert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expression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from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one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type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to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another</a:t>
            </a:r>
            <a:r>
              <a:rPr lang="ta-IN" dirty="0">
                <a:latin typeface="Times New Roman" panose="02020603050405020304" pitchFamily="18" charset="0"/>
              </a:rPr>
              <a:t>. </a:t>
            </a:r>
            <a:r>
              <a:rPr lang="ta-IN" dirty="0" err="1">
                <a:latin typeface="Times New Roman" panose="02020603050405020304" pitchFamily="18" charset="0"/>
              </a:rPr>
              <a:t>This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called</a:t>
            </a:r>
            <a:r>
              <a:rPr lang="ta-IN" dirty="0">
                <a:latin typeface="Times New Roman" panose="02020603050405020304" pitchFamily="18" charset="0"/>
              </a:rPr>
              <a:t> a </a:t>
            </a:r>
            <a:r>
              <a:rPr lang="ta-IN" b="1" dirty="0" err="1">
                <a:latin typeface="Times New Roman" panose="02020603050405020304" pitchFamily="18" charset="0"/>
              </a:rPr>
              <a:t>type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cast</a:t>
            </a:r>
            <a:r>
              <a:rPr lang="ta-IN" dirty="0">
                <a:latin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   (type) expression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(int)5.8</a:t>
            </a:r>
          </a:p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converts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value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to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integer</a:t>
            </a:r>
            <a:r>
              <a:rPr lang="ta-IN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77985-D66A-98DD-C184-0DACCCCBE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9349" y="2209800"/>
            <a:ext cx="5067300" cy="3890962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part shows </a:t>
            </a:r>
            <a:r>
              <a:rPr lang="ta-IN" b="1" dirty="0" err="1">
                <a:latin typeface="Times New Roman" panose="02020603050405020304" pitchFamily="18" charset="0"/>
              </a:rPr>
              <a:t>casting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as</a:t>
            </a:r>
            <a:r>
              <a:rPr lang="ta-IN" b="1" dirty="0">
                <a:latin typeface="Times New Roman" panose="02020603050405020304" pitchFamily="18" charset="0"/>
              </a:rPr>
              <a:t> a </a:t>
            </a:r>
            <a:r>
              <a:rPr lang="ta-IN" b="1" dirty="0" err="1">
                <a:latin typeface="Times New Roman" panose="02020603050405020304" pitchFamily="18" charset="0"/>
              </a:rPr>
              <a:t>way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to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avoid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losing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the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fractional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part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when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calculating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averages</a:t>
            </a:r>
            <a:r>
              <a:rPr lang="ta-IN" b="1" dirty="0">
                <a:latin typeface="Times New Roman" panose="02020603050405020304" pitchFamily="18" charset="0"/>
              </a:rPr>
              <a:t>.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total_score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425;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num_students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8;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average;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= (double)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total_score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num_students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Now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one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operand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double</a:t>
            </a:r>
            <a:r>
              <a:rPr lang="ta-IN" dirty="0">
                <a:latin typeface="Times New Roman" panose="02020603050405020304" pitchFamily="18" charset="0"/>
              </a:rPr>
              <a:t>, </a:t>
            </a:r>
            <a:r>
              <a:rPr lang="ta-IN" dirty="0" err="1">
                <a:latin typeface="Times New Roman" panose="02020603050405020304" pitchFamily="18" charset="0"/>
              </a:rPr>
              <a:t>so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division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produces</a:t>
            </a:r>
            <a:r>
              <a:rPr lang="ta-IN" dirty="0">
                <a:latin typeface="Times New Roman" panose="02020603050405020304" pitchFamily="18" charset="0"/>
              </a:rPr>
              <a:t> a </a:t>
            </a:r>
            <a:r>
              <a:rPr lang="ta-IN" dirty="0" err="1">
                <a:latin typeface="Times New Roman" panose="02020603050405020304" pitchFamily="18" charset="0"/>
              </a:rPr>
              <a:t>real-number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result</a:t>
            </a:r>
            <a:r>
              <a:rPr lang="ta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707584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0C2DD-2A43-8215-7E12-FE024D10E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 err="1"/>
              <a:t>Unary</a:t>
            </a:r>
            <a:r>
              <a:rPr lang="ta-IN" dirty="0"/>
              <a:t> </a:t>
            </a:r>
            <a:r>
              <a:rPr lang="ta-IN" dirty="0" err="1"/>
              <a:t>and</a:t>
            </a:r>
            <a:r>
              <a:rPr lang="ta-IN" dirty="0"/>
              <a:t> </a:t>
            </a:r>
            <a:r>
              <a:rPr lang="ta-IN" dirty="0" err="1"/>
              <a:t>Binary</a:t>
            </a:r>
            <a:r>
              <a:rPr lang="ta-IN" dirty="0"/>
              <a:t> </a:t>
            </a:r>
            <a:r>
              <a:rPr lang="ta-IN" dirty="0" err="1"/>
              <a:t>Operators</a:t>
            </a:r>
            <a:endParaRPr lang="ta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ACCC1-9E40-C127-1581-812123BFE0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2500" y="2005782"/>
            <a:ext cx="5067300" cy="4171182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ta-IN" dirty="0" err="1">
                <a:latin typeface="Times New Roman" panose="02020603050405020304" pitchFamily="18" charset="0"/>
              </a:rPr>
              <a:t>An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operator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may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operate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one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or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two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operands</a:t>
            </a:r>
            <a:r>
              <a:rPr lang="ta-IN" dirty="0">
                <a:latin typeface="Times New Roman" panose="02020603050405020304" pitchFamily="18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ta-IN" dirty="0">
                <a:latin typeface="Times New Roman" panose="02020603050405020304" pitchFamily="18" charset="0"/>
              </a:rPr>
              <a:t>A </a:t>
            </a:r>
            <a:r>
              <a:rPr lang="ta-IN" b="1" dirty="0" err="1">
                <a:latin typeface="Times New Roman" panose="02020603050405020304" pitchFamily="18" charset="0"/>
              </a:rPr>
              <a:t>unary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operator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acts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one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operand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ta-IN" dirty="0">
                <a:latin typeface="Times New Roman" panose="02020603050405020304" pitchFamily="18" charset="0"/>
              </a:rPr>
              <a:t>-x</a:t>
            </a:r>
          </a:p>
          <a:p>
            <a:pPr marL="0" indent="0">
              <a:spcBef>
                <a:spcPts val="0"/>
              </a:spcBef>
              <a:buNone/>
            </a:pPr>
            <a:r>
              <a:rPr lang="ta-IN" dirty="0">
                <a:latin typeface="Times New Roman" panose="02020603050405020304" pitchFamily="18" charset="0"/>
              </a:rPr>
              <a:t>+y</a:t>
            </a:r>
          </a:p>
          <a:p>
            <a:pPr marL="0" indent="0">
              <a:spcBef>
                <a:spcPts val="0"/>
              </a:spcBef>
              <a:buNone/>
            </a:pPr>
            <a:r>
              <a:rPr lang="ta-IN" dirty="0" err="1">
                <a:latin typeface="Times New Roman" panose="02020603050405020304" pitchFamily="18" charset="0"/>
              </a:rPr>
              <a:t>For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example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ta-IN" dirty="0">
                <a:latin typeface="Times New Roman" panose="02020603050405020304" pitchFamily="18" charset="0"/>
              </a:rPr>
              <a:t>x = -y;</a:t>
            </a:r>
          </a:p>
          <a:p>
            <a:pPr>
              <a:spcBef>
                <a:spcPts val="0"/>
              </a:spcBef>
            </a:pPr>
            <a:endParaRPr lang="ta-IN" dirty="0">
              <a:latin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AB33D-9D20-BAED-7BB4-70D65D5AD5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ta-IN" dirty="0">
                <a:latin typeface="Times New Roman" panose="02020603050405020304" pitchFamily="18" charset="0"/>
              </a:rPr>
              <a:t>A </a:t>
            </a:r>
            <a:r>
              <a:rPr lang="ta-IN" b="1" dirty="0" err="1">
                <a:latin typeface="Times New Roman" panose="02020603050405020304" pitchFamily="18" charset="0"/>
              </a:rPr>
              <a:t>binary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operator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acts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two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operands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ta-IN" dirty="0">
                <a:latin typeface="Times New Roman" panose="02020603050405020304" pitchFamily="18" charset="0"/>
              </a:rPr>
              <a:t>x + y</a:t>
            </a:r>
          </a:p>
          <a:p>
            <a:pPr marL="0" indent="0">
              <a:spcBef>
                <a:spcPts val="0"/>
              </a:spcBef>
              <a:buNone/>
            </a:pPr>
            <a:r>
              <a:rPr lang="ta-IN" dirty="0">
                <a:latin typeface="Times New Roman" panose="02020603050405020304" pitchFamily="18" charset="0"/>
              </a:rPr>
              <a:t>x - y</a:t>
            </a:r>
          </a:p>
          <a:p>
            <a:pPr marL="0" indent="0">
              <a:spcBef>
                <a:spcPts val="0"/>
              </a:spcBef>
              <a:buNone/>
            </a:pPr>
            <a:r>
              <a:rPr lang="ta-IN" dirty="0">
                <a:latin typeface="Times New Roman" panose="02020603050405020304" pitchFamily="18" charset="0"/>
              </a:rPr>
              <a:t>x * y</a:t>
            </a:r>
          </a:p>
          <a:p>
            <a:pPr marL="0" indent="0">
              <a:spcBef>
                <a:spcPts val="0"/>
              </a:spcBef>
              <a:buNone/>
            </a:pPr>
            <a:r>
              <a:rPr lang="ta-IN" dirty="0">
                <a:latin typeface="Times New Roman" panose="02020603050405020304" pitchFamily="18" charset="0"/>
              </a:rPr>
              <a:t>x / y</a:t>
            </a:r>
          </a:p>
          <a:p>
            <a:pPr marL="0" indent="0">
              <a:spcBef>
                <a:spcPts val="0"/>
              </a:spcBef>
              <a:buNone/>
            </a:pPr>
            <a:r>
              <a:rPr lang="ta-IN" dirty="0" err="1">
                <a:latin typeface="Times New Roman" panose="02020603050405020304" pitchFamily="18" charset="0"/>
              </a:rPr>
              <a:t>For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example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ta-IN" dirty="0">
                <a:latin typeface="Times New Roman" panose="02020603050405020304" pitchFamily="18" charset="0"/>
              </a:rPr>
              <a:t>x = y + z;</a:t>
            </a:r>
          </a:p>
          <a:p>
            <a:endParaRPr lang="ta-IN" dirty="0"/>
          </a:p>
        </p:txBody>
      </p:sp>
    </p:spTree>
    <p:extLst>
      <p:ext uri="{BB962C8B-B14F-4D97-AF65-F5344CB8AC3E}">
        <p14:creationId xmlns:p14="http://schemas.microsoft.com/office/powerpoint/2010/main" val="24717611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B634D-D9F0-003A-20CF-BAE5E4710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984" y="68980"/>
            <a:ext cx="10287000" cy="1147762"/>
          </a:xfrm>
        </p:spPr>
        <p:txBody>
          <a:bodyPr/>
          <a:lstStyle/>
          <a:p>
            <a:r>
              <a:rPr lang="ta-IN" dirty="0" err="1"/>
              <a:t>Expressions</a:t>
            </a:r>
            <a:r>
              <a:rPr lang="ta-IN" dirty="0"/>
              <a:t> </a:t>
            </a:r>
            <a:r>
              <a:rPr lang="ta-IN" dirty="0" err="1"/>
              <a:t>with</a:t>
            </a:r>
            <a:r>
              <a:rPr lang="ta-IN" dirty="0"/>
              <a:t> </a:t>
            </a:r>
            <a:r>
              <a:rPr lang="ta-IN" dirty="0" err="1"/>
              <a:t>Multiple</a:t>
            </a:r>
            <a:r>
              <a:rPr lang="ta-IN" dirty="0"/>
              <a:t> </a:t>
            </a:r>
            <a:r>
              <a:rPr lang="ta-IN" dirty="0" err="1"/>
              <a:t>Operators</a:t>
            </a:r>
            <a:endParaRPr lang="ta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98B1F-6083-61F8-5E28-306E577BC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004643"/>
            <a:ext cx="2419965" cy="3890965"/>
          </a:xfrm>
        </p:spPr>
        <p:txBody>
          <a:bodyPr/>
          <a:lstStyle/>
          <a:p>
            <a:r>
              <a:rPr lang="ta-IN" dirty="0"/>
              <a:t>C </a:t>
            </a:r>
            <a:r>
              <a:rPr lang="ta-IN" dirty="0" err="1"/>
              <a:t>follows</a:t>
            </a:r>
            <a:r>
              <a:rPr lang="ta-IN" dirty="0"/>
              <a:t> </a:t>
            </a:r>
            <a:r>
              <a:rPr lang="ta-IN" dirty="0" err="1"/>
              <a:t>rules</a:t>
            </a:r>
            <a:r>
              <a:rPr lang="ta-IN" dirty="0"/>
              <a:t> </a:t>
            </a:r>
            <a:r>
              <a:rPr lang="ta-IN" dirty="0" err="1"/>
              <a:t>of</a:t>
            </a:r>
            <a:r>
              <a:rPr lang="ta-IN" dirty="0"/>
              <a:t> </a:t>
            </a:r>
            <a:r>
              <a:rPr lang="ta-IN" b="1" dirty="0" err="1"/>
              <a:t>operator</a:t>
            </a:r>
            <a:r>
              <a:rPr lang="ta-IN" b="1" dirty="0"/>
              <a:t> </a:t>
            </a:r>
            <a:r>
              <a:rPr lang="ta-IN" b="1" dirty="0" err="1"/>
              <a:t>precedence</a:t>
            </a:r>
            <a:r>
              <a:rPr lang="ta-IN" dirty="0"/>
              <a:t>.</a:t>
            </a:r>
            <a:endParaRPr lang="en-US" dirty="0"/>
          </a:p>
          <a:p>
            <a:endParaRPr lang="ta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8EB3E1-3E5A-0E0C-26DA-4B564B88B6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830628"/>
              </p:ext>
            </p:extLst>
          </p:nvPr>
        </p:nvGraphicFramePr>
        <p:xfrm>
          <a:off x="3215148" y="1307689"/>
          <a:ext cx="8514737" cy="521109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37177">
                  <a:extLst>
                    <a:ext uri="{9D8B030D-6E8A-4147-A177-3AD203B41FA5}">
                      <a16:colId xmlns:a16="http://schemas.microsoft.com/office/drawing/2014/main" val="3157575579"/>
                    </a:ext>
                  </a:extLst>
                </a:gridCol>
                <a:gridCol w="1516235">
                  <a:extLst>
                    <a:ext uri="{9D8B030D-6E8A-4147-A177-3AD203B41FA5}">
                      <a16:colId xmlns:a16="http://schemas.microsoft.com/office/drawing/2014/main" val="192060419"/>
                    </a:ext>
                  </a:extLst>
                </a:gridCol>
                <a:gridCol w="4487236">
                  <a:extLst>
                    <a:ext uri="{9D8B030D-6E8A-4147-A177-3AD203B41FA5}">
                      <a16:colId xmlns:a16="http://schemas.microsoft.com/office/drawing/2014/main" val="533173736"/>
                    </a:ext>
                  </a:extLst>
                </a:gridCol>
                <a:gridCol w="1374089">
                  <a:extLst>
                    <a:ext uri="{9D8B030D-6E8A-4147-A177-3AD203B41FA5}">
                      <a16:colId xmlns:a16="http://schemas.microsoft.com/office/drawing/2014/main" val="2282295850"/>
                    </a:ext>
                  </a:extLst>
                </a:gridCol>
              </a:tblGrid>
              <a:tr h="298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Precedence</a:t>
                      </a: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Operators</a:t>
                      </a: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Meaning</a:t>
                      </a: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Associativity</a:t>
                      </a:r>
                    </a:p>
                  </a:txBody>
                  <a:tcPr marL="49884" marR="49884" marT="24942" marB="24942" anchor="ctr"/>
                </a:tc>
                <a:extLst>
                  <a:ext uri="{0D108BD9-81ED-4DB2-BD59-A6C34878D82A}">
                    <a16:rowId xmlns:a16="http://schemas.microsoft.com/office/drawing/2014/main" val="3630354639"/>
                  </a:ext>
                </a:extLst>
              </a:tr>
              <a:tr h="802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Highest</a:t>
                      </a:r>
                      <a:endParaRPr lang="ta-IN" sz="1400" dirty="0">
                        <a:latin typeface="Times New Roman" panose="02020603050405020304" pitchFamily="18" charset="0"/>
                      </a:endParaRP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() [] function call .</a:t>
                      </a: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Parentheses</a:t>
                      </a: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array</a:t>
                      </a: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subscripting</a:t>
                      </a: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function</a:t>
                      </a: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calls</a:t>
                      </a: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structure</a:t>
                      </a: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member</a:t>
                      </a: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selection</a:t>
                      </a:r>
                      <a:endParaRPr lang="ta-IN" sz="1400" dirty="0">
                        <a:latin typeface="Times New Roman" panose="02020603050405020304" pitchFamily="18" charset="0"/>
                      </a:endParaRP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Left to right</a:t>
                      </a:r>
                    </a:p>
                  </a:txBody>
                  <a:tcPr marL="49884" marR="49884" marT="24942" marB="24942" anchor="ctr"/>
                </a:tc>
                <a:extLst>
                  <a:ext uri="{0D108BD9-81ED-4DB2-BD59-A6C34878D82A}">
                    <a16:rowId xmlns:a16="http://schemas.microsoft.com/office/drawing/2014/main" val="1609616795"/>
                  </a:ext>
                </a:extLst>
              </a:tr>
              <a:tr h="44899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a-IN" sz="1400">
                        <a:latin typeface="Times New Roman" panose="02020603050405020304" pitchFamily="18" charset="0"/>
                      </a:endParaRP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++ --</a:t>
                      </a: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Postfix</a:t>
                      </a: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increment</a:t>
                      </a: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and</a:t>
                      </a: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decrement</a:t>
                      </a:r>
                      <a:endParaRPr lang="ta-IN" sz="1400" dirty="0">
                        <a:latin typeface="Times New Roman" panose="02020603050405020304" pitchFamily="18" charset="0"/>
                      </a:endParaRP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Left to right</a:t>
                      </a:r>
                    </a:p>
                  </a:txBody>
                  <a:tcPr marL="49884" marR="49884" marT="24942" marB="24942" anchor="ctr"/>
                </a:tc>
                <a:extLst>
                  <a:ext uri="{0D108BD9-81ED-4DB2-BD59-A6C34878D82A}">
                    <a16:rowId xmlns:a16="http://schemas.microsoft.com/office/drawing/2014/main" val="3976621908"/>
                  </a:ext>
                </a:extLst>
              </a:tr>
              <a:tr h="82550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a-IN" sz="1400">
                        <a:latin typeface="Times New Roman" panose="02020603050405020304" pitchFamily="18" charset="0"/>
                      </a:endParaRP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++ -- ! + - &amp; *</a:t>
                      </a: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Prefix</a:t>
                      </a: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increment</a:t>
                      </a: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/</a:t>
                      </a: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decrement</a:t>
                      </a: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logical</a:t>
                      </a: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 NOT, </a:t>
                      </a: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unary</a:t>
                      </a: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plus</a:t>
                      </a: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/</a:t>
                      </a: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minus</a:t>
                      </a: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address-of</a:t>
                      </a: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indirection</a:t>
                      </a:r>
                      <a:endParaRPr lang="ta-IN" sz="1400" dirty="0">
                        <a:latin typeface="Times New Roman" panose="02020603050405020304" pitchFamily="18" charset="0"/>
                      </a:endParaRP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Right to left</a:t>
                      </a:r>
                    </a:p>
                  </a:txBody>
                  <a:tcPr marL="49884" marR="49884" marT="24942" marB="24942" anchor="ctr"/>
                </a:tc>
                <a:extLst>
                  <a:ext uri="{0D108BD9-81ED-4DB2-BD59-A6C34878D82A}">
                    <a16:rowId xmlns:a16="http://schemas.microsoft.com/office/drawing/2014/main" val="1001969564"/>
                  </a:ext>
                </a:extLst>
              </a:tr>
              <a:tr h="2982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a-IN" sz="1400">
                        <a:latin typeface="Times New Roman" panose="02020603050405020304" pitchFamily="18" charset="0"/>
                      </a:endParaRP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(type)</a:t>
                      </a: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Type cast</a:t>
                      </a: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Right to left</a:t>
                      </a:r>
                    </a:p>
                  </a:txBody>
                  <a:tcPr marL="49884" marR="49884" marT="24942" marB="24942" anchor="ctr"/>
                </a:tc>
                <a:extLst>
                  <a:ext uri="{0D108BD9-81ED-4DB2-BD59-A6C34878D82A}">
                    <a16:rowId xmlns:a16="http://schemas.microsoft.com/office/drawing/2014/main" val="3630748760"/>
                  </a:ext>
                </a:extLst>
              </a:tr>
              <a:tr h="52296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a-IN" sz="1400">
                        <a:latin typeface="Times New Roman" panose="02020603050405020304" pitchFamily="18" charset="0"/>
                      </a:endParaRP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* / %</a:t>
                      </a: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Multiplication, division, remainder</a:t>
                      </a: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Left to right</a:t>
                      </a:r>
                    </a:p>
                  </a:txBody>
                  <a:tcPr marL="49884" marR="49884" marT="24942" marB="24942" anchor="ctr"/>
                </a:tc>
                <a:extLst>
                  <a:ext uri="{0D108BD9-81ED-4DB2-BD59-A6C34878D82A}">
                    <a16:rowId xmlns:a16="http://schemas.microsoft.com/office/drawing/2014/main" val="3955473923"/>
                  </a:ext>
                </a:extLst>
              </a:tr>
              <a:tr h="2982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a-IN" sz="1400">
                        <a:latin typeface="Times New Roman" panose="02020603050405020304" pitchFamily="18" charset="0"/>
                      </a:endParaRP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+ -</a:t>
                      </a: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Addition, subtraction</a:t>
                      </a: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Left to right</a:t>
                      </a:r>
                    </a:p>
                  </a:txBody>
                  <a:tcPr marL="49884" marR="49884" marT="24942" marB="24942" anchor="ctr"/>
                </a:tc>
                <a:extLst>
                  <a:ext uri="{0D108BD9-81ED-4DB2-BD59-A6C34878D82A}">
                    <a16:rowId xmlns:a16="http://schemas.microsoft.com/office/drawing/2014/main" val="1619838619"/>
                  </a:ext>
                </a:extLst>
              </a:tr>
              <a:tr h="2982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a-IN" sz="1400">
                        <a:latin typeface="Times New Roman" panose="02020603050405020304" pitchFamily="18" charset="0"/>
                      </a:endParaRP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&lt; &lt;= &gt; &gt;=</a:t>
                      </a: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Relational operators</a:t>
                      </a: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Left to right</a:t>
                      </a:r>
                    </a:p>
                  </a:txBody>
                  <a:tcPr marL="49884" marR="49884" marT="24942" marB="24942" anchor="ctr"/>
                </a:tc>
                <a:extLst>
                  <a:ext uri="{0D108BD9-81ED-4DB2-BD59-A6C34878D82A}">
                    <a16:rowId xmlns:a16="http://schemas.microsoft.com/office/drawing/2014/main" val="2005292973"/>
                  </a:ext>
                </a:extLst>
              </a:tr>
              <a:tr h="2982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a-IN" sz="1400">
                        <a:latin typeface="Times New Roman" panose="02020603050405020304" pitchFamily="18" charset="0"/>
                      </a:endParaRP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== !=</a:t>
                      </a: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Equality and inequality</a:t>
                      </a: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Left to right</a:t>
                      </a:r>
                    </a:p>
                  </a:txBody>
                  <a:tcPr marL="49884" marR="49884" marT="24942" marB="24942" anchor="ctr"/>
                </a:tc>
                <a:extLst>
                  <a:ext uri="{0D108BD9-81ED-4DB2-BD59-A6C34878D82A}">
                    <a16:rowId xmlns:a16="http://schemas.microsoft.com/office/drawing/2014/main" val="953980266"/>
                  </a:ext>
                </a:extLst>
              </a:tr>
              <a:tr h="2982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a-IN" sz="1400">
                        <a:latin typeface="Times New Roman" panose="02020603050405020304" pitchFamily="18" charset="0"/>
                      </a:endParaRP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&amp;&amp;</a:t>
                      </a: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Logical</a:t>
                      </a: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 AND</a:t>
                      </a: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Left to right</a:t>
                      </a:r>
                    </a:p>
                  </a:txBody>
                  <a:tcPr marL="49884" marR="49884" marT="24942" marB="24942" anchor="ctr"/>
                </a:tc>
                <a:extLst>
                  <a:ext uri="{0D108BD9-81ED-4DB2-BD59-A6C34878D82A}">
                    <a16:rowId xmlns:a16="http://schemas.microsoft.com/office/drawing/2014/main" val="3876271495"/>
                  </a:ext>
                </a:extLst>
              </a:tr>
              <a:tr h="2982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a-IN" sz="1400">
                        <a:latin typeface="Times New Roman" panose="02020603050405020304" pitchFamily="18" charset="0"/>
                      </a:endParaRP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`</a:t>
                      </a: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a-IN" sz="1400">
                        <a:latin typeface="Times New Roman" panose="02020603050405020304" pitchFamily="18" charset="0"/>
                      </a:endParaRP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`</a:t>
                      </a:r>
                    </a:p>
                  </a:txBody>
                  <a:tcPr marL="49884" marR="49884" marT="24942" marB="24942" anchor="ctr"/>
                </a:tc>
                <a:extLst>
                  <a:ext uri="{0D108BD9-81ED-4DB2-BD59-A6C34878D82A}">
                    <a16:rowId xmlns:a16="http://schemas.microsoft.com/office/drawing/2014/main" val="2692500238"/>
                  </a:ext>
                </a:extLst>
              </a:tr>
              <a:tr h="522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Lowest</a:t>
                      </a: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= += -= *= /= %=</a:t>
                      </a: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Times New Roman" panose="02020603050405020304" pitchFamily="18" charset="0"/>
                        </a:rPr>
                        <a:t>Assignment and compound assignment</a:t>
                      </a:r>
                    </a:p>
                  </a:txBody>
                  <a:tcPr marL="49884" marR="49884" marT="24942" marB="249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Right</a:t>
                      </a: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to</a:t>
                      </a: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ta-IN" sz="1400" dirty="0" err="1">
                          <a:latin typeface="Times New Roman" panose="02020603050405020304" pitchFamily="18" charset="0"/>
                        </a:rPr>
                        <a:t>left</a:t>
                      </a:r>
                      <a:endParaRPr lang="ta-IN" sz="1400" dirty="0">
                        <a:latin typeface="Times New Roman" panose="02020603050405020304" pitchFamily="18" charset="0"/>
                      </a:endParaRPr>
                    </a:p>
                  </a:txBody>
                  <a:tcPr marL="49884" marR="49884" marT="24942" marB="24942" anchor="ctr"/>
                </a:tc>
                <a:extLst>
                  <a:ext uri="{0D108BD9-81ED-4DB2-BD59-A6C34878D82A}">
                    <a16:rowId xmlns:a16="http://schemas.microsoft.com/office/drawing/2014/main" val="3557558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55152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F092E-470B-610F-A40C-5EC7BD8B1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 err="1"/>
              <a:t>Associativity</a:t>
            </a:r>
            <a:endParaRPr lang="ta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EF219-FD9D-9FC4-B7CB-818BF9D5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When </a:t>
            </a:r>
            <a:r>
              <a:rPr lang="ta-IN" dirty="0" err="1">
                <a:latin typeface="Times New Roman" panose="02020603050405020304" pitchFamily="18" charset="0"/>
              </a:rPr>
              <a:t>operators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have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same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precedence</a:t>
            </a:r>
            <a:r>
              <a:rPr lang="ta-IN" dirty="0">
                <a:latin typeface="Times New Roman" panose="02020603050405020304" pitchFamily="18" charset="0"/>
              </a:rPr>
              <a:t>, </a:t>
            </a:r>
            <a:r>
              <a:rPr lang="ta-IN" b="1" dirty="0" err="1">
                <a:latin typeface="Times New Roman" panose="02020603050405020304" pitchFamily="18" charset="0"/>
              </a:rPr>
              <a:t>associativity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determines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how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they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are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grouped</a:t>
            </a:r>
            <a:r>
              <a:rPr lang="ta-IN" dirty="0">
                <a:latin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Most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binary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arithmetic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operators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are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evaluated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from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left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to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right</a:t>
            </a:r>
            <a:r>
              <a:rPr lang="ta-IN" dirty="0">
                <a:latin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Example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20 / 5 * 2</a:t>
            </a:r>
          </a:p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evaluated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as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(20 / 5) * 2</a:t>
            </a:r>
          </a:p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so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4 * 2 = 8</a:t>
            </a:r>
          </a:p>
          <a:p>
            <a:pPr marL="0" indent="0">
              <a:buNone/>
            </a:pPr>
            <a:r>
              <a:rPr lang="ta-IN" dirty="0" err="1">
                <a:latin typeface="Times New Roman" panose="02020603050405020304" pitchFamily="18" charset="0"/>
              </a:rPr>
              <a:t>not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ta-IN" dirty="0">
                <a:latin typeface="Times New Roman" panose="02020603050405020304" pitchFamily="18" charset="0"/>
              </a:rPr>
              <a:t>20 / (5 * 2)</a:t>
            </a:r>
          </a:p>
          <a:p>
            <a:endParaRPr lang="ta-IN" dirty="0"/>
          </a:p>
        </p:txBody>
      </p:sp>
    </p:spTree>
    <p:extLst>
      <p:ext uri="{BB962C8B-B14F-4D97-AF65-F5344CB8AC3E}">
        <p14:creationId xmlns:p14="http://schemas.microsoft.com/office/powerpoint/2010/main" val="169453727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0CF4A-C410-5404-9660-FD462AAD8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 err="1"/>
              <a:t>Compound</a:t>
            </a:r>
            <a:r>
              <a:rPr lang="ta-IN" dirty="0"/>
              <a:t> </a:t>
            </a:r>
            <a:r>
              <a:rPr lang="ta-IN" dirty="0" err="1"/>
              <a:t>Assignment</a:t>
            </a:r>
            <a:r>
              <a:rPr lang="ta-IN" dirty="0"/>
              <a:t> </a:t>
            </a:r>
            <a:r>
              <a:rPr lang="ta-IN" dirty="0" err="1"/>
              <a:t>Operators</a:t>
            </a:r>
            <a:endParaRPr lang="ta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9E40B4-6F54-70A9-FC07-F2A8E50C7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202789"/>
              </p:ext>
            </p:extLst>
          </p:nvPr>
        </p:nvGraphicFramePr>
        <p:xfrm>
          <a:off x="2564990" y="2331720"/>
          <a:ext cx="5418804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09402">
                  <a:extLst>
                    <a:ext uri="{9D8B030D-6E8A-4147-A177-3AD203B41FA5}">
                      <a16:colId xmlns:a16="http://schemas.microsoft.com/office/drawing/2014/main" val="726405467"/>
                    </a:ext>
                  </a:extLst>
                </a:gridCol>
                <a:gridCol w="2709402">
                  <a:extLst>
                    <a:ext uri="{9D8B030D-6E8A-4147-A177-3AD203B41FA5}">
                      <a16:colId xmlns:a16="http://schemas.microsoft.com/office/drawing/2014/main" val="19593275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 dirty="0" err="1">
                          <a:latin typeface="Times New Roman" panose="02020603050405020304" pitchFamily="18" charset="0"/>
                        </a:rPr>
                        <a:t>Normal</a:t>
                      </a:r>
                      <a:r>
                        <a:rPr lang="ta-IN" dirty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ta-IN" dirty="0" err="1">
                          <a:latin typeface="Times New Roman" panose="02020603050405020304" pitchFamily="18" charset="0"/>
                        </a:rPr>
                        <a:t>form</a:t>
                      </a:r>
                      <a:endParaRPr lang="ta-IN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Compound form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8137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 dirty="0">
                          <a:latin typeface="Times New Roman" panose="02020603050405020304" pitchFamily="18" charset="0"/>
                        </a:rPr>
                        <a:t>x = x + y;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x += y;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4683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 dirty="0">
                          <a:latin typeface="Times New Roman" panose="02020603050405020304" pitchFamily="18" charset="0"/>
                        </a:rPr>
                        <a:t>x = x - y;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 dirty="0">
                          <a:latin typeface="Times New Roman" panose="02020603050405020304" pitchFamily="18" charset="0"/>
                        </a:rPr>
                        <a:t>x -= y;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48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x = x * y;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 dirty="0">
                          <a:latin typeface="Times New Roman" panose="02020603050405020304" pitchFamily="18" charset="0"/>
                        </a:rPr>
                        <a:t>x *= y;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5290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x = x / y;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 dirty="0">
                          <a:latin typeface="Times New Roman" panose="02020603050405020304" pitchFamily="18" charset="0"/>
                        </a:rPr>
                        <a:t>x /= y;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8603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x = x % y;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a-IN" dirty="0">
                          <a:latin typeface="Times New Roman" panose="02020603050405020304" pitchFamily="18" charset="0"/>
                        </a:rPr>
                        <a:t>x %= y;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3370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53212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838700-20E0-8668-F481-F7450A2C6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 err="1"/>
              <a:t>Increment</a:t>
            </a:r>
            <a:r>
              <a:rPr lang="ta-IN" dirty="0"/>
              <a:t> </a:t>
            </a:r>
            <a:r>
              <a:rPr lang="ta-IN" dirty="0" err="1"/>
              <a:t>and</a:t>
            </a:r>
            <a:r>
              <a:rPr lang="ta-IN" dirty="0"/>
              <a:t> </a:t>
            </a:r>
            <a:r>
              <a:rPr lang="ta-IN" dirty="0" err="1"/>
              <a:t>Decrement</a:t>
            </a:r>
            <a:r>
              <a:rPr lang="ta-IN" dirty="0"/>
              <a:t> </a:t>
            </a:r>
            <a:r>
              <a:rPr lang="ta-IN" dirty="0" err="1"/>
              <a:t>Expressions</a:t>
            </a:r>
            <a:endParaRPr lang="ta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C76C5C-1BBA-9660-B36C-13D23C23E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2500" y="2286002"/>
            <a:ext cx="5803900" cy="3890961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0"/>
              </a:spcBef>
            </a:pPr>
            <a:r>
              <a:rPr lang="ta-IN" sz="2500" dirty="0">
                <a:latin typeface="Times New Roman" panose="02020603050405020304" pitchFamily="18" charset="0"/>
              </a:rPr>
              <a:t>C </a:t>
            </a:r>
            <a:r>
              <a:rPr lang="ta-IN" sz="2500" dirty="0" err="1">
                <a:latin typeface="Times New Roman" panose="02020603050405020304" pitchFamily="18" charset="0"/>
              </a:rPr>
              <a:t>provides</a:t>
            </a:r>
            <a:r>
              <a:rPr lang="ta-IN" sz="2500" dirty="0">
                <a:latin typeface="Times New Roman" panose="02020603050405020304" pitchFamily="18" charset="0"/>
              </a:rPr>
              <a:t>: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a-IN" sz="2500" dirty="0">
                <a:latin typeface="Times New Roman" panose="02020603050405020304" pitchFamily="18" charset="0"/>
              </a:rPr>
              <a:t>++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a-IN" sz="2500" dirty="0" err="1">
                <a:latin typeface="Times New Roman" panose="02020603050405020304" pitchFamily="18" charset="0"/>
              </a:rPr>
              <a:t>to</a:t>
            </a:r>
            <a:r>
              <a:rPr lang="ta-IN" sz="2500" dirty="0">
                <a:latin typeface="Times New Roman" panose="02020603050405020304" pitchFamily="18" charset="0"/>
              </a:rPr>
              <a:t> </a:t>
            </a:r>
            <a:r>
              <a:rPr lang="ta-IN" sz="2500" dirty="0" err="1">
                <a:latin typeface="Times New Roman" panose="02020603050405020304" pitchFamily="18" charset="0"/>
              </a:rPr>
              <a:t>increment</a:t>
            </a:r>
            <a:r>
              <a:rPr lang="ta-IN" sz="2500" dirty="0">
                <a:latin typeface="Times New Roman" panose="02020603050405020304" pitchFamily="18" charset="0"/>
              </a:rPr>
              <a:t> a </a:t>
            </a:r>
            <a:r>
              <a:rPr lang="ta-IN" sz="2500" dirty="0" err="1">
                <a:latin typeface="Times New Roman" panose="02020603050405020304" pitchFamily="18" charset="0"/>
              </a:rPr>
              <a:t>variable</a:t>
            </a:r>
            <a:r>
              <a:rPr lang="ta-IN" sz="2500" dirty="0">
                <a:latin typeface="Times New Roman" panose="02020603050405020304" pitchFamily="18" charset="0"/>
              </a:rPr>
              <a:t> </a:t>
            </a:r>
            <a:r>
              <a:rPr lang="ta-IN" sz="2500" dirty="0" err="1">
                <a:latin typeface="Times New Roman" panose="02020603050405020304" pitchFamily="18" charset="0"/>
              </a:rPr>
              <a:t>by</a:t>
            </a:r>
            <a:r>
              <a:rPr lang="ta-IN" sz="2500" dirty="0">
                <a:latin typeface="Times New Roman" panose="02020603050405020304" pitchFamily="18" charset="0"/>
              </a:rPr>
              <a:t> 1, </a:t>
            </a:r>
            <a:r>
              <a:rPr lang="ta-IN" sz="2500" dirty="0" err="1">
                <a:latin typeface="Times New Roman" panose="02020603050405020304" pitchFamily="18" charset="0"/>
              </a:rPr>
              <a:t>and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a-IN" sz="2500" dirty="0">
                <a:latin typeface="Times New Roman" panose="02020603050405020304" pitchFamily="18" charset="0"/>
              </a:rPr>
              <a:t>--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a-IN" sz="2500" dirty="0" err="1">
                <a:latin typeface="Times New Roman" panose="02020603050405020304" pitchFamily="18" charset="0"/>
              </a:rPr>
              <a:t>to</a:t>
            </a:r>
            <a:r>
              <a:rPr lang="ta-IN" sz="2500" dirty="0">
                <a:latin typeface="Times New Roman" panose="02020603050405020304" pitchFamily="18" charset="0"/>
              </a:rPr>
              <a:t> </a:t>
            </a:r>
            <a:r>
              <a:rPr lang="ta-IN" sz="2500" dirty="0" err="1">
                <a:latin typeface="Times New Roman" panose="02020603050405020304" pitchFamily="18" charset="0"/>
              </a:rPr>
              <a:t>decrement</a:t>
            </a:r>
            <a:r>
              <a:rPr lang="ta-IN" sz="2500" dirty="0">
                <a:latin typeface="Times New Roman" panose="02020603050405020304" pitchFamily="18" charset="0"/>
              </a:rPr>
              <a:t> a </a:t>
            </a:r>
            <a:r>
              <a:rPr lang="ta-IN" sz="2500" dirty="0" err="1">
                <a:latin typeface="Times New Roman" panose="02020603050405020304" pitchFamily="18" charset="0"/>
              </a:rPr>
              <a:t>variable</a:t>
            </a:r>
            <a:r>
              <a:rPr lang="ta-IN" sz="2500" dirty="0">
                <a:latin typeface="Times New Roman" panose="02020603050405020304" pitchFamily="18" charset="0"/>
              </a:rPr>
              <a:t> </a:t>
            </a:r>
            <a:r>
              <a:rPr lang="ta-IN" sz="2500" dirty="0" err="1">
                <a:latin typeface="Times New Roman" panose="02020603050405020304" pitchFamily="18" charset="0"/>
              </a:rPr>
              <a:t>by</a:t>
            </a:r>
            <a:r>
              <a:rPr lang="ta-IN" sz="2500" dirty="0">
                <a:latin typeface="Times New Roman" panose="02020603050405020304" pitchFamily="18" charset="0"/>
              </a:rPr>
              <a:t> 1.</a:t>
            </a:r>
          </a:p>
          <a:p>
            <a:pPr marL="0" indent="0">
              <a:spcBef>
                <a:spcPts val="0"/>
              </a:spcBef>
              <a:buNone/>
            </a:pPr>
            <a:r>
              <a:rPr lang="ta-IN" sz="2500" dirty="0" err="1">
                <a:latin typeface="Times New Roman" panose="02020603050405020304" pitchFamily="18" charset="0"/>
              </a:rPr>
              <a:t>Instead</a:t>
            </a:r>
            <a:r>
              <a:rPr lang="ta-IN" sz="2500" dirty="0">
                <a:latin typeface="Times New Roman" panose="02020603050405020304" pitchFamily="18" charset="0"/>
              </a:rPr>
              <a:t> </a:t>
            </a:r>
            <a:r>
              <a:rPr lang="ta-IN" sz="2500" dirty="0" err="1">
                <a:latin typeface="Times New Roman" panose="02020603050405020304" pitchFamily="18" charset="0"/>
              </a:rPr>
              <a:t>of</a:t>
            </a:r>
            <a:r>
              <a:rPr lang="ta-IN" sz="2500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ta-IN" sz="2500" dirty="0" err="1">
                <a:latin typeface="Times New Roman" panose="02020603050405020304" pitchFamily="18" charset="0"/>
              </a:rPr>
              <a:t>count</a:t>
            </a:r>
            <a:r>
              <a:rPr lang="ta-IN" sz="2500" dirty="0">
                <a:latin typeface="Times New Roman" panose="02020603050405020304" pitchFamily="18" charset="0"/>
              </a:rPr>
              <a:t> = </a:t>
            </a:r>
            <a:r>
              <a:rPr lang="ta-IN" sz="2500" dirty="0" err="1">
                <a:latin typeface="Times New Roman" panose="02020603050405020304" pitchFamily="18" charset="0"/>
              </a:rPr>
              <a:t>count</a:t>
            </a:r>
            <a:r>
              <a:rPr lang="ta-IN" sz="2500" dirty="0">
                <a:latin typeface="Times New Roman" panose="02020603050405020304" pitchFamily="18" charset="0"/>
              </a:rPr>
              <a:t> + 1;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ta-IN" sz="2500" dirty="0" err="1">
                <a:latin typeface="Times New Roman" panose="02020603050405020304" pitchFamily="18" charset="0"/>
              </a:rPr>
              <a:t>we</a:t>
            </a:r>
            <a:r>
              <a:rPr lang="ta-IN" sz="2500" dirty="0">
                <a:latin typeface="Times New Roman" panose="02020603050405020304" pitchFamily="18" charset="0"/>
              </a:rPr>
              <a:t> </a:t>
            </a:r>
            <a:r>
              <a:rPr lang="ta-IN" sz="2500" dirty="0" err="1">
                <a:latin typeface="Times New Roman" panose="02020603050405020304" pitchFamily="18" charset="0"/>
              </a:rPr>
              <a:t>can</a:t>
            </a:r>
            <a:r>
              <a:rPr lang="ta-IN" sz="2500" dirty="0">
                <a:latin typeface="Times New Roman" panose="02020603050405020304" pitchFamily="18" charset="0"/>
              </a:rPr>
              <a:t> </a:t>
            </a:r>
            <a:r>
              <a:rPr lang="ta-IN" sz="2500" dirty="0" err="1">
                <a:latin typeface="Times New Roman" panose="02020603050405020304" pitchFamily="18" charset="0"/>
              </a:rPr>
              <a:t>use</a:t>
            </a:r>
            <a:r>
              <a:rPr lang="ta-IN" sz="2500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ta-IN" sz="2500" dirty="0">
                <a:latin typeface="Times New Roman" panose="02020603050405020304" pitchFamily="18" charset="0"/>
              </a:rPr>
              <a:t>++</a:t>
            </a:r>
            <a:r>
              <a:rPr lang="ta-IN" sz="2500" dirty="0" err="1">
                <a:latin typeface="Times New Roman" panose="02020603050405020304" pitchFamily="18" charset="0"/>
              </a:rPr>
              <a:t>count</a:t>
            </a:r>
            <a:r>
              <a:rPr lang="ta-IN" sz="2500" dirty="0">
                <a:latin typeface="Times New Roman" panose="02020603050405020304" pitchFamily="18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ta-IN" sz="2500" dirty="0" err="1">
                <a:latin typeface="Times New Roman" panose="02020603050405020304" pitchFamily="18" charset="0"/>
              </a:rPr>
              <a:t>or</a:t>
            </a:r>
            <a:r>
              <a:rPr lang="ta-IN" sz="2500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ta-IN" sz="2500" dirty="0" err="1">
                <a:latin typeface="Times New Roman" panose="02020603050405020304" pitchFamily="18" charset="0"/>
              </a:rPr>
              <a:t>count</a:t>
            </a:r>
            <a:r>
              <a:rPr lang="ta-IN" sz="2500" dirty="0">
                <a:latin typeface="Times New Roman" panose="02020603050405020304" pitchFamily="18" charset="0"/>
              </a:rPr>
              <a:t>++;</a:t>
            </a:r>
          </a:p>
          <a:p>
            <a:pPr marL="0" indent="0">
              <a:spcBef>
                <a:spcPts val="0"/>
              </a:spcBef>
              <a:buNone/>
            </a:pPr>
            <a:r>
              <a:rPr lang="ta-IN" sz="2500" b="1" dirty="0" err="1">
                <a:latin typeface="Times New Roman" panose="02020603050405020304" pitchFamily="18" charset="0"/>
              </a:rPr>
              <a:t>prefix</a:t>
            </a:r>
            <a:r>
              <a:rPr lang="ta-IN" sz="2500" dirty="0">
                <a:latin typeface="Times New Roman" panose="02020603050405020304" pitchFamily="18" charset="0"/>
              </a:rPr>
              <a:t> </a:t>
            </a:r>
            <a:r>
              <a:rPr lang="ta-IN" sz="2500" dirty="0" err="1">
                <a:latin typeface="Times New Roman" panose="02020603050405020304" pitchFamily="18" charset="0"/>
              </a:rPr>
              <a:t>and</a:t>
            </a:r>
            <a:r>
              <a:rPr lang="ta-IN" sz="2500" dirty="0">
                <a:latin typeface="Times New Roman" panose="02020603050405020304" pitchFamily="18" charset="0"/>
              </a:rPr>
              <a:t> </a:t>
            </a:r>
            <a:r>
              <a:rPr lang="ta-IN" sz="2500" b="1" dirty="0" err="1">
                <a:latin typeface="Times New Roman" panose="02020603050405020304" pitchFamily="18" charset="0"/>
              </a:rPr>
              <a:t>postfix</a:t>
            </a:r>
            <a:r>
              <a:rPr lang="ta-IN" sz="2500" dirty="0">
                <a:latin typeface="Times New Roman" panose="02020603050405020304" pitchFamily="18" charset="0"/>
              </a:rPr>
              <a:t> </a:t>
            </a:r>
            <a:r>
              <a:rPr lang="ta-IN" sz="2500" dirty="0" err="1">
                <a:latin typeface="Times New Roman" panose="02020603050405020304" pitchFamily="18" charset="0"/>
              </a:rPr>
              <a:t>forms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different meaning</a:t>
            </a:r>
            <a:endParaRPr lang="ta-IN" sz="2500" dirty="0">
              <a:latin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a-IN" sz="2500" b="1" dirty="0" err="1">
                <a:latin typeface="Times New Roman" panose="02020603050405020304" pitchFamily="18" charset="0"/>
              </a:rPr>
              <a:t>Prefix</a:t>
            </a:r>
            <a:endParaRPr lang="ta-IN" sz="2500" b="1" dirty="0">
              <a:latin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a-IN" sz="2500" dirty="0">
                <a:latin typeface="Times New Roman" panose="02020603050405020304" pitchFamily="18" charset="0"/>
              </a:rPr>
              <a:t>j = ++i;</a:t>
            </a:r>
          </a:p>
          <a:p>
            <a:pPr marL="0" indent="0">
              <a:spcBef>
                <a:spcPts val="0"/>
              </a:spcBef>
              <a:buNone/>
            </a:pPr>
            <a:r>
              <a:rPr lang="ta-IN" sz="2500" dirty="0" err="1">
                <a:latin typeface="Times New Roman" panose="02020603050405020304" pitchFamily="18" charset="0"/>
              </a:rPr>
              <a:t>means</a:t>
            </a:r>
            <a:r>
              <a:rPr lang="ta-IN" sz="2500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ta-IN" sz="2500" dirty="0" err="1">
                <a:latin typeface="Times New Roman" panose="02020603050405020304" pitchFamily="18" charset="0"/>
              </a:rPr>
              <a:t>Increment</a:t>
            </a:r>
            <a:r>
              <a:rPr lang="ta-IN" sz="2500" dirty="0">
                <a:latin typeface="Times New Roman" panose="02020603050405020304" pitchFamily="18" charset="0"/>
              </a:rPr>
              <a:t> i </a:t>
            </a:r>
            <a:r>
              <a:rPr lang="ta-IN" sz="2500" dirty="0" err="1">
                <a:latin typeface="Times New Roman" panose="02020603050405020304" pitchFamily="18" charset="0"/>
              </a:rPr>
              <a:t>first</a:t>
            </a:r>
            <a:r>
              <a:rPr lang="ta-IN" sz="2500" dirty="0">
                <a:latin typeface="Times New Roman" panose="02020603050405020304" pitchFamily="18" charset="0"/>
              </a:rPr>
              <a:t>, </a:t>
            </a:r>
            <a:r>
              <a:rPr lang="ta-IN" sz="2500" dirty="0" err="1">
                <a:latin typeface="Times New Roman" panose="02020603050405020304" pitchFamily="18" charset="0"/>
              </a:rPr>
              <a:t>then</a:t>
            </a:r>
            <a:r>
              <a:rPr lang="ta-IN" sz="2500" dirty="0">
                <a:latin typeface="Times New Roman" panose="02020603050405020304" pitchFamily="18" charset="0"/>
              </a:rPr>
              <a:t> </a:t>
            </a:r>
            <a:r>
              <a:rPr lang="ta-IN" sz="2500" dirty="0" err="1">
                <a:latin typeface="Times New Roman" panose="02020603050405020304" pitchFamily="18" charset="0"/>
              </a:rPr>
              <a:t>use</a:t>
            </a:r>
            <a:r>
              <a:rPr lang="ta-IN" sz="2500" dirty="0">
                <a:latin typeface="Times New Roman" panose="02020603050405020304" pitchFamily="18" charset="0"/>
              </a:rPr>
              <a:t> </a:t>
            </a:r>
            <a:r>
              <a:rPr lang="ta-IN" sz="2500" dirty="0" err="1">
                <a:latin typeface="Times New Roman" panose="02020603050405020304" pitchFamily="18" charset="0"/>
              </a:rPr>
              <a:t>the</a:t>
            </a:r>
            <a:r>
              <a:rPr lang="ta-IN" sz="2500" dirty="0">
                <a:latin typeface="Times New Roman" panose="02020603050405020304" pitchFamily="18" charset="0"/>
              </a:rPr>
              <a:t> </a:t>
            </a:r>
            <a:r>
              <a:rPr lang="ta-IN" sz="2500" dirty="0" err="1">
                <a:latin typeface="Times New Roman" panose="02020603050405020304" pitchFamily="18" charset="0"/>
              </a:rPr>
              <a:t>new</a:t>
            </a:r>
            <a:r>
              <a:rPr lang="ta-IN" sz="2500" dirty="0">
                <a:latin typeface="Times New Roman" panose="02020603050405020304" pitchFamily="18" charset="0"/>
              </a:rPr>
              <a:t> </a:t>
            </a:r>
            <a:r>
              <a:rPr lang="ta-IN" sz="2500" dirty="0" err="1">
                <a:latin typeface="Times New Roman" panose="02020603050405020304" pitchFamily="18" charset="0"/>
              </a:rPr>
              <a:t>value</a:t>
            </a:r>
            <a:r>
              <a:rPr lang="ta-IN" sz="2500"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ts val="0"/>
              </a:spcBef>
            </a:pPr>
            <a:endParaRPr lang="ta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85BF45-856A-BB1A-2CD8-D2C05327C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24700" y="2286001"/>
            <a:ext cx="4406900" cy="389096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a-IN" dirty="0" err="1">
                <a:latin typeface="Times New Roman" panose="02020603050405020304" pitchFamily="18" charset="0"/>
              </a:rPr>
              <a:t>If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a-IN" dirty="0">
                <a:latin typeface="Times New Roman" panose="02020603050405020304" pitchFamily="18" charset="0"/>
              </a:rPr>
              <a:t>i = 2;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a-IN" dirty="0" err="1">
                <a:latin typeface="Times New Roman" panose="02020603050405020304" pitchFamily="18" charset="0"/>
              </a:rPr>
              <a:t>then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afterward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a-IN" dirty="0">
                <a:latin typeface="Times New Roman" panose="02020603050405020304" pitchFamily="18" charset="0"/>
              </a:rPr>
              <a:t>i = 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a-IN" dirty="0">
                <a:latin typeface="Times New Roman" panose="02020603050405020304" pitchFamily="18" charset="0"/>
              </a:rPr>
              <a:t>j = 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a-IN" b="1" dirty="0" err="1">
                <a:latin typeface="Times New Roman" panose="02020603050405020304" pitchFamily="18" charset="0"/>
              </a:rPr>
              <a:t>Postfix</a:t>
            </a:r>
            <a:endParaRPr lang="ta-IN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a-IN" dirty="0">
                <a:latin typeface="Times New Roman" panose="02020603050405020304" pitchFamily="18" charset="0"/>
              </a:rPr>
              <a:t>j = i++;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a-IN" dirty="0" err="1">
                <a:latin typeface="Times New Roman" panose="02020603050405020304" pitchFamily="18" charset="0"/>
              </a:rPr>
              <a:t>means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a-IN" dirty="0" err="1">
                <a:latin typeface="Times New Roman" panose="02020603050405020304" pitchFamily="18" charset="0"/>
              </a:rPr>
              <a:t>Use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current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value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of</a:t>
            </a:r>
            <a:r>
              <a:rPr lang="ta-IN" dirty="0">
                <a:latin typeface="Times New Roman" panose="02020603050405020304" pitchFamily="18" charset="0"/>
              </a:rPr>
              <a:t> i </a:t>
            </a:r>
            <a:r>
              <a:rPr lang="ta-IN" dirty="0" err="1">
                <a:latin typeface="Times New Roman" panose="02020603050405020304" pitchFamily="18" charset="0"/>
              </a:rPr>
              <a:t>first</a:t>
            </a:r>
            <a:r>
              <a:rPr lang="ta-IN" dirty="0">
                <a:latin typeface="Times New Roman" panose="02020603050405020304" pitchFamily="18" charset="0"/>
              </a:rPr>
              <a:t>, </a:t>
            </a:r>
            <a:r>
              <a:rPr lang="ta-IN" dirty="0" err="1">
                <a:latin typeface="Times New Roman" panose="02020603050405020304" pitchFamily="18" charset="0"/>
              </a:rPr>
              <a:t>then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increment</a:t>
            </a:r>
            <a:r>
              <a:rPr lang="ta-IN" dirty="0">
                <a:latin typeface="Times New Roman" panose="02020603050405020304" pitchFamily="18" charset="0"/>
              </a:rPr>
              <a:t> i.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a-IN" dirty="0" err="1">
                <a:latin typeface="Times New Roman" panose="02020603050405020304" pitchFamily="18" charset="0"/>
              </a:rPr>
              <a:t>If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a-IN" dirty="0">
                <a:latin typeface="Times New Roman" panose="02020603050405020304" pitchFamily="18" charset="0"/>
              </a:rPr>
              <a:t>i = 2;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a-IN" dirty="0" err="1">
                <a:latin typeface="Times New Roman" panose="02020603050405020304" pitchFamily="18" charset="0"/>
              </a:rPr>
              <a:t>then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afterward</a:t>
            </a:r>
            <a:r>
              <a:rPr lang="ta-IN" dirty="0">
                <a:latin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a-IN" dirty="0">
                <a:latin typeface="Times New Roman" panose="02020603050405020304" pitchFamily="18" charset="0"/>
              </a:rPr>
              <a:t>j = 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a-IN" dirty="0">
                <a:latin typeface="Times New Roman" panose="02020603050405020304" pitchFamily="18" charset="0"/>
              </a:rPr>
              <a:t>i = 3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ta-I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61157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25F40-A601-9015-20C0-408827417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 err="1"/>
              <a:t>Relational</a:t>
            </a:r>
            <a:r>
              <a:rPr lang="ta-IN" dirty="0"/>
              <a:t> </a:t>
            </a:r>
            <a:r>
              <a:rPr lang="ta-IN" dirty="0" err="1"/>
              <a:t>Expressions</a:t>
            </a:r>
            <a:endParaRPr lang="ta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9FA935-258A-2C66-1DC8-0223E75D4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a-IN" dirty="0" err="1"/>
              <a:t>Expressions</a:t>
            </a:r>
            <a:r>
              <a:rPr lang="ta-IN" dirty="0"/>
              <a:t> </a:t>
            </a:r>
            <a:r>
              <a:rPr lang="ta-IN" dirty="0" err="1"/>
              <a:t>are</a:t>
            </a:r>
            <a:r>
              <a:rPr lang="ta-IN" dirty="0"/>
              <a:t> </a:t>
            </a:r>
            <a:r>
              <a:rPr lang="ta-IN" dirty="0" err="1"/>
              <a:t>also</a:t>
            </a:r>
            <a:r>
              <a:rPr lang="ta-IN" dirty="0"/>
              <a:t> </a:t>
            </a:r>
            <a:r>
              <a:rPr lang="ta-IN" dirty="0" err="1"/>
              <a:t>used</a:t>
            </a:r>
            <a:r>
              <a:rPr lang="ta-IN" dirty="0"/>
              <a:t> </a:t>
            </a:r>
            <a:r>
              <a:rPr lang="ta-IN" dirty="0" err="1"/>
              <a:t>to</a:t>
            </a:r>
            <a:r>
              <a:rPr lang="ta-IN" dirty="0"/>
              <a:t> </a:t>
            </a:r>
            <a:r>
              <a:rPr lang="ta-IN" dirty="0" err="1"/>
              <a:t>compare</a:t>
            </a:r>
            <a:r>
              <a:rPr lang="ta-IN" dirty="0"/>
              <a:t> </a:t>
            </a:r>
            <a:r>
              <a:rPr lang="ta-IN" dirty="0" err="1"/>
              <a:t>values</a:t>
            </a:r>
            <a:r>
              <a:rPr lang="ta-IN" dirty="0"/>
              <a:t>.</a:t>
            </a:r>
            <a:endParaRPr lang="en-US" dirty="0"/>
          </a:p>
          <a:p>
            <a:endParaRPr lang="ta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824A27-E740-635C-4192-7BB4A1970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952354"/>
              </p:ext>
            </p:extLst>
          </p:nvPr>
        </p:nvGraphicFramePr>
        <p:xfrm>
          <a:off x="2417234" y="3683605"/>
          <a:ext cx="5304368" cy="268748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46767">
                  <a:extLst>
                    <a:ext uri="{9D8B030D-6E8A-4147-A177-3AD203B41FA5}">
                      <a16:colId xmlns:a16="http://schemas.microsoft.com/office/drawing/2014/main" val="2146883235"/>
                    </a:ext>
                  </a:extLst>
                </a:gridCol>
                <a:gridCol w="3657601">
                  <a:extLst>
                    <a:ext uri="{9D8B030D-6E8A-4147-A177-3AD203B41FA5}">
                      <a16:colId xmlns:a16="http://schemas.microsoft.com/office/drawing/2014/main" val="1905958576"/>
                    </a:ext>
                  </a:extLst>
                </a:gridCol>
              </a:tblGrid>
              <a:tr h="383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dirty="0" err="1"/>
                        <a:t>Operator</a:t>
                      </a:r>
                      <a:endParaRPr lang="ta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6548864"/>
                  </a:ext>
                </a:extLst>
              </a:tr>
              <a:tr h="383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/>
                        <a:t>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dirty="0" err="1"/>
                        <a:t>Less</a:t>
                      </a:r>
                      <a:r>
                        <a:rPr lang="ta-IN" dirty="0"/>
                        <a:t> </a:t>
                      </a:r>
                      <a:r>
                        <a:rPr lang="ta-IN" dirty="0" err="1"/>
                        <a:t>than</a:t>
                      </a:r>
                      <a:endParaRPr lang="ta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1574056"/>
                  </a:ext>
                </a:extLst>
              </a:tr>
              <a:tr h="383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/>
                        <a:t>Greater than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5316361"/>
                  </a:ext>
                </a:extLst>
              </a:tr>
              <a:tr h="383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/>
                        <a:t>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/>
                        <a:t>Less than or equal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6313375"/>
                  </a:ext>
                </a:extLst>
              </a:tr>
              <a:tr h="383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/>
                        <a:t>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/>
                        <a:t>Greater than or equal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4270482"/>
                  </a:ext>
                </a:extLst>
              </a:tr>
              <a:tr h="383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/>
                        <a:t>==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/>
                        <a:t>Equal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2175691"/>
                  </a:ext>
                </a:extLst>
              </a:tr>
              <a:tr h="383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/>
                        <a:t>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dirty="0" err="1"/>
                        <a:t>Not</a:t>
                      </a:r>
                      <a:r>
                        <a:rPr lang="ta-IN" dirty="0"/>
                        <a:t> </a:t>
                      </a:r>
                      <a:r>
                        <a:rPr lang="ta-IN" dirty="0" err="1"/>
                        <a:t>equal</a:t>
                      </a:r>
                      <a:r>
                        <a:rPr lang="ta-IN" dirty="0"/>
                        <a:t> </a:t>
                      </a:r>
                      <a:r>
                        <a:rPr lang="ta-IN" dirty="0" err="1"/>
                        <a:t>to</a:t>
                      </a:r>
                      <a:endParaRPr lang="ta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951795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3FD2BB7-3597-D2AD-73E0-940BDEC1AC78}"/>
              </a:ext>
            </a:extLst>
          </p:cNvPr>
          <p:cNvSpPr txBox="1"/>
          <p:nvPr/>
        </p:nvSpPr>
        <p:spPr>
          <a:xfrm>
            <a:off x="1507067" y="29897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a-IN" dirty="0" err="1"/>
              <a:t>age</a:t>
            </a:r>
            <a:r>
              <a:rPr lang="ta-IN" dirty="0"/>
              <a:t> &gt;= 18</a:t>
            </a:r>
            <a:r>
              <a:rPr lang="en-US" dirty="0"/>
              <a:t>  </a:t>
            </a:r>
            <a:r>
              <a:rPr lang="ta-IN" dirty="0" err="1"/>
              <a:t>This</a:t>
            </a:r>
            <a:r>
              <a:rPr lang="ta-IN" dirty="0"/>
              <a:t> </a:t>
            </a:r>
            <a:r>
              <a:rPr lang="ta-IN" dirty="0" err="1"/>
              <a:t>expression</a:t>
            </a:r>
            <a:r>
              <a:rPr lang="ta-IN" dirty="0"/>
              <a:t> </a:t>
            </a:r>
            <a:r>
              <a:rPr lang="ta-IN" dirty="0" err="1"/>
              <a:t>evaluates</a:t>
            </a:r>
            <a:r>
              <a:rPr lang="ta-IN" dirty="0"/>
              <a:t> </a:t>
            </a:r>
            <a:r>
              <a:rPr lang="ta-IN" dirty="0" err="1"/>
              <a:t>to</a:t>
            </a:r>
            <a:r>
              <a:rPr lang="ta-IN" dirty="0"/>
              <a:t> </a:t>
            </a:r>
            <a:r>
              <a:rPr lang="ta-IN" dirty="0" err="1"/>
              <a:t>true</a:t>
            </a:r>
            <a:r>
              <a:rPr lang="ta-IN" dirty="0"/>
              <a:t> </a:t>
            </a:r>
            <a:r>
              <a:rPr lang="ta-IN" dirty="0" err="1"/>
              <a:t>or</a:t>
            </a:r>
            <a:r>
              <a:rPr lang="ta-IN" dirty="0"/>
              <a:t> </a:t>
            </a:r>
            <a:r>
              <a:rPr lang="ta-IN" dirty="0" err="1"/>
              <a:t>false</a:t>
            </a:r>
            <a:r>
              <a:rPr lang="ta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998747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69FB-A7DC-7C29-0F32-511D20DA2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 err="1"/>
              <a:t>Logical</a:t>
            </a:r>
            <a:r>
              <a:rPr lang="ta-IN" dirty="0"/>
              <a:t> </a:t>
            </a:r>
            <a:r>
              <a:rPr lang="ta-IN" dirty="0" err="1"/>
              <a:t>Expressions</a:t>
            </a:r>
            <a:endParaRPr lang="ta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1E38FA4-6DE7-DBC6-EE52-69906DB051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6887893"/>
              </p:ext>
            </p:extLst>
          </p:nvPr>
        </p:nvGraphicFramePr>
        <p:xfrm>
          <a:off x="952500" y="2677001"/>
          <a:ext cx="10287000" cy="22860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24068194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13765438"/>
                    </a:ext>
                  </a:extLst>
                </a:gridCol>
                <a:gridCol w="1998133">
                  <a:extLst>
                    <a:ext uri="{9D8B030D-6E8A-4147-A177-3AD203B41FA5}">
                      <a16:colId xmlns:a16="http://schemas.microsoft.com/office/drawing/2014/main" val="1635553217"/>
                    </a:ext>
                  </a:extLst>
                </a:gridCol>
                <a:gridCol w="3221567">
                  <a:extLst>
                    <a:ext uri="{9D8B030D-6E8A-4147-A177-3AD203B41FA5}">
                      <a16:colId xmlns:a16="http://schemas.microsoft.com/office/drawing/2014/main" val="251457348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3087375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b="1">
                          <a:latin typeface="Times New Roman" panose="02020603050405020304" pitchFamily="18" charset="0"/>
                        </a:rPr>
                        <a:t>Operator</a:t>
                      </a:r>
                      <a:endParaRPr lang="ta-IN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b="1">
                          <a:latin typeface="Times New Roman" panose="02020603050405020304" pitchFamily="18" charset="0"/>
                        </a:rPr>
                        <a:t>Name</a:t>
                      </a:r>
                      <a:endParaRPr lang="ta-IN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b="1">
                          <a:latin typeface="Times New Roman" panose="02020603050405020304" pitchFamily="18" charset="0"/>
                        </a:rPr>
                        <a:t>Syntax</a:t>
                      </a:r>
                      <a:endParaRPr lang="ta-IN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b="1" dirty="0" err="1">
                          <a:latin typeface="Times New Roman" panose="02020603050405020304" pitchFamily="18" charset="0"/>
                        </a:rPr>
                        <a:t>Behavior</a:t>
                      </a:r>
                      <a:endParaRPr lang="ta-IN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b="1">
                          <a:latin typeface="Times New Roman" panose="02020603050405020304" pitchFamily="18" charset="0"/>
                        </a:rPr>
                        <a:t>Example</a:t>
                      </a:r>
                      <a:endParaRPr lang="ta-IN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85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&amp;&amp;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b="1" dirty="0" err="1">
                          <a:latin typeface="Times New Roman" panose="02020603050405020304" pitchFamily="18" charset="0"/>
                        </a:rPr>
                        <a:t>Logical</a:t>
                      </a:r>
                      <a:r>
                        <a:rPr lang="ta-IN" b="1" dirty="0">
                          <a:latin typeface="Times New Roman" panose="02020603050405020304" pitchFamily="18" charset="0"/>
                        </a:rPr>
                        <a:t> AND</a:t>
                      </a:r>
                      <a:endParaRPr lang="ta-IN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expr1 &amp;&amp; expr2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Returns 1 </a:t>
                      </a:r>
                      <a:r>
                        <a:rPr lang="ta-IN" b="1">
                          <a:latin typeface="Times New Roman" panose="02020603050405020304" pitchFamily="18" charset="0"/>
                        </a:rPr>
                        <a:t>only if both</a:t>
                      </a:r>
                      <a:r>
                        <a:rPr lang="ta-IN">
                          <a:latin typeface="Times New Roman" panose="02020603050405020304" pitchFamily="18" charset="0"/>
                        </a:rPr>
                        <a:t> operands are true.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(5 &gt; 3) &amp;&amp; (2 &lt; 4) →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166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||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b="1">
                          <a:latin typeface="Times New Roman" panose="02020603050405020304" pitchFamily="18" charset="0"/>
                        </a:rPr>
                        <a:t>Logical OR</a:t>
                      </a:r>
                      <a:endParaRPr lang="ta-IN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expr1 || expr2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Returns 1 if </a:t>
                      </a:r>
                      <a:r>
                        <a:rPr lang="ta-IN" b="1">
                          <a:latin typeface="Times New Roman" panose="02020603050405020304" pitchFamily="18" charset="0"/>
                        </a:rPr>
                        <a:t>at least one</a:t>
                      </a:r>
                      <a:r>
                        <a:rPr lang="ta-IN">
                          <a:latin typeface="Times New Roman" panose="02020603050405020304" pitchFamily="18" charset="0"/>
                        </a:rPr>
                        <a:t> operand is true.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(5 &gt; 3) || (2 &gt; 4) →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4458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b="1">
                          <a:latin typeface="Times New Roman" panose="02020603050405020304" pitchFamily="18" charset="0"/>
                        </a:rPr>
                        <a:t>Logical NOT</a:t>
                      </a:r>
                      <a:endParaRPr lang="ta-IN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!expr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>
                          <a:latin typeface="Times New Roman" panose="02020603050405020304" pitchFamily="18" charset="0"/>
                        </a:rPr>
                        <a:t>Unary operator that </a:t>
                      </a:r>
                      <a:r>
                        <a:rPr lang="ta-IN" b="1">
                          <a:latin typeface="Times New Roman" panose="02020603050405020304" pitchFamily="18" charset="0"/>
                        </a:rPr>
                        <a:t>inverts</a:t>
                      </a:r>
                      <a:r>
                        <a:rPr lang="ta-IN">
                          <a:latin typeface="Times New Roman" panose="02020603050405020304" pitchFamily="18" charset="0"/>
                        </a:rPr>
                        <a:t> the truth value.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dirty="0">
                          <a:latin typeface="Times New Roman" panose="02020603050405020304" pitchFamily="18" charset="0"/>
                        </a:rPr>
                        <a:t>!(5 &gt; 3) →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6804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61893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D7FBD-793A-4AA2-D9D6-1013C38B1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 err="1"/>
              <a:t>Short-Circuit</a:t>
            </a:r>
            <a:r>
              <a:rPr lang="ta-IN" dirty="0"/>
              <a:t> </a:t>
            </a:r>
            <a:r>
              <a:rPr lang="ta-IN" dirty="0" err="1"/>
              <a:t>Evaluation</a:t>
            </a:r>
            <a:endParaRPr lang="ta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0FA32-C5BB-A139-1DB5-2C036F709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a-IN" b="1" dirty="0" err="1">
                <a:latin typeface="Times New Roman" panose="02020603050405020304" pitchFamily="18" charset="0"/>
              </a:rPr>
              <a:t>For</a:t>
            </a:r>
            <a:r>
              <a:rPr lang="ta-IN" b="1" dirty="0">
                <a:latin typeface="Times New Roman" panose="02020603050405020304" pitchFamily="18" charset="0"/>
              </a:rPr>
              <a:t> &amp;&amp; (AND):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If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first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operand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evaluates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to</a:t>
            </a:r>
            <a:r>
              <a:rPr lang="ta-IN" dirty="0">
                <a:latin typeface="Times New Roman" panose="02020603050405020304" pitchFamily="18" charset="0"/>
              </a:rPr>
              <a:t> 0 (</a:t>
            </a:r>
            <a:r>
              <a:rPr lang="ta-IN" dirty="0" err="1">
                <a:latin typeface="Times New Roman" panose="02020603050405020304" pitchFamily="18" charset="0"/>
              </a:rPr>
              <a:t>false</a:t>
            </a:r>
            <a:r>
              <a:rPr lang="ta-IN" dirty="0">
                <a:latin typeface="Times New Roman" panose="02020603050405020304" pitchFamily="18" charset="0"/>
              </a:rPr>
              <a:t>),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entire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expression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must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be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false</a:t>
            </a:r>
            <a:r>
              <a:rPr lang="ta-IN" dirty="0">
                <a:latin typeface="Times New Roman" panose="02020603050405020304" pitchFamily="18" charset="0"/>
              </a:rPr>
              <a:t>. </a:t>
            </a:r>
            <a:r>
              <a:rPr lang="ta-IN" dirty="0" err="1">
                <a:latin typeface="Times New Roman" panose="02020603050405020304" pitchFamily="18" charset="0"/>
              </a:rPr>
              <a:t>Therefore</a:t>
            </a:r>
            <a:r>
              <a:rPr lang="ta-IN" dirty="0">
                <a:latin typeface="Times New Roman" panose="02020603050405020304" pitchFamily="18" charset="0"/>
              </a:rPr>
              <a:t>,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second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operand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never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evaluated</a:t>
            </a:r>
            <a:r>
              <a:rPr lang="ta-IN" dirty="0">
                <a:latin typeface="Times New Roman" panose="02020603050405020304" pitchFamily="18" charset="0"/>
              </a:rPr>
              <a:t>. </a:t>
            </a:r>
          </a:p>
          <a:p>
            <a:pPr lvl="0"/>
            <a:r>
              <a:rPr lang="ta-IN" b="1" dirty="0" err="1">
                <a:latin typeface="Times New Roman" panose="02020603050405020304" pitchFamily="18" charset="0"/>
              </a:rPr>
              <a:t>For</a:t>
            </a:r>
            <a:r>
              <a:rPr lang="ta-IN" b="1" dirty="0">
                <a:latin typeface="Times New Roman" panose="02020603050405020304" pitchFamily="18" charset="0"/>
              </a:rPr>
              <a:t> || (OR):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If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first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operand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evaluates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to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non-zero</a:t>
            </a:r>
            <a:r>
              <a:rPr lang="ta-IN" dirty="0">
                <a:latin typeface="Times New Roman" panose="02020603050405020304" pitchFamily="18" charset="0"/>
              </a:rPr>
              <a:t> (</a:t>
            </a:r>
            <a:r>
              <a:rPr lang="ta-IN" dirty="0" err="1">
                <a:latin typeface="Times New Roman" panose="02020603050405020304" pitchFamily="18" charset="0"/>
              </a:rPr>
              <a:t>true</a:t>
            </a:r>
            <a:r>
              <a:rPr lang="ta-IN" dirty="0">
                <a:latin typeface="Times New Roman" panose="02020603050405020304" pitchFamily="18" charset="0"/>
              </a:rPr>
              <a:t>),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entire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expression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must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be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true</a:t>
            </a:r>
            <a:r>
              <a:rPr lang="ta-IN" dirty="0">
                <a:latin typeface="Times New Roman" panose="02020603050405020304" pitchFamily="18" charset="0"/>
              </a:rPr>
              <a:t>. </a:t>
            </a:r>
            <a:r>
              <a:rPr lang="ta-IN" dirty="0" err="1">
                <a:latin typeface="Times New Roman" panose="02020603050405020304" pitchFamily="18" charset="0"/>
              </a:rPr>
              <a:t>Therefore</a:t>
            </a:r>
            <a:r>
              <a:rPr lang="ta-IN" dirty="0">
                <a:latin typeface="Times New Roman" panose="02020603050405020304" pitchFamily="18" charset="0"/>
              </a:rPr>
              <a:t>, </a:t>
            </a:r>
            <a:r>
              <a:rPr lang="ta-IN" dirty="0" err="1">
                <a:latin typeface="Times New Roman" panose="02020603050405020304" pitchFamily="18" charset="0"/>
              </a:rPr>
              <a:t>the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second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operand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skipped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entirely</a:t>
            </a:r>
            <a:endParaRPr lang="ta-IN" dirty="0">
              <a:latin typeface="Times New Roman" panose="02020603050405020304" pitchFamily="18" charset="0"/>
            </a:endParaRPr>
          </a:p>
          <a:p>
            <a:endParaRPr lang="ta-I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13717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0018E-9004-5210-3320-98935252E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Boolean Expression?</a:t>
            </a:r>
            <a:br>
              <a:rPr lang="en-US" dirty="0"/>
            </a:br>
            <a:endParaRPr lang="ta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FDE5B-F761-9738-6D5B-87C1D43A7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242953"/>
            <a:ext cx="10287000" cy="3890965"/>
          </a:xfrm>
        </p:spPr>
        <p:txBody>
          <a:bodyPr/>
          <a:lstStyle/>
          <a:p>
            <a:r>
              <a:rPr lang="en-US" dirty="0">
                <a:solidFill>
                  <a:srgbClr val="44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Boolean expression is any expression that is evaluated as true or false</a:t>
            </a:r>
            <a:endParaRPr lang="en-US" dirty="0"/>
          </a:p>
          <a:p>
            <a:endParaRPr lang="ta-IN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D85085A-5E51-7171-9369-2E2A211065B1}"/>
              </a:ext>
            </a:extLst>
          </p:cNvPr>
          <p:cNvSpPr/>
          <p:nvPr/>
        </p:nvSpPr>
        <p:spPr>
          <a:xfrm>
            <a:off x="952500" y="2930505"/>
            <a:ext cx="1920240" cy="713232"/>
          </a:xfrm>
          <a:prstGeom prst="rect">
            <a:avLst/>
          </a:prstGeom>
          <a:solidFill>
            <a:srgbClr val="DDFBF0"/>
          </a:solidFill>
          <a:ln w="12700">
            <a:solidFill>
              <a:srgbClr val="7FE7C4">
                <a:alpha val="8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Expression</a:t>
            </a:r>
            <a:endParaRPr lang="en-US" sz="18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69E0A88-D4DD-E16B-ECB1-2EAD52A65240}"/>
              </a:ext>
            </a:extLst>
          </p:cNvPr>
          <p:cNvSpPr/>
          <p:nvPr/>
        </p:nvSpPr>
        <p:spPr>
          <a:xfrm>
            <a:off x="3197450" y="3108960"/>
            <a:ext cx="256032" cy="320040"/>
          </a:xfrm>
          <a:prstGeom prst="chevron">
            <a:avLst/>
          </a:prstGeom>
          <a:solidFill>
            <a:srgbClr val="0A9F75"/>
          </a:solidFill>
          <a:ln w="12700">
            <a:solidFill>
              <a:srgbClr val="0A9F75"/>
            </a:solidFill>
            <a:prstDash val="solid"/>
          </a:ln>
        </p:spPr>
        <p:txBody>
          <a:bodyPr/>
          <a:lstStyle/>
          <a:p>
            <a:endParaRPr lang="ta-IN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54582419-3907-FE3A-9DFE-0D488A8FEDDF}"/>
              </a:ext>
            </a:extLst>
          </p:cNvPr>
          <p:cNvSpPr/>
          <p:nvPr/>
        </p:nvSpPr>
        <p:spPr>
          <a:xfrm>
            <a:off x="3654158" y="2706624"/>
            <a:ext cx="2304189" cy="1124712"/>
          </a:xfrm>
          <a:prstGeom prst="diamond">
            <a:avLst/>
          </a:prstGeom>
          <a:solidFill>
            <a:srgbClr val="FFF23A"/>
          </a:solidFill>
          <a:ln w="12700">
            <a:solidFill>
              <a:srgbClr val="B9A900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dirty="0"/>
          </a:p>
          <a:p>
            <a:endParaRPr lang="ta-IN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1BDFC27B-AFFA-D449-8E8E-7A842D17A525}"/>
              </a:ext>
            </a:extLst>
          </p:cNvPr>
          <p:cNvSpPr/>
          <p:nvPr/>
        </p:nvSpPr>
        <p:spPr>
          <a:xfrm>
            <a:off x="6062472" y="3105245"/>
            <a:ext cx="256032" cy="320040"/>
          </a:xfrm>
          <a:prstGeom prst="chevron">
            <a:avLst/>
          </a:prstGeom>
          <a:solidFill>
            <a:srgbClr val="0A9F75"/>
          </a:solidFill>
          <a:ln w="12700">
            <a:solidFill>
              <a:srgbClr val="0A9F75"/>
            </a:solidFill>
            <a:prstDash val="solid"/>
          </a:ln>
        </p:spPr>
        <p:txBody>
          <a:bodyPr/>
          <a:lstStyle/>
          <a:p>
            <a:endParaRPr lang="ta-IN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940413B6-E524-932A-3C6B-99A182FACBE4}"/>
              </a:ext>
            </a:extLst>
          </p:cNvPr>
          <p:cNvSpPr/>
          <p:nvPr/>
        </p:nvSpPr>
        <p:spPr>
          <a:xfrm>
            <a:off x="6656832" y="2821781"/>
            <a:ext cx="1920240" cy="914400"/>
          </a:xfrm>
          <a:prstGeom prst="rect">
            <a:avLst/>
          </a:prstGeom>
          <a:solidFill>
            <a:srgbClr val="DDFBF0"/>
          </a:solidFill>
          <a:ln w="12700">
            <a:solidFill>
              <a:srgbClr val="7FE7C4">
                <a:alpha val="8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non-zero</a:t>
            </a:r>
            <a:endParaRPr lang="en-US" sz="16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4C45EA09-5C82-5209-7785-A04FDA237D5C}"/>
              </a:ext>
            </a:extLst>
          </p:cNvPr>
          <p:cNvSpPr/>
          <p:nvPr/>
        </p:nvSpPr>
        <p:spPr>
          <a:xfrm>
            <a:off x="3862895" y="4383418"/>
            <a:ext cx="1920240" cy="914400"/>
          </a:xfrm>
          <a:prstGeom prst="rect">
            <a:avLst/>
          </a:prstGeom>
          <a:solidFill>
            <a:srgbClr val="FFF0DA"/>
          </a:solidFill>
          <a:ln w="12700">
            <a:solidFill>
              <a:srgbClr val="7FE7C4">
                <a:alpha val="8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</a:t>
            </a:r>
            <a:endParaRPr lang="en-US" sz="1600" dirty="0"/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A34E0028-3AA4-5E7B-3A55-320298FE55C2}"/>
              </a:ext>
            </a:extLst>
          </p:cNvPr>
          <p:cNvSpPr/>
          <p:nvPr/>
        </p:nvSpPr>
        <p:spPr>
          <a:xfrm rot="5400000">
            <a:off x="4580699" y="3865061"/>
            <a:ext cx="484632" cy="484632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a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68507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1E7E-FC60-7616-3FE1-5DF0791DE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Using Boolean Expressions in if Statements</a:t>
            </a:r>
            <a:br>
              <a:rPr lang="en-US" dirty="0"/>
            </a:br>
            <a:endParaRPr lang="ta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F1F4F-4F58-E5E4-D77F-C3022C865E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if (</a:t>
            </a:r>
            <a:r>
              <a:rPr lang="en-US" dirty="0" err="1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boolean_expression</a:t>
            </a: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) {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// runs when expression is true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} else {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  // runs when expression is false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}</a:t>
            </a:r>
            <a:endParaRPr lang="ta-IN" dirty="0">
              <a:latin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59F57-E658-2302-8905-AF31BEC683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(temperature &gt; 38.0)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b="1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("High fever");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b="1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("Normal or mild");</a:t>
            </a:r>
            <a:endParaRPr lang="en-US" b="1" dirty="0"/>
          </a:p>
          <a:p>
            <a:endParaRPr lang="ta-IN" b="1" dirty="0"/>
          </a:p>
        </p:txBody>
      </p:sp>
    </p:spTree>
    <p:extLst>
      <p:ext uri="{BB962C8B-B14F-4D97-AF65-F5344CB8AC3E}">
        <p14:creationId xmlns:p14="http://schemas.microsoft.com/office/powerpoint/2010/main" val="204959061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2220EC-4E48-0384-C5A6-1C6327364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Question:e</a:t>
            </a:r>
            <a:r>
              <a:rPr lang="ta-IN" dirty="0" err="1"/>
              <a:t>valuate</a:t>
            </a:r>
            <a:r>
              <a:rPr lang="ta-IN" dirty="0"/>
              <a:t> </a:t>
            </a:r>
            <a:r>
              <a:rPr lang="ta-IN" dirty="0" err="1"/>
              <a:t>and</a:t>
            </a:r>
            <a:r>
              <a:rPr lang="ta-IN" dirty="0"/>
              <a:t> </a:t>
            </a:r>
            <a:r>
              <a:rPr lang="ta-IN" dirty="0" err="1"/>
              <a:t>use</a:t>
            </a:r>
            <a:r>
              <a:rPr lang="ta-IN" dirty="0"/>
              <a:t> </a:t>
            </a:r>
            <a:r>
              <a:rPr lang="ta-IN" dirty="0" err="1"/>
              <a:t>Boolean</a:t>
            </a:r>
            <a:r>
              <a:rPr lang="ta-IN" dirty="0"/>
              <a:t> </a:t>
            </a:r>
            <a:r>
              <a:rPr lang="ta-IN" dirty="0" err="1"/>
              <a:t>expressions</a:t>
            </a:r>
            <a:r>
              <a:rPr lang="ta-IN" dirty="0"/>
              <a:t> </a:t>
            </a:r>
            <a:r>
              <a:rPr lang="ta-IN" dirty="0" err="1"/>
              <a:t>for</a:t>
            </a:r>
            <a:r>
              <a:rPr lang="ta-IN" dirty="0"/>
              <a:t> </a:t>
            </a:r>
            <a:r>
              <a:rPr lang="ta-IN" dirty="0" err="1"/>
              <a:t>decision-making</a:t>
            </a:r>
            <a:r>
              <a:rPr lang="ta-IN" dirty="0"/>
              <a:t> </a:t>
            </a:r>
            <a:r>
              <a:rPr lang="ta-IN" dirty="0" err="1"/>
              <a:t>in</a:t>
            </a:r>
            <a:r>
              <a:rPr lang="ta-IN" dirty="0"/>
              <a:t> C”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DEFEC5-920D-07C9-4ED8-527263C3D0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2500" y="2045110"/>
            <a:ext cx="5067300" cy="413185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 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program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that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checks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whether</a:t>
            </a:r>
            <a:r>
              <a:rPr lang="ta-IN" dirty="0">
                <a:latin typeface="Times New Roman" panose="02020603050405020304" pitchFamily="18" charset="0"/>
              </a:rPr>
              <a:t> a </a:t>
            </a:r>
            <a:r>
              <a:rPr lang="ta-IN" dirty="0" err="1">
                <a:latin typeface="Times New Roman" panose="02020603050405020304" pitchFamily="18" charset="0"/>
              </a:rPr>
              <a:t>student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is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eligible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to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write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an</a:t>
            </a:r>
            <a:r>
              <a:rPr lang="ta-IN" dirty="0">
                <a:latin typeface="Times New Roman" panose="02020603050405020304" pitchFamily="18" charset="0"/>
              </a:rPr>
              <a:t> </a:t>
            </a:r>
            <a:r>
              <a:rPr lang="ta-IN" dirty="0" err="1">
                <a:latin typeface="Times New Roman" panose="02020603050405020304" pitchFamily="18" charset="0"/>
              </a:rPr>
              <a:t>exa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attendance;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internalMark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attendance percentage: ");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&amp;attendance);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internal mark: ");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internalMark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ta-IN" dirty="0">
              <a:latin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E6CFE7-2AE8-8919-289D-CAFFA4BFC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5155" y="3269227"/>
            <a:ext cx="5067300" cy="30430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(attendance &gt;= 75 &amp;&amp;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internalMark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&gt;= 40) {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("Student is eligible for the exam.\n");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 else {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("Student is not eligible for the exam.\n");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ta-I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18666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3ABA3-5C0A-E2EA-4AA3-A6DFA0F40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159DAC-BA1B-A72F-CBF7-214779D2EAC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604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BF907E-DF49-DC77-04A7-5E34BC1E7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4445"/>
            <a:ext cx="7355457" cy="1560167"/>
          </a:xfrm>
        </p:spPr>
        <p:txBody>
          <a:bodyPr>
            <a:normAutofit/>
          </a:bodyPr>
          <a:lstStyle/>
          <a:p>
            <a:r>
              <a:rPr lang="en-IN" spc="0" dirty="0"/>
              <a:t>26CSE1002J - Programming for Problem Solving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9E7C0-278E-A44A-116A-14A51189E7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40827"/>
            <a:ext cx="9974580" cy="140167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</a:pPr>
            <a:r>
              <a:rPr lang="en-IN" sz="2800" b="1" cap="all" dirty="0">
                <a:latin typeface="+mj-lt"/>
                <a:ea typeface="+mj-ea"/>
                <a:cs typeface="+mj-cs"/>
              </a:rPr>
              <a:t>Unit 1</a:t>
            </a:r>
          </a:p>
          <a:p>
            <a:pPr>
              <a:lnSpc>
                <a:spcPct val="110000"/>
              </a:lnSpc>
            </a:pPr>
            <a:r>
              <a:rPr lang="en-IN" sz="2800" b="1" cap="all" dirty="0">
                <a:latin typeface="+mj-lt"/>
                <a:ea typeface="+mj-ea"/>
                <a:cs typeface="+mj-cs"/>
              </a:rPr>
              <a:t>Session: 7</a:t>
            </a:r>
          </a:p>
          <a:p>
            <a:r>
              <a:rPr lang="en-IN" sz="2800" b="1" cap="all" dirty="0">
                <a:latin typeface="+mj-lt"/>
                <a:ea typeface="+mj-ea"/>
                <a:cs typeface="+mj-cs"/>
              </a:rPr>
              <a:t>SLO :</a:t>
            </a:r>
            <a:r>
              <a:rPr lang="en-IN" sz="2900" b="1" cap="all" dirty="0">
                <a:latin typeface="+mj-lt"/>
                <a:ea typeface="+mj-ea"/>
                <a:cs typeface="+mj-cs"/>
              </a:rPr>
              <a:t>Guided Practice: </a:t>
            </a:r>
            <a:r>
              <a:rPr lang="en-US" sz="2900" b="1" cap="all" dirty="0">
                <a:latin typeface="+mj-lt"/>
                <a:ea typeface="+mj-ea"/>
                <a:cs typeface="+mj-cs"/>
              </a:rPr>
              <a:t>Learn to form and combine conditions using relational operators and validate inputs through range checks and basic data constraints.</a:t>
            </a:r>
            <a:endParaRPr lang="en-IN" sz="2900" b="1" cap="all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8556261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0CDD1-F222-400D-E6EF-7FFDCE523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 err="1"/>
              <a:t>Range</a:t>
            </a:r>
            <a:r>
              <a:rPr lang="ta-IN" dirty="0"/>
              <a:t> </a:t>
            </a:r>
            <a:r>
              <a:rPr lang="ta-IN" dirty="0" err="1"/>
              <a:t>Checking</a:t>
            </a:r>
            <a:endParaRPr lang="ta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8028F-9D48-21FF-008C-C3A534967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a-IN" dirty="0"/>
              <a:t>A </a:t>
            </a:r>
            <a:r>
              <a:rPr lang="ta-IN" b="1" dirty="0" err="1"/>
              <a:t>range</a:t>
            </a:r>
            <a:r>
              <a:rPr lang="ta-IN" b="1" dirty="0"/>
              <a:t> </a:t>
            </a:r>
            <a:r>
              <a:rPr lang="ta-IN" b="1" dirty="0" err="1"/>
              <a:t>check</a:t>
            </a:r>
            <a:r>
              <a:rPr lang="ta-IN" dirty="0"/>
              <a:t> </a:t>
            </a:r>
            <a:r>
              <a:rPr lang="ta-IN" dirty="0" err="1"/>
              <a:t>determines</a:t>
            </a:r>
            <a:r>
              <a:rPr lang="ta-IN" dirty="0"/>
              <a:t> </a:t>
            </a:r>
            <a:r>
              <a:rPr lang="ta-IN" dirty="0" err="1"/>
              <a:t>whether</a:t>
            </a:r>
            <a:r>
              <a:rPr lang="ta-IN" dirty="0"/>
              <a:t> a </a:t>
            </a:r>
            <a:r>
              <a:rPr lang="ta-IN" dirty="0" err="1"/>
              <a:t>value</a:t>
            </a:r>
            <a:r>
              <a:rPr lang="ta-IN" dirty="0"/>
              <a:t> </a:t>
            </a:r>
            <a:r>
              <a:rPr lang="ta-IN" dirty="0" err="1"/>
              <a:t>lies</a:t>
            </a:r>
            <a:r>
              <a:rPr lang="ta-IN" dirty="0"/>
              <a:t> </a:t>
            </a:r>
            <a:r>
              <a:rPr lang="ta-IN" dirty="0" err="1"/>
              <a:t>between</a:t>
            </a:r>
            <a:r>
              <a:rPr lang="ta-IN" dirty="0"/>
              <a:t> </a:t>
            </a:r>
            <a:r>
              <a:rPr lang="ta-IN" dirty="0" err="1"/>
              <a:t>specified</a:t>
            </a:r>
            <a:r>
              <a:rPr lang="ta-IN" dirty="0"/>
              <a:t> </a:t>
            </a:r>
            <a:r>
              <a:rPr lang="ta-IN" dirty="0" err="1"/>
              <a:t>minimum</a:t>
            </a:r>
            <a:r>
              <a:rPr lang="ta-IN" dirty="0"/>
              <a:t> </a:t>
            </a:r>
            <a:r>
              <a:rPr lang="ta-IN" dirty="0" err="1"/>
              <a:t>and</a:t>
            </a:r>
            <a:r>
              <a:rPr lang="ta-IN" dirty="0"/>
              <a:t> </a:t>
            </a:r>
            <a:r>
              <a:rPr lang="ta-IN" dirty="0" err="1"/>
              <a:t>maximum</a:t>
            </a:r>
            <a:r>
              <a:rPr lang="ta-IN" dirty="0"/>
              <a:t> </a:t>
            </a:r>
            <a:r>
              <a:rPr lang="ta-IN" dirty="0" err="1"/>
              <a:t>values</a:t>
            </a:r>
            <a:r>
              <a:rPr lang="ta-IN" dirty="0"/>
              <a:t>.</a:t>
            </a:r>
          </a:p>
          <a:p>
            <a:r>
              <a:rPr lang="ta-IN" dirty="0" err="1"/>
              <a:t>This</a:t>
            </a:r>
            <a:r>
              <a:rPr lang="ta-IN" dirty="0"/>
              <a:t> </a:t>
            </a:r>
            <a:r>
              <a:rPr lang="ta-IN" dirty="0" err="1"/>
              <a:t>is</a:t>
            </a:r>
            <a:r>
              <a:rPr lang="ta-IN" dirty="0"/>
              <a:t> </a:t>
            </a:r>
            <a:r>
              <a:rPr lang="ta-IN" dirty="0" err="1"/>
              <a:t>one</a:t>
            </a:r>
            <a:r>
              <a:rPr lang="ta-IN" dirty="0"/>
              <a:t> </a:t>
            </a:r>
            <a:r>
              <a:rPr lang="ta-IN" dirty="0" err="1"/>
              <a:t>of</a:t>
            </a:r>
            <a:r>
              <a:rPr lang="ta-IN" dirty="0"/>
              <a:t> </a:t>
            </a:r>
            <a:r>
              <a:rPr lang="ta-IN" dirty="0" err="1"/>
              <a:t>the</a:t>
            </a:r>
            <a:r>
              <a:rPr lang="ta-IN" dirty="0"/>
              <a:t> </a:t>
            </a:r>
            <a:r>
              <a:rPr lang="ta-IN" dirty="0" err="1"/>
              <a:t>most</a:t>
            </a:r>
            <a:r>
              <a:rPr lang="ta-IN" dirty="0"/>
              <a:t> </a:t>
            </a:r>
            <a:r>
              <a:rPr lang="ta-IN" dirty="0" err="1"/>
              <a:t>useful</a:t>
            </a:r>
            <a:r>
              <a:rPr lang="ta-IN" dirty="0"/>
              <a:t> </a:t>
            </a:r>
            <a:r>
              <a:rPr lang="ta-IN" dirty="0" err="1"/>
              <a:t>applications</a:t>
            </a:r>
            <a:r>
              <a:rPr lang="ta-IN" dirty="0"/>
              <a:t> </a:t>
            </a:r>
            <a:r>
              <a:rPr lang="ta-IN" dirty="0" err="1"/>
              <a:t>of</a:t>
            </a:r>
            <a:r>
              <a:rPr lang="ta-IN" dirty="0"/>
              <a:t> </a:t>
            </a:r>
            <a:r>
              <a:rPr lang="ta-IN" dirty="0" err="1"/>
              <a:t>logical</a:t>
            </a:r>
            <a:r>
              <a:rPr lang="ta-IN" dirty="0"/>
              <a:t> </a:t>
            </a:r>
            <a:r>
              <a:rPr lang="ta-IN" dirty="0" err="1"/>
              <a:t>expressions</a:t>
            </a:r>
            <a:r>
              <a:rPr lang="ta-IN" dirty="0"/>
              <a:t>.</a:t>
            </a:r>
          </a:p>
          <a:p>
            <a:r>
              <a:rPr lang="ta-IN" b="1" dirty="0" err="1"/>
              <a:t>General</a:t>
            </a:r>
            <a:r>
              <a:rPr lang="ta-IN" b="1" dirty="0"/>
              <a:t> </a:t>
            </a:r>
            <a:r>
              <a:rPr lang="ta-IN" b="1" dirty="0" err="1"/>
              <a:t>form</a:t>
            </a:r>
            <a:endParaRPr lang="ta-IN" b="1" dirty="0"/>
          </a:p>
          <a:p>
            <a:r>
              <a:rPr lang="ta-IN" dirty="0" err="1"/>
              <a:t>value</a:t>
            </a:r>
            <a:r>
              <a:rPr lang="ta-IN" dirty="0"/>
              <a:t> &gt;= </a:t>
            </a:r>
            <a:r>
              <a:rPr lang="ta-IN" dirty="0" err="1"/>
              <a:t>minimum</a:t>
            </a:r>
            <a:r>
              <a:rPr lang="ta-IN" dirty="0"/>
              <a:t> &amp;&amp; </a:t>
            </a:r>
            <a:r>
              <a:rPr lang="ta-IN" dirty="0" err="1"/>
              <a:t>value</a:t>
            </a:r>
            <a:r>
              <a:rPr lang="ta-IN" dirty="0"/>
              <a:t> &lt;= </a:t>
            </a:r>
            <a:r>
              <a:rPr lang="ta-IN" dirty="0" err="1"/>
              <a:t>maximum</a:t>
            </a:r>
            <a:endParaRPr lang="ta-IN" dirty="0"/>
          </a:p>
          <a:p>
            <a:r>
              <a:rPr lang="ta-IN" dirty="0" err="1"/>
              <a:t>For</a:t>
            </a:r>
            <a:r>
              <a:rPr lang="ta-IN" dirty="0"/>
              <a:t> </a:t>
            </a:r>
            <a:r>
              <a:rPr lang="ta-IN" dirty="0" err="1"/>
              <a:t>example</a:t>
            </a:r>
            <a:r>
              <a:rPr lang="ta-IN" dirty="0"/>
              <a:t>:</a:t>
            </a:r>
          </a:p>
          <a:p>
            <a:r>
              <a:rPr lang="ta-IN" dirty="0" err="1"/>
              <a:t>marks</a:t>
            </a:r>
            <a:r>
              <a:rPr lang="ta-IN" dirty="0"/>
              <a:t> &gt;= 0 &amp;&amp; </a:t>
            </a:r>
            <a:r>
              <a:rPr lang="ta-IN" dirty="0" err="1"/>
              <a:t>marks</a:t>
            </a:r>
            <a:r>
              <a:rPr lang="ta-IN" dirty="0"/>
              <a:t> &lt;= 100</a:t>
            </a:r>
          </a:p>
          <a:p>
            <a:r>
              <a:rPr lang="ta-IN" dirty="0" err="1"/>
              <a:t>means</a:t>
            </a:r>
            <a:r>
              <a:rPr lang="ta-IN" dirty="0"/>
              <a:t>:</a:t>
            </a:r>
          </a:p>
          <a:p>
            <a:r>
              <a:rPr lang="ta-IN" dirty="0"/>
              <a:t>0 ≤ </a:t>
            </a:r>
            <a:r>
              <a:rPr lang="ta-IN" dirty="0" err="1"/>
              <a:t>marks</a:t>
            </a:r>
            <a:r>
              <a:rPr lang="ta-IN" dirty="0"/>
              <a:t> ≤ 100</a:t>
            </a:r>
          </a:p>
          <a:p>
            <a:endParaRPr lang="ta-IN" dirty="0"/>
          </a:p>
        </p:txBody>
      </p:sp>
    </p:spTree>
    <p:extLst>
      <p:ext uri="{BB962C8B-B14F-4D97-AF65-F5344CB8AC3E}">
        <p14:creationId xmlns:p14="http://schemas.microsoft.com/office/powerpoint/2010/main" val="106602038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6E019-5ED9-C782-3A24-96FA912FA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 </a:t>
            </a:r>
            <a:r>
              <a:rPr lang="ta-IN" dirty="0" err="1"/>
              <a:t>Range</a:t>
            </a:r>
            <a:r>
              <a:rPr lang="ta-IN" dirty="0"/>
              <a:t> </a:t>
            </a:r>
            <a:r>
              <a:rPr lang="ta-IN" dirty="0" err="1"/>
              <a:t>Check</a:t>
            </a:r>
            <a:endParaRPr lang="ta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FEBD9-D14B-1C21-0F69-93705E6603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ta-IN" dirty="0" err="1"/>
              <a:t>Inclusive</a:t>
            </a:r>
            <a:r>
              <a:rPr lang="ta-IN" dirty="0"/>
              <a:t> </a:t>
            </a:r>
            <a:r>
              <a:rPr lang="ta-IN" dirty="0" err="1"/>
              <a:t>means</a:t>
            </a:r>
            <a:r>
              <a:rPr lang="ta-IN" dirty="0"/>
              <a:t> </a:t>
            </a:r>
            <a:r>
              <a:rPr lang="ta-IN" dirty="0" err="1"/>
              <a:t>the</a:t>
            </a:r>
            <a:r>
              <a:rPr lang="ta-IN" dirty="0"/>
              <a:t> </a:t>
            </a:r>
            <a:r>
              <a:rPr lang="ta-IN" dirty="0" err="1"/>
              <a:t>boundary</a:t>
            </a:r>
            <a:r>
              <a:rPr lang="ta-IN" dirty="0"/>
              <a:t> </a:t>
            </a:r>
            <a:r>
              <a:rPr lang="ta-IN" dirty="0" err="1"/>
              <a:t>values</a:t>
            </a:r>
            <a:r>
              <a:rPr lang="ta-IN" dirty="0"/>
              <a:t> </a:t>
            </a:r>
            <a:r>
              <a:rPr lang="ta-IN" dirty="0" err="1"/>
              <a:t>are</a:t>
            </a:r>
            <a:r>
              <a:rPr lang="ta-IN" dirty="0"/>
              <a:t> </a:t>
            </a:r>
            <a:r>
              <a:rPr lang="ta-IN" dirty="0" err="1"/>
              <a:t>accepted</a:t>
            </a:r>
            <a:r>
              <a:rPr lang="ta-IN" dirty="0"/>
              <a:t>.</a:t>
            </a:r>
          </a:p>
          <a:p>
            <a:r>
              <a:rPr lang="ta-IN" dirty="0" err="1"/>
              <a:t>Example</a:t>
            </a:r>
            <a:r>
              <a:rPr lang="ta-IN" dirty="0"/>
              <a:t>:</a:t>
            </a:r>
          </a:p>
          <a:p>
            <a:pPr marL="0" indent="0">
              <a:buNone/>
            </a:pPr>
            <a:r>
              <a:rPr lang="ta-IN" b="1" dirty="0" err="1"/>
              <a:t>marks</a:t>
            </a:r>
            <a:r>
              <a:rPr lang="ta-IN" b="1" dirty="0"/>
              <a:t> &gt;= 0 &amp;&amp; </a:t>
            </a:r>
            <a:r>
              <a:rPr lang="ta-IN" b="1" dirty="0" err="1"/>
              <a:t>marks</a:t>
            </a:r>
            <a:r>
              <a:rPr lang="ta-IN" b="1" dirty="0"/>
              <a:t> &lt;= 100</a:t>
            </a:r>
            <a:endParaRPr lang="en-IN" b="1" dirty="0"/>
          </a:p>
          <a:p>
            <a:r>
              <a:rPr lang="ta-IN" dirty="0" err="1"/>
              <a:t>Exclusive</a:t>
            </a:r>
            <a:r>
              <a:rPr lang="ta-IN" dirty="0"/>
              <a:t> </a:t>
            </a:r>
            <a:r>
              <a:rPr lang="ta-IN" dirty="0" err="1"/>
              <a:t>Range</a:t>
            </a:r>
            <a:r>
              <a:rPr lang="ta-IN" dirty="0"/>
              <a:t> </a:t>
            </a:r>
            <a:r>
              <a:rPr lang="ta-IN" dirty="0" err="1"/>
              <a:t>Check</a:t>
            </a:r>
            <a:r>
              <a:rPr lang="en-IN" dirty="0"/>
              <a:t>: </a:t>
            </a:r>
            <a:r>
              <a:rPr lang="ta-IN" dirty="0" err="1"/>
              <a:t>Suppose</a:t>
            </a:r>
            <a:r>
              <a:rPr lang="ta-IN" dirty="0"/>
              <a:t> </a:t>
            </a:r>
            <a:r>
              <a:rPr lang="ta-IN" dirty="0" err="1"/>
              <a:t>the</a:t>
            </a:r>
            <a:r>
              <a:rPr lang="ta-IN" dirty="0"/>
              <a:t> </a:t>
            </a:r>
            <a:r>
              <a:rPr lang="ta-IN" dirty="0" err="1"/>
              <a:t>endpoints</a:t>
            </a:r>
            <a:r>
              <a:rPr lang="ta-IN" dirty="0"/>
              <a:t> </a:t>
            </a:r>
            <a:r>
              <a:rPr lang="ta-IN" dirty="0" err="1"/>
              <a:t>are</a:t>
            </a:r>
            <a:r>
              <a:rPr lang="ta-IN" dirty="0"/>
              <a:t> </a:t>
            </a:r>
            <a:r>
              <a:rPr lang="ta-IN" dirty="0" err="1"/>
              <a:t>not</a:t>
            </a:r>
            <a:r>
              <a:rPr lang="ta-IN" dirty="0"/>
              <a:t> </a:t>
            </a:r>
            <a:r>
              <a:rPr lang="ta-IN" dirty="0" err="1"/>
              <a:t>allowed</a:t>
            </a:r>
            <a:r>
              <a:rPr lang="ta-IN" dirty="0"/>
              <a:t>.</a:t>
            </a:r>
            <a:endParaRPr lang="en-IN" dirty="0"/>
          </a:p>
          <a:p>
            <a:pPr marL="0" indent="0">
              <a:buNone/>
            </a:pPr>
            <a:r>
              <a:rPr lang="en-IN" b="1" dirty="0" err="1"/>
              <a:t>in_range</a:t>
            </a:r>
            <a:r>
              <a:rPr lang="en-IN" b="1" dirty="0"/>
              <a:t> = (n &gt; -10 &amp;&amp; n &lt; 10);</a:t>
            </a:r>
          </a:p>
          <a:p>
            <a:r>
              <a:rPr lang="ta-IN" b="1" dirty="0" err="1"/>
              <a:t>Checking</a:t>
            </a:r>
            <a:r>
              <a:rPr lang="ta-IN" b="1" dirty="0"/>
              <a:t> </a:t>
            </a:r>
            <a:r>
              <a:rPr lang="ta-IN" b="1" dirty="0" err="1"/>
              <a:t>Whether</a:t>
            </a:r>
            <a:r>
              <a:rPr lang="ta-IN" b="1" dirty="0"/>
              <a:t> a </a:t>
            </a:r>
            <a:r>
              <a:rPr lang="ta-IN" b="1" dirty="0" err="1"/>
              <a:t>Value</a:t>
            </a:r>
            <a:r>
              <a:rPr lang="ta-IN" b="1" dirty="0"/>
              <a:t> </a:t>
            </a:r>
            <a:r>
              <a:rPr lang="ta-IN" b="1" dirty="0" err="1"/>
              <a:t>is</a:t>
            </a:r>
            <a:r>
              <a:rPr lang="ta-IN" b="1" dirty="0"/>
              <a:t> </a:t>
            </a:r>
            <a:r>
              <a:rPr lang="ta-IN" b="1" dirty="0" err="1"/>
              <a:t>Outside</a:t>
            </a:r>
            <a:r>
              <a:rPr lang="ta-IN" b="1" dirty="0"/>
              <a:t> a </a:t>
            </a:r>
            <a:r>
              <a:rPr lang="ta-IN" b="1" dirty="0" err="1"/>
              <a:t>Range</a:t>
            </a:r>
            <a:endParaRPr lang="ta-IN" b="1" dirty="0"/>
          </a:p>
          <a:p>
            <a:r>
              <a:rPr lang="ta-IN" dirty="0" err="1"/>
              <a:t>marks</a:t>
            </a:r>
            <a:r>
              <a:rPr lang="ta-IN" dirty="0"/>
              <a:t> </a:t>
            </a:r>
            <a:r>
              <a:rPr lang="ta-IN" dirty="0" err="1"/>
              <a:t>are</a:t>
            </a:r>
            <a:r>
              <a:rPr lang="ta-IN" dirty="0"/>
              <a:t> </a:t>
            </a:r>
            <a:r>
              <a:rPr lang="ta-IN" dirty="0" err="1"/>
              <a:t>valid</a:t>
            </a:r>
            <a:r>
              <a:rPr lang="ta-IN" dirty="0"/>
              <a:t> </a:t>
            </a:r>
            <a:r>
              <a:rPr lang="ta-IN" dirty="0" err="1"/>
              <a:t>from</a:t>
            </a:r>
            <a:r>
              <a:rPr lang="ta-IN" dirty="0"/>
              <a:t> 0 </a:t>
            </a:r>
            <a:r>
              <a:rPr lang="ta-IN" dirty="0" err="1"/>
              <a:t>through</a:t>
            </a:r>
            <a:r>
              <a:rPr lang="ta-IN" dirty="0"/>
              <a:t> 100</a:t>
            </a:r>
            <a:r>
              <a:rPr lang="en-US" dirty="0"/>
              <a:t>, so check for invalid marks</a:t>
            </a:r>
            <a:endParaRPr lang="ta-IN" dirty="0"/>
          </a:p>
          <a:p>
            <a:pPr marL="0" indent="0">
              <a:buNone/>
            </a:pPr>
            <a:r>
              <a:rPr lang="en-US" b="1" dirty="0"/>
              <a:t>if (marks &lt; 0 || marks &gt; 100){    </a:t>
            </a:r>
            <a:r>
              <a:rPr lang="en-US" b="1" dirty="0" err="1"/>
              <a:t>printf</a:t>
            </a:r>
            <a:r>
              <a:rPr lang="en-US" b="1" dirty="0"/>
              <a:t>("Invalid marks");}</a:t>
            </a:r>
            <a:endParaRPr lang="ta-IN" b="1" dirty="0"/>
          </a:p>
          <a:p>
            <a:endParaRPr lang="ta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933BD-7081-E89F-0A89-9BF06D873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8510" y="2286001"/>
            <a:ext cx="5067300" cy="3890962"/>
          </a:xfrm>
        </p:spPr>
        <p:txBody>
          <a:bodyPr>
            <a:normAutofit fontScale="85000" lnSpcReduction="10000"/>
          </a:bodyPr>
          <a:lstStyle/>
          <a:p>
            <a:r>
              <a:rPr lang="ta-IN" dirty="0" err="1"/>
              <a:t>Valid</a:t>
            </a:r>
            <a:r>
              <a:rPr lang="ta-IN" dirty="0"/>
              <a:t> </a:t>
            </a:r>
            <a:r>
              <a:rPr lang="ta-IN" dirty="0" err="1"/>
              <a:t>Range</a:t>
            </a:r>
            <a:r>
              <a:rPr lang="ta-IN" dirty="0"/>
              <a:t> </a:t>
            </a:r>
            <a:r>
              <a:rPr lang="ta-IN" dirty="0" err="1"/>
              <a:t>vs</a:t>
            </a:r>
            <a:r>
              <a:rPr lang="ta-IN" dirty="0"/>
              <a:t> </a:t>
            </a:r>
            <a:r>
              <a:rPr lang="ta-IN" dirty="0" err="1"/>
              <a:t>Invalid</a:t>
            </a:r>
            <a:r>
              <a:rPr lang="ta-IN" dirty="0"/>
              <a:t> </a:t>
            </a:r>
            <a:r>
              <a:rPr lang="ta-IN" dirty="0" err="1"/>
              <a:t>Range</a:t>
            </a:r>
            <a:endParaRPr lang="en-US" dirty="0"/>
          </a:p>
          <a:p>
            <a:r>
              <a:rPr lang="ta-IN" b="1" dirty="0" err="1"/>
              <a:t>Valid</a:t>
            </a:r>
            <a:endParaRPr lang="ta-IN" b="1" dirty="0"/>
          </a:p>
          <a:p>
            <a:pPr marL="0" indent="0">
              <a:buNone/>
            </a:pPr>
            <a:r>
              <a:rPr lang="ta-IN" b="1" dirty="0" err="1"/>
              <a:t>marks</a:t>
            </a:r>
            <a:r>
              <a:rPr lang="ta-IN" b="1" dirty="0"/>
              <a:t> &gt;= 0 &amp;&amp; </a:t>
            </a:r>
            <a:r>
              <a:rPr lang="ta-IN" b="1" dirty="0" err="1"/>
              <a:t>marks</a:t>
            </a:r>
            <a:r>
              <a:rPr lang="ta-IN" b="1" dirty="0"/>
              <a:t> &lt;= 100</a:t>
            </a:r>
          </a:p>
          <a:p>
            <a:r>
              <a:rPr lang="ta-IN" b="1" dirty="0" err="1"/>
              <a:t>Invalid</a:t>
            </a:r>
            <a:endParaRPr lang="ta-IN" b="1" dirty="0"/>
          </a:p>
          <a:p>
            <a:pPr marL="0" indent="0">
              <a:buNone/>
            </a:pPr>
            <a:r>
              <a:rPr lang="ta-IN" b="1" dirty="0" err="1"/>
              <a:t>marks</a:t>
            </a:r>
            <a:r>
              <a:rPr lang="ta-IN" b="1" dirty="0"/>
              <a:t> &lt; 0 || </a:t>
            </a:r>
            <a:r>
              <a:rPr lang="ta-IN" b="1" dirty="0" err="1"/>
              <a:t>marks</a:t>
            </a:r>
            <a:r>
              <a:rPr lang="ta-IN" b="1" dirty="0"/>
              <a:t> &gt; 100</a:t>
            </a:r>
          </a:p>
          <a:p>
            <a:pPr marL="0" indent="0">
              <a:buNone/>
            </a:pPr>
            <a:endParaRPr lang="ta-IN" dirty="0"/>
          </a:p>
        </p:txBody>
      </p:sp>
    </p:spTree>
    <p:extLst>
      <p:ext uri="{BB962C8B-B14F-4D97-AF65-F5344CB8AC3E}">
        <p14:creationId xmlns:p14="http://schemas.microsoft.com/office/powerpoint/2010/main" val="376341369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E26A5E-1EDF-2EC4-77EE-331D1E295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 err="1"/>
              <a:t>Example</a:t>
            </a:r>
            <a:r>
              <a:rPr lang="ta-IN" dirty="0"/>
              <a:t>: </a:t>
            </a:r>
            <a:r>
              <a:rPr lang="ta-IN" dirty="0" err="1"/>
              <a:t>Student</a:t>
            </a:r>
            <a:r>
              <a:rPr lang="ta-IN" dirty="0"/>
              <a:t> </a:t>
            </a:r>
            <a:r>
              <a:rPr lang="ta-IN" dirty="0" err="1"/>
              <a:t>Marks</a:t>
            </a:r>
            <a:r>
              <a:rPr lang="ta-IN" dirty="0"/>
              <a:t> </a:t>
            </a:r>
            <a:r>
              <a:rPr lang="ta-IN" dirty="0" err="1"/>
              <a:t>Validation</a:t>
            </a:r>
            <a:endParaRPr lang="ta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24665-6BC1-9306-3E32-C0C38D71D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3793" y="2286002"/>
            <a:ext cx="6086167" cy="3890961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</a:rPr>
              <a:t>#include &lt;</a:t>
            </a:r>
            <a:r>
              <a:rPr lang="en-US" b="1" dirty="0" err="1">
                <a:latin typeface="Times New Roman" panose="02020603050405020304" pitchFamily="18" charset="0"/>
              </a:rPr>
              <a:t>stdio.h</a:t>
            </a:r>
            <a:r>
              <a:rPr lang="en-US" b="1" dirty="0">
                <a:latin typeface="Times New Roman" panose="02020603050405020304" pitchFamily="18" charset="0"/>
              </a:rPr>
              <a:t>&gt;   // Standard input/output library</a:t>
            </a:r>
          </a:p>
          <a:p>
            <a:pPr marL="0" indent="0">
              <a:spcBef>
                <a:spcPts val="0"/>
              </a:spcBef>
              <a:buNone/>
            </a:pPr>
            <a:endParaRPr lang="en-US" b="1" dirty="0">
              <a:latin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</a:rPr>
              <a:t>int 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</a:rPr>
              <a:t>    int marks;   // Variable to store marks entered by the user</a:t>
            </a:r>
          </a:p>
          <a:p>
            <a:pPr marL="0" indent="0">
              <a:spcBef>
                <a:spcPts val="0"/>
              </a:spcBef>
              <a:buNone/>
            </a:pPr>
            <a:endParaRPr lang="en-US" b="1" dirty="0">
              <a:latin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</a:rPr>
              <a:t>    // Ask the user to enter marks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</a:rPr>
              <a:t>    </a:t>
            </a:r>
            <a:r>
              <a:rPr lang="en-US" b="1" dirty="0" err="1">
                <a:latin typeface="Times New Roman" panose="02020603050405020304" pitchFamily="18" charset="0"/>
              </a:rPr>
              <a:t>printf</a:t>
            </a:r>
            <a:r>
              <a:rPr lang="en-US" b="1" dirty="0">
                <a:latin typeface="Times New Roman" panose="02020603050405020304" pitchFamily="18" charset="0"/>
              </a:rPr>
              <a:t>("Enter marks: 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</a:rPr>
              <a:t>    </a:t>
            </a:r>
            <a:r>
              <a:rPr lang="en-US" b="1" dirty="0" err="1">
                <a:latin typeface="Times New Roman" panose="02020603050405020304" pitchFamily="18" charset="0"/>
              </a:rPr>
              <a:t>scanf</a:t>
            </a:r>
            <a:r>
              <a:rPr lang="en-US" b="1" dirty="0">
                <a:latin typeface="Times New Roman" panose="02020603050405020304" pitchFamily="18" charset="0"/>
              </a:rPr>
              <a:t>("%d", &amp;marks);</a:t>
            </a:r>
          </a:p>
          <a:p>
            <a:pPr marL="0" indent="0">
              <a:spcBef>
                <a:spcPts val="0"/>
              </a:spcBef>
              <a:buNone/>
            </a:pPr>
            <a:endParaRPr lang="en-US" b="1" dirty="0">
              <a:latin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</a:rPr>
              <a:t>    </a:t>
            </a:r>
            <a:endParaRPr lang="ta-IN" b="1" dirty="0">
              <a:latin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BEE4A5C-288F-32BF-FDDE-AF087654F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3981" y="2286002"/>
            <a:ext cx="5067300" cy="3890962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</a:rPr>
              <a:t>// Check whether marks are within the valid range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</a:rPr>
              <a:t>    if (marks &gt;= 0 &amp;&amp; marks &lt;= 100)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</a:rPr>
              <a:t>        </a:t>
            </a:r>
            <a:r>
              <a:rPr lang="en-US" b="1" dirty="0" err="1">
                <a:latin typeface="Times New Roman" panose="02020603050405020304" pitchFamily="18" charset="0"/>
              </a:rPr>
              <a:t>printf</a:t>
            </a:r>
            <a:r>
              <a:rPr lang="en-US" b="1" dirty="0">
                <a:latin typeface="Times New Roman" panose="02020603050405020304" pitchFamily="18" charset="0"/>
              </a:rPr>
              <a:t>("Valid marks");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</a:rPr>
              <a:t>    else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</a:rPr>
              <a:t>        // Display message if marks are outside the range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</a:rPr>
              <a:t>        </a:t>
            </a:r>
            <a:r>
              <a:rPr lang="en-US" b="1" dirty="0" err="1">
                <a:latin typeface="Times New Roman" panose="02020603050405020304" pitchFamily="18" charset="0"/>
              </a:rPr>
              <a:t>printf</a:t>
            </a:r>
            <a:r>
              <a:rPr lang="en-US" b="1" dirty="0">
                <a:latin typeface="Times New Roman" panose="02020603050405020304" pitchFamily="18" charset="0"/>
              </a:rPr>
              <a:t>("Invalid marks");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endParaRPr lang="en-US" b="1" dirty="0">
              <a:latin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</a:rPr>
              <a:t>    return 0;   // End the program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</a:rPr>
              <a:t>}</a:t>
            </a:r>
            <a:endParaRPr lang="ta-IN" dirty="0"/>
          </a:p>
        </p:txBody>
      </p:sp>
    </p:spTree>
    <p:extLst>
      <p:ext uri="{BB962C8B-B14F-4D97-AF65-F5344CB8AC3E}">
        <p14:creationId xmlns:p14="http://schemas.microsoft.com/office/powerpoint/2010/main" val="25881854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5722B-E772-CA28-C67D-1801EC67A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326" y="140340"/>
            <a:ext cx="10287000" cy="1147762"/>
          </a:xfrm>
        </p:spPr>
        <p:txBody>
          <a:bodyPr>
            <a:normAutofit/>
          </a:bodyPr>
          <a:lstStyle/>
          <a:p>
            <a:r>
              <a:rPr lang="en-US" sz="2000" dirty="0"/>
              <a:t>Example: relational operators and validate inputs through range checks and basic data constraints.</a:t>
            </a:r>
            <a:endParaRPr lang="ta-IN" sz="2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FB4F44-FBA2-B795-097C-3117CBD9F1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1666570"/>
            <a:ext cx="6054212" cy="3890961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  // Standard input/output library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marks;   // Variable to store student marks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Ask the user to enter marks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marks (0 to 100): 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Check whether the user entered an integer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&amp;marks) != 1)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("Invalid input. Please enter an integer.");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0;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Check whether marks are outside the valid range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(marks &lt; 0 || marks &gt; 100)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("Invalid marks. Marks must be between 0 and 100.");  }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ta-IN" sz="1600" dirty="0">
              <a:latin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FDDBF2-D7D5-3D35-40DA-68A6C8828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3813" y="1541206"/>
            <a:ext cx="5067300" cy="4407310"/>
          </a:xfrm>
        </p:spPr>
        <p:txBody>
          <a:bodyPr>
            <a:normAutofit fontScale="55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/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Check whether the student scored full marks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 if (marks == 100)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("Valid marks - Excellent! Full marks.");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Check whether the student has passed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 if (marks &gt;= 50)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("Valid marks - Pass.");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Marks below 50 indicate failure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("Valid marks - Fail.");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   // End of program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ta-IN" sz="26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70663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49632-8D25-38D3-D818-CCF194D75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37E729-D132-D577-87F7-987BE6032F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604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427645-30E9-8624-A1C3-F03169A9ED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4445"/>
            <a:ext cx="7355457" cy="1560167"/>
          </a:xfrm>
        </p:spPr>
        <p:txBody>
          <a:bodyPr>
            <a:normAutofit/>
          </a:bodyPr>
          <a:lstStyle/>
          <a:p>
            <a:r>
              <a:rPr lang="en-IN" spc="0" dirty="0"/>
              <a:t>26CSE1002J - Programming for Problem Solving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A0F4B5-227C-D086-6BE7-02BD0ABF9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40827"/>
            <a:ext cx="9974580" cy="1560166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10000"/>
              </a:lnSpc>
            </a:pPr>
            <a:r>
              <a:rPr lang="en-IN" sz="2800" b="1" cap="all" dirty="0">
                <a:latin typeface="+mj-lt"/>
                <a:ea typeface="+mj-ea"/>
                <a:cs typeface="+mj-cs"/>
              </a:rPr>
              <a:t>Unit 1</a:t>
            </a:r>
          </a:p>
          <a:p>
            <a:pPr>
              <a:lnSpc>
                <a:spcPct val="110000"/>
              </a:lnSpc>
            </a:pPr>
            <a:r>
              <a:rPr lang="en-IN" sz="2800" b="1" cap="all" dirty="0">
                <a:latin typeface="+mj-lt"/>
                <a:ea typeface="+mj-ea"/>
                <a:cs typeface="+mj-cs"/>
              </a:rPr>
              <a:t>Session: 8</a:t>
            </a:r>
          </a:p>
          <a:p>
            <a:r>
              <a:rPr lang="en-IN" sz="2800" b="1" cap="all" dirty="0">
                <a:latin typeface="+mj-lt"/>
                <a:ea typeface="+mj-ea"/>
                <a:cs typeface="+mj-cs"/>
              </a:rPr>
              <a:t>SLO :</a:t>
            </a:r>
            <a:r>
              <a:rPr lang="en-IN" sz="2900" b="1" cap="all" dirty="0">
                <a:latin typeface="+mj-lt"/>
                <a:ea typeface="+mj-ea"/>
                <a:cs typeface="+mj-cs"/>
              </a:rPr>
              <a:t>Practice: </a:t>
            </a:r>
            <a:r>
              <a:rPr lang="en-US" sz="2900" b="1" cap="all" dirty="0">
                <a:latin typeface="+mj-lt"/>
                <a:ea typeface="+mj-ea"/>
                <a:cs typeface="+mj-cs"/>
              </a:rPr>
              <a:t>Using </a:t>
            </a:r>
            <a:r>
              <a:rPr lang="en-US" sz="2900" b="1" cap="all" dirty="0" err="1">
                <a:latin typeface="+mj-lt"/>
                <a:ea typeface="+mj-ea"/>
                <a:cs typeface="+mj-cs"/>
              </a:rPr>
              <a:t>boolean</a:t>
            </a:r>
            <a:r>
              <a:rPr lang="en-US" sz="2900" b="1" cap="all" dirty="0">
                <a:latin typeface="+mj-lt"/>
                <a:ea typeface="+mj-ea"/>
                <a:cs typeface="+mj-cs"/>
              </a:rPr>
              <a:t> logic to categorize or classify: </a:t>
            </a:r>
            <a:r>
              <a:rPr lang="en-IN" sz="2900" b="1" cap="all" dirty="0">
                <a:latin typeface="+mj-lt"/>
                <a:ea typeface="+mj-ea"/>
                <a:cs typeface="+mj-cs"/>
              </a:rPr>
              <a:t>• Odd or Even </a:t>
            </a:r>
            <a:r>
              <a:rPr lang="en-US" sz="2900" b="1" cap="all" dirty="0"/>
              <a:t>: </a:t>
            </a:r>
            <a:r>
              <a:rPr lang="en-IN" sz="2900" b="1" cap="all" dirty="0"/>
              <a:t>• </a:t>
            </a:r>
            <a:r>
              <a:rPr lang="en-IN" sz="2900" b="1" cap="all" dirty="0">
                <a:latin typeface="+mj-lt"/>
                <a:ea typeface="+mj-ea"/>
                <a:cs typeface="+mj-cs"/>
              </a:rPr>
              <a:t>Positive / Negative / Zero • Vowel / Consonant • Leap year checking </a:t>
            </a:r>
            <a:r>
              <a:rPr lang="en-US" sz="2900" b="1" cap="all" dirty="0">
                <a:latin typeface="+mj-lt"/>
                <a:ea typeface="+mj-ea"/>
                <a:cs typeface="+mj-cs"/>
              </a:rPr>
              <a:t>• Checking if a character is alphabet, </a:t>
            </a:r>
            <a:r>
              <a:rPr lang="en-IN" sz="2900" b="1" cap="all" dirty="0">
                <a:latin typeface="+mj-lt"/>
                <a:ea typeface="+mj-ea"/>
                <a:cs typeface="+mj-cs"/>
              </a:rPr>
              <a:t>digit, or special symbol • Eligibility checks Ex: Loan eligibility, scholarship eligibility</a:t>
            </a:r>
          </a:p>
        </p:txBody>
      </p:sp>
    </p:spTree>
    <p:extLst>
      <p:ext uri="{BB962C8B-B14F-4D97-AF65-F5344CB8AC3E}">
        <p14:creationId xmlns:p14="http://schemas.microsoft.com/office/powerpoint/2010/main" val="113260311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C4C7A-4F76-D1C4-F0AE-87DB1E6ED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110" y="124370"/>
            <a:ext cx="10287000" cy="1147762"/>
          </a:xfrm>
        </p:spPr>
        <p:txBody>
          <a:bodyPr/>
          <a:lstStyle/>
          <a:p>
            <a:r>
              <a:rPr lang="ta-IN" dirty="0"/>
              <a:t>1. </a:t>
            </a:r>
            <a:r>
              <a:rPr lang="ta-IN" dirty="0" err="1"/>
              <a:t>Odd</a:t>
            </a:r>
            <a:r>
              <a:rPr lang="ta-IN" dirty="0"/>
              <a:t> </a:t>
            </a:r>
            <a:r>
              <a:rPr lang="ta-IN" dirty="0" err="1"/>
              <a:t>or</a:t>
            </a:r>
            <a:r>
              <a:rPr lang="ta-IN" dirty="0"/>
              <a:t> </a:t>
            </a:r>
            <a:r>
              <a:rPr lang="ta-IN" dirty="0" err="1"/>
              <a:t>Even</a:t>
            </a:r>
            <a:endParaRPr lang="ta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0014A-6E19-8E1D-3901-E5D04F730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4795" y="1483519"/>
            <a:ext cx="2980403" cy="389096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Algorithm</a:t>
            </a:r>
            <a:endParaRPr lang="ta-IN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 lvl="0"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Start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Read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an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integer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Find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the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remainder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when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divided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by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2. </a:t>
            </a:r>
          </a:p>
          <a:p>
            <a:pPr lvl="0"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If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remainder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is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0,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the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number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is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even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Otherwise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,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the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number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is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odd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Stop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</a:t>
            </a:r>
          </a:p>
          <a:p>
            <a:endParaRPr lang="ta-IN" dirty="0">
              <a:latin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A025F3-7881-382B-D270-9EC9E4DF6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55143" y="1710816"/>
            <a:ext cx="4780933" cy="389096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  // Standard input/output library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num;   // Variable to store the number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Get a number from the user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an integer: 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&amp;num);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Check whether the number is divisible by 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ta-IN" dirty="0">
              <a:latin typeface="Times New Roman" panose="02020603050405020304" pitchFamily="18" charset="0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D6337354-4E63-B038-74CA-D1D548E8DEA0}"/>
              </a:ext>
            </a:extLst>
          </p:cNvPr>
          <p:cNvSpPr txBox="1">
            <a:spLocks/>
          </p:cNvSpPr>
          <p:nvPr/>
        </p:nvSpPr>
        <p:spPr>
          <a:xfrm>
            <a:off x="8310717" y="2113938"/>
            <a:ext cx="3566651" cy="38909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6032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120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210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ta-IN" dirty="0">
              <a:latin typeface="Times New Roman" panose="02020603050405020304" pitchFamily="18" charset="0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F2BFD7EA-4C93-8ADD-6F91-96ABBE6B46D3}"/>
              </a:ext>
            </a:extLst>
          </p:cNvPr>
          <p:cNvSpPr txBox="1">
            <a:spLocks/>
          </p:cNvSpPr>
          <p:nvPr/>
        </p:nvSpPr>
        <p:spPr>
          <a:xfrm>
            <a:off x="8436076" y="1710816"/>
            <a:ext cx="3441292" cy="38909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6032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120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210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(num % 2 == 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("The number is Even");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("The number is Odd");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   // End of program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ta-I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32725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1C80A-E716-74CB-B15E-90CD54D7A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08EB0-5E3E-0977-D9D9-571202797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110" y="124370"/>
            <a:ext cx="10287000" cy="1147762"/>
          </a:xfrm>
        </p:spPr>
        <p:txBody>
          <a:bodyPr/>
          <a:lstStyle/>
          <a:p>
            <a:r>
              <a:rPr lang="ta-IN" dirty="0"/>
              <a:t>2. </a:t>
            </a:r>
            <a:r>
              <a:rPr lang="ta-IN" dirty="0" err="1"/>
              <a:t>Positive</a:t>
            </a:r>
            <a:r>
              <a:rPr lang="ta-IN" dirty="0"/>
              <a:t>, </a:t>
            </a:r>
            <a:r>
              <a:rPr lang="ta-IN" dirty="0" err="1"/>
              <a:t>Negative</a:t>
            </a:r>
            <a:r>
              <a:rPr lang="ta-IN" dirty="0"/>
              <a:t>, </a:t>
            </a:r>
            <a:r>
              <a:rPr lang="ta-IN" dirty="0" err="1"/>
              <a:t>or</a:t>
            </a:r>
            <a:r>
              <a:rPr lang="ta-IN" dirty="0"/>
              <a:t> </a:t>
            </a:r>
            <a:r>
              <a:rPr lang="ta-IN" dirty="0" err="1"/>
              <a:t>Zero</a:t>
            </a:r>
            <a:endParaRPr lang="ta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C2961E-46E9-E701-5B8A-518B5BB76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4795" y="1483519"/>
            <a:ext cx="2980403" cy="389096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Algorithm</a:t>
            </a:r>
            <a:endParaRPr lang="ta-IN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 lvl="0">
              <a:lnSpc>
                <a:spcPct val="110000"/>
              </a:lnSpc>
            </a:pP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Start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lnSpc>
                <a:spcPct val="110000"/>
              </a:lnSpc>
            </a:pP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Read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a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number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lnSpc>
                <a:spcPct val="110000"/>
              </a:lnSpc>
            </a:pP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If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the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number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is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greater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than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0,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display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Positive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lnSpc>
                <a:spcPct val="110000"/>
              </a:lnSpc>
            </a:pP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Else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if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it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is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less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than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0,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display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Negative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lnSpc>
                <a:spcPct val="110000"/>
              </a:lnSpc>
            </a:pP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Otherwise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,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display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Zero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lnSpc>
                <a:spcPct val="110000"/>
              </a:lnSpc>
            </a:pP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Stop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endParaRPr lang="ta-IN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F73A99-394F-F1B8-52A4-FF394A55E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55143" y="1710816"/>
            <a:ext cx="4780933" cy="389096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  // Standard input/output library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num;   // Variable to store the number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Get a number from the user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a number: 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&amp;num);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Check whether the number is positive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(num &gt;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("Positive number");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ta-IN" dirty="0">
              <a:latin typeface="Times New Roman" panose="02020603050405020304" pitchFamily="18" charset="0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3B2EC6-92D7-ABDC-97F9-7F4E73BFCAC8}"/>
              </a:ext>
            </a:extLst>
          </p:cNvPr>
          <p:cNvSpPr txBox="1">
            <a:spLocks/>
          </p:cNvSpPr>
          <p:nvPr/>
        </p:nvSpPr>
        <p:spPr>
          <a:xfrm>
            <a:off x="8310717" y="2113938"/>
            <a:ext cx="3566651" cy="38909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6032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120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210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ta-IN" dirty="0">
              <a:latin typeface="Times New Roman" panose="02020603050405020304" pitchFamily="18" charset="0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6E802B1C-8B73-9DA9-5DF1-E48187BCF9F0}"/>
              </a:ext>
            </a:extLst>
          </p:cNvPr>
          <p:cNvSpPr txBox="1">
            <a:spLocks/>
          </p:cNvSpPr>
          <p:nvPr/>
        </p:nvSpPr>
        <p:spPr>
          <a:xfrm>
            <a:off x="8436076" y="1710816"/>
            <a:ext cx="3441292" cy="38909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6032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120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210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Check whether the number is negative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 if (num &lt;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("Negative number");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If neither positive nor negative, it is zero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("Zero");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   // End of program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ta-I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42838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EEF3C-B4C4-4160-89F6-70B9B10D7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5F4B2-D597-917D-5131-9B89BA5B3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110" y="124370"/>
            <a:ext cx="10287000" cy="1147762"/>
          </a:xfrm>
        </p:spPr>
        <p:txBody>
          <a:bodyPr/>
          <a:lstStyle/>
          <a:p>
            <a:r>
              <a:rPr lang="ta-IN" dirty="0"/>
              <a:t>3. </a:t>
            </a:r>
            <a:r>
              <a:rPr lang="ta-IN" dirty="0" err="1"/>
              <a:t>Vowel</a:t>
            </a:r>
            <a:r>
              <a:rPr lang="ta-IN" dirty="0"/>
              <a:t> </a:t>
            </a:r>
            <a:r>
              <a:rPr lang="ta-IN" dirty="0" err="1"/>
              <a:t>or</a:t>
            </a:r>
            <a:r>
              <a:rPr lang="ta-IN" dirty="0"/>
              <a:t> </a:t>
            </a:r>
            <a:r>
              <a:rPr lang="ta-IN" dirty="0" err="1"/>
              <a:t>Consonant</a:t>
            </a:r>
            <a:endParaRPr lang="ta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709BD8-4B97-FD44-1F96-7F090DEF72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8865" y="1866977"/>
            <a:ext cx="8878529" cy="3890961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Algorithm</a:t>
            </a:r>
            <a:endParaRPr lang="ta-IN" sz="2000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 lvl="0">
              <a:spcBef>
                <a:spcPts val="0"/>
              </a:spcBef>
            </a:pP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Start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spcBef>
                <a:spcPts val="0"/>
              </a:spcBef>
            </a:pP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Read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a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character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spcBef>
                <a:spcPts val="0"/>
              </a:spcBef>
            </a:pP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Check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whether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it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is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an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alphabet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spcBef>
                <a:spcPts val="0"/>
              </a:spcBef>
            </a:pP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If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it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is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a, e, i, o, u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or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their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uppercase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forms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,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display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Vowel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spcBef>
                <a:spcPts val="0"/>
              </a:spcBef>
            </a:pP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Otherwise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,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display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Consonant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spcBef>
                <a:spcPts val="0"/>
              </a:spcBef>
            </a:pP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If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it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is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not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an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alphabet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,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display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Invalid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input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spcBef>
                <a:spcPts val="0"/>
              </a:spcBef>
            </a:pPr>
            <a:r>
              <a:rPr lang="ta-IN" sz="20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Stop</a:t>
            </a:r>
            <a:r>
              <a:rPr lang="ta-IN" sz="2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ta-IN" sz="2000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B1EE3AA-729D-2FCE-6E64-86A54A82B748}"/>
              </a:ext>
            </a:extLst>
          </p:cNvPr>
          <p:cNvSpPr txBox="1">
            <a:spLocks/>
          </p:cNvSpPr>
          <p:nvPr/>
        </p:nvSpPr>
        <p:spPr>
          <a:xfrm>
            <a:off x="8310717" y="2113938"/>
            <a:ext cx="3566651" cy="38909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6032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120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210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ta-I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37711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C90A7-28F6-F340-776F-8684B49F7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B7859-8CE0-50C2-E668-26FEF519C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110" y="124370"/>
            <a:ext cx="10287000" cy="1147762"/>
          </a:xfrm>
        </p:spPr>
        <p:txBody>
          <a:bodyPr/>
          <a:lstStyle/>
          <a:p>
            <a:r>
              <a:rPr lang="ta-IN" dirty="0"/>
              <a:t>3. </a:t>
            </a:r>
            <a:r>
              <a:rPr lang="ta-IN" dirty="0" err="1"/>
              <a:t>Vowel</a:t>
            </a:r>
            <a:r>
              <a:rPr lang="ta-IN" dirty="0"/>
              <a:t> </a:t>
            </a:r>
            <a:r>
              <a:rPr lang="ta-IN" dirty="0" err="1"/>
              <a:t>or</a:t>
            </a:r>
            <a:r>
              <a:rPr lang="ta-IN" dirty="0"/>
              <a:t> </a:t>
            </a:r>
            <a:r>
              <a:rPr lang="ta-IN" dirty="0" err="1"/>
              <a:t>Consonant</a:t>
            </a:r>
            <a:endParaRPr lang="ta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D6D4F8-A1DE-4468-1355-9225D196A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7754" y="1386354"/>
            <a:ext cx="5159481" cy="487679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  // Standard input/output library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char ch;   // Variable to store a character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Get a character from the user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an alphabet: 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 %c", &amp;ch);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Check whether the character is an alphabet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((ch &gt;= 'A' &amp;&amp; ch &lt;= 'Z') ||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(ch &gt;= 'a' &amp;&amp; ch &lt;= 'z'))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Check whether the alphabet is a vowel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(ch == 'A' || ch == 'E' || ch == 'I' ||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ch == 'O' || ch == 'U' ||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ch == 'a' || ch == 'e' || ch == '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||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ch == 'o' || ch == 'u')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{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("Vowel"); 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a-IN" dirty="0">
              <a:latin typeface="Times New Roman" panose="02020603050405020304" pitchFamily="18" charset="0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2793F4C8-D502-DB1A-BF85-81E991E97F39}"/>
              </a:ext>
            </a:extLst>
          </p:cNvPr>
          <p:cNvSpPr txBox="1">
            <a:spLocks/>
          </p:cNvSpPr>
          <p:nvPr/>
        </p:nvSpPr>
        <p:spPr>
          <a:xfrm>
            <a:off x="8310717" y="2113938"/>
            <a:ext cx="3566651" cy="38909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6032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120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210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ta-IN" dirty="0">
              <a:latin typeface="Times New Roman" panose="02020603050405020304" pitchFamily="18" charset="0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3902DB0-13F2-9DAA-B9A7-7694CE8B39B9}"/>
              </a:ext>
            </a:extLst>
          </p:cNvPr>
          <p:cNvSpPr txBox="1">
            <a:spLocks/>
          </p:cNvSpPr>
          <p:nvPr/>
        </p:nvSpPr>
        <p:spPr>
          <a:xfrm>
            <a:off x="7020231" y="1651822"/>
            <a:ext cx="5506066" cy="38909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6032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120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210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("Consonant");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Input is not an alphabet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("Invalid input");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   // End of program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ta-I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1820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C93FE-2297-A006-3D30-62AFAEFCA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6E22-871C-CB09-3672-E05DDF1FE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110" y="124370"/>
            <a:ext cx="10287000" cy="1147762"/>
          </a:xfrm>
        </p:spPr>
        <p:txBody>
          <a:bodyPr/>
          <a:lstStyle/>
          <a:p>
            <a:r>
              <a:rPr lang="ta-IN" dirty="0"/>
              <a:t>4. </a:t>
            </a:r>
            <a:r>
              <a:rPr lang="ta-IN" dirty="0" err="1"/>
              <a:t>Leap</a:t>
            </a:r>
            <a:r>
              <a:rPr lang="ta-IN" dirty="0"/>
              <a:t> </a:t>
            </a:r>
            <a:r>
              <a:rPr lang="ta-IN" dirty="0" err="1"/>
              <a:t>Year</a:t>
            </a:r>
            <a:r>
              <a:rPr lang="ta-IN" dirty="0"/>
              <a:t> </a:t>
            </a:r>
            <a:r>
              <a:rPr lang="ta-IN" dirty="0" err="1"/>
              <a:t>Checking</a:t>
            </a:r>
            <a:endParaRPr lang="ta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1066D-8B80-5335-9517-F9611433C5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4579" y="1483519"/>
            <a:ext cx="2703253" cy="3890961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Algorithm</a:t>
            </a:r>
            <a:endParaRPr lang="ta-IN" sz="1600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 lvl="0">
              <a:spcBef>
                <a:spcPts val="600"/>
              </a:spcBef>
            </a:pP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Start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Read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the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year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If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the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year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is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divisible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by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400,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it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is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a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leap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year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Otherwise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,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if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it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is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divisible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by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4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but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not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by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100,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it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is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a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leap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year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Otherwise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,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it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is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not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a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leap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year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spcBef>
                <a:spcPts val="600"/>
              </a:spcBef>
            </a:pPr>
            <a:r>
              <a:rPr lang="ta-IN" sz="16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Stop</a:t>
            </a:r>
            <a:r>
              <a:rPr lang="ta-IN" sz="1600" dirty="0">
                <a:solidFill>
                  <a:srgbClr val="002060"/>
                </a:solidFill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ta-IN" sz="1600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D18ECC-70B6-AD2B-5624-390055D02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34192" y="1710816"/>
            <a:ext cx="4683856" cy="389096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  // Standard input/output lib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year;   // Variable to store year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Get the year from the user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a year: 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&amp;year);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Check the conditions for a leap year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ta-IN" dirty="0">
              <a:latin typeface="Times New Roman" panose="02020603050405020304" pitchFamily="18" charset="0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87419931-8E2F-3C63-228C-DC0D0E4EC668}"/>
              </a:ext>
            </a:extLst>
          </p:cNvPr>
          <p:cNvSpPr txBox="1">
            <a:spLocks/>
          </p:cNvSpPr>
          <p:nvPr/>
        </p:nvSpPr>
        <p:spPr>
          <a:xfrm>
            <a:off x="8310717" y="2113938"/>
            <a:ext cx="3566651" cy="38909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6032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120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210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ta-IN" dirty="0">
              <a:latin typeface="Times New Roman" panose="02020603050405020304" pitchFamily="18" charset="0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D70CBD1-AB94-CEF4-CB66-3A434F6AF084}"/>
              </a:ext>
            </a:extLst>
          </p:cNvPr>
          <p:cNvSpPr txBox="1">
            <a:spLocks/>
          </p:cNvSpPr>
          <p:nvPr/>
        </p:nvSpPr>
        <p:spPr>
          <a:xfrm>
            <a:off x="7918048" y="1710816"/>
            <a:ext cx="4175629" cy="38909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6032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120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210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((year % 400 == 0) ||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(year % 4 == 0 &amp;&amp; year % 100 != 0))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is a Leap Year", year);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is not a Leap Year", year);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   // End of program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ta-I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67360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72C91-B839-64DA-A0C1-DA8AE17F8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CC247-00CB-A4DC-B2D3-8E9D36A17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110" y="124370"/>
            <a:ext cx="10287000" cy="1147762"/>
          </a:xfrm>
        </p:spPr>
        <p:txBody>
          <a:bodyPr/>
          <a:lstStyle/>
          <a:p>
            <a:r>
              <a:rPr lang="ta-IN" dirty="0"/>
              <a:t>5. </a:t>
            </a:r>
            <a:r>
              <a:rPr lang="ta-IN" dirty="0" err="1"/>
              <a:t>Alphabet</a:t>
            </a:r>
            <a:r>
              <a:rPr lang="ta-IN" dirty="0"/>
              <a:t>, </a:t>
            </a:r>
            <a:r>
              <a:rPr lang="ta-IN" dirty="0" err="1"/>
              <a:t>Digit</a:t>
            </a:r>
            <a:r>
              <a:rPr lang="ta-IN" dirty="0"/>
              <a:t>, </a:t>
            </a:r>
            <a:r>
              <a:rPr lang="ta-IN" dirty="0" err="1"/>
              <a:t>or</a:t>
            </a:r>
            <a:r>
              <a:rPr lang="ta-IN" dirty="0"/>
              <a:t> </a:t>
            </a:r>
            <a:r>
              <a:rPr lang="ta-IN" dirty="0" err="1"/>
              <a:t>Special</a:t>
            </a:r>
            <a:r>
              <a:rPr lang="ta-IN" dirty="0"/>
              <a:t> </a:t>
            </a:r>
            <a:r>
              <a:rPr lang="ta-IN" dirty="0" err="1"/>
              <a:t>Symbol</a:t>
            </a:r>
            <a:endParaRPr lang="ta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67861-A07D-B77E-A7B8-37A8940E63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4579" y="1483519"/>
            <a:ext cx="2781911" cy="389096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Algorithm</a:t>
            </a:r>
            <a:endParaRPr lang="ta-IN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Start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Read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a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character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Check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whether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it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is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between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A-Z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or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a-z. 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If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yes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,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display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Alphabet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Otherwise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,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check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whether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it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is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between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0-9. 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If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yes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,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display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Digit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Otherwise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,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display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Special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Symbol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Stop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ta-IN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E2D121-63FC-CA02-CE87-BFAFEC5EC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45758" y="1612493"/>
            <a:ext cx="4355691" cy="389096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  // Standard input/output library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char ch;   // Variable to store a character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Get a character from the user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a character: 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 %c", &amp;ch);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Check whet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((ch &gt;= 'A' &amp;&amp; ch &lt;= 'Z') ||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(ch &gt;= 'a' &amp;&amp; ch &lt;= 'z'))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("Alphabet");     }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C0462A3-B352-8FE3-2F06-2A688C378210}"/>
              </a:ext>
            </a:extLst>
          </p:cNvPr>
          <p:cNvSpPr txBox="1">
            <a:spLocks/>
          </p:cNvSpPr>
          <p:nvPr/>
        </p:nvSpPr>
        <p:spPr>
          <a:xfrm>
            <a:off x="8310717" y="2113938"/>
            <a:ext cx="3566651" cy="38909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6032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120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210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ta-IN" dirty="0">
              <a:latin typeface="Times New Roman" panose="02020603050405020304" pitchFamily="18" charset="0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D2D17DF-06CC-87C3-9CB5-F2113BD4CB87}"/>
              </a:ext>
            </a:extLst>
          </p:cNvPr>
          <p:cNvSpPr txBox="1">
            <a:spLocks/>
          </p:cNvSpPr>
          <p:nvPr/>
        </p:nvSpPr>
        <p:spPr>
          <a:xfrm>
            <a:off x="7492182" y="1710816"/>
            <a:ext cx="4601496" cy="38909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6032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120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210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// Check whether the character is a digit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 if (ch &gt;= '0' &amp;&amp; ch &lt;= '9')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("Digit");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Otherwise it is treated as a special symbol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("Special Symbol");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   // End of program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ta-I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20023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F388A-9958-8447-F286-883A2E083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0578D-2F3E-7DCE-5ED5-0982C87AF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158311"/>
            <a:ext cx="10287000" cy="1147762"/>
          </a:xfrm>
        </p:spPr>
        <p:txBody>
          <a:bodyPr/>
          <a:lstStyle/>
          <a:p>
            <a:r>
              <a:rPr lang="ta-IN" dirty="0"/>
              <a:t>6. </a:t>
            </a:r>
            <a:r>
              <a:rPr lang="ta-IN" dirty="0" err="1"/>
              <a:t>Loan</a:t>
            </a:r>
            <a:r>
              <a:rPr lang="ta-IN" dirty="0"/>
              <a:t> </a:t>
            </a:r>
            <a:r>
              <a:rPr lang="ta-IN" dirty="0" err="1"/>
              <a:t>Eligibility</a:t>
            </a:r>
            <a:r>
              <a:rPr lang="ta-IN" dirty="0"/>
              <a:t> </a:t>
            </a:r>
            <a:r>
              <a:rPr lang="ta-IN" dirty="0" err="1"/>
              <a:t>Check</a:t>
            </a:r>
            <a:endParaRPr lang="ta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77AAC-7042-E30A-78A7-2B4FC86C09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4579" y="1272132"/>
            <a:ext cx="2781911" cy="389096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Algorithm</a:t>
            </a:r>
            <a:endParaRPr lang="ta-IN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Start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Read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age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and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monthly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salary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Validate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that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age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and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salary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are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positive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Check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whether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age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is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between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21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and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60. 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Check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whether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salary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is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at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least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₹25,000. 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If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both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conditions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are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true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,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display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Eligible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for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loan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Otherwise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,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display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Not</a:t>
            </a:r>
            <a:r>
              <a:rPr lang="ta-IN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eligible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Stop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ta-IN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24869C-4344-16E1-A8A4-455A0270F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45758" y="1612492"/>
            <a:ext cx="4355691" cy="439240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  // Standard input/output library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age;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salary;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Get age and salary from the user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age: 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&amp;age);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monthly salary: 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("%f", &amp;salary);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Validate basic input constraints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(age &lt;= 0 || salary &lt;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("Invalid input");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120C4EB1-264A-D346-BE96-236BEF865CE6}"/>
              </a:ext>
            </a:extLst>
          </p:cNvPr>
          <p:cNvSpPr txBox="1">
            <a:spLocks/>
          </p:cNvSpPr>
          <p:nvPr/>
        </p:nvSpPr>
        <p:spPr>
          <a:xfrm>
            <a:off x="8310717" y="2113938"/>
            <a:ext cx="3566651" cy="38909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6032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120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210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ta-IN" dirty="0">
              <a:latin typeface="Times New Roman" panose="02020603050405020304" pitchFamily="18" charset="0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F33129FF-4DC1-7BCC-0B21-C6BEE1AB0A34}"/>
              </a:ext>
            </a:extLst>
          </p:cNvPr>
          <p:cNvSpPr txBox="1">
            <a:spLocks/>
          </p:cNvSpPr>
          <p:nvPr/>
        </p:nvSpPr>
        <p:spPr>
          <a:xfrm>
            <a:off x="7901448" y="1710816"/>
            <a:ext cx="4192229" cy="38909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6032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120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210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// Check loan eligibility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 if ((age &gt;= 21 &amp;&amp; age &lt;= 60) &amp;&amp;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salary &gt;= 25000)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("Eligible for Loan");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("Not Eligible for Loan");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   // End of program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ta-I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47323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745B2-F8C9-E595-A7E6-15BC42EA7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83CC9-CD42-56E3-6B9C-CC48936E7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158311"/>
            <a:ext cx="10287000" cy="1147762"/>
          </a:xfrm>
        </p:spPr>
        <p:txBody>
          <a:bodyPr/>
          <a:lstStyle/>
          <a:p>
            <a:r>
              <a:rPr lang="ta-IN" dirty="0"/>
              <a:t>7. </a:t>
            </a:r>
            <a:r>
              <a:rPr lang="ta-IN" dirty="0" err="1"/>
              <a:t>Scholarship</a:t>
            </a:r>
            <a:r>
              <a:rPr lang="ta-IN" dirty="0"/>
              <a:t> </a:t>
            </a:r>
            <a:r>
              <a:rPr lang="ta-IN" dirty="0" err="1"/>
              <a:t>Eligibility</a:t>
            </a:r>
            <a:r>
              <a:rPr lang="ta-IN" dirty="0"/>
              <a:t> </a:t>
            </a:r>
            <a:r>
              <a:rPr lang="ta-IN" dirty="0" err="1"/>
              <a:t>Check</a:t>
            </a:r>
            <a:endParaRPr lang="ta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255B6-D1C4-A845-C073-FFDD01EEA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4579" y="1272132"/>
            <a:ext cx="2781911" cy="389096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Algorithm</a:t>
            </a:r>
            <a:endParaRPr lang="ta-IN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Start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Read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marks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and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annual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family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income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Check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whether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marks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are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between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0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and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100. 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Check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whether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income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is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non-negative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If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marks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are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at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least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80 AND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income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is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at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most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₹3,00,000,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display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Eligible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Otherwise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,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display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Not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eligible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ta-IN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Stop</a:t>
            </a:r>
            <a:r>
              <a:rPr lang="ta-IN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ta-IN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7163CA-C92B-9459-FD2D-846198D65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45758" y="1612492"/>
            <a:ext cx="4355691" cy="439240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  // Standard input/output library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marks;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income;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Get marks from the student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marks (0 to 100): 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&amp;marks);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Get annual family income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annual family income: 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("%f", &amp;income);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Check basic input constraints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(marks &lt; 0 || marks &gt; 100 || income &lt;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("Invalid input");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BCE0FD70-B06E-D401-26FB-D20869D22EC3}"/>
              </a:ext>
            </a:extLst>
          </p:cNvPr>
          <p:cNvSpPr txBox="1">
            <a:spLocks/>
          </p:cNvSpPr>
          <p:nvPr/>
        </p:nvSpPr>
        <p:spPr>
          <a:xfrm>
            <a:off x="8310717" y="2113938"/>
            <a:ext cx="3566651" cy="38909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6032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120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210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ta-IN" dirty="0">
              <a:latin typeface="Times New Roman" panose="02020603050405020304" pitchFamily="18" charset="0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45C34593-A15F-9ABD-F633-2325EAEBFE48}"/>
              </a:ext>
            </a:extLst>
          </p:cNvPr>
          <p:cNvSpPr txBox="1">
            <a:spLocks/>
          </p:cNvSpPr>
          <p:nvPr/>
        </p:nvSpPr>
        <p:spPr>
          <a:xfrm>
            <a:off x="7901448" y="1710816"/>
            <a:ext cx="4192229" cy="38909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6032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120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210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// Check scholarship eligibility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 if (marks &gt;= 80 &amp;&amp; income &lt;= 300000)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("Eligible for Scholarship");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("Not Eligible for Scholarship");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   // End of program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464396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B0948C-92F4-50F2-FE07-51C68C3A5A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604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862082-9BE5-EB71-810E-C0A509546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4445"/>
            <a:ext cx="7355457" cy="1560167"/>
          </a:xfrm>
        </p:spPr>
        <p:txBody>
          <a:bodyPr>
            <a:normAutofit/>
          </a:bodyPr>
          <a:lstStyle/>
          <a:p>
            <a:r>
              <a:rPr lang="en-IN" spc="0" dirty="0"/>
              <a:t>26CSE1002J - Programming for Problem Solving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4EFE2E-A077-3088-4871-EFEFD9342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0137"/>
            <a:ext cx="9974580" cy="112236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1</a:t>
            </a:r>
          </a:p>
          <a:p>
            <a:pPr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Session: 9</a:t>
            </a:r>
          </a:p>
          <a:p>
            <a:pPr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 :At the end of this session the learners will be able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and display data using user-defined input and output in C </a:t>
            </a:r>
            <a:endParaRPr lang="en-IN" sz="20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76300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199" y="844895"/>
            <a:ext cx="10515601" cy="872675"/>
          </a:xfrm>
          <a:prstGeom prst="rect">
            <a:avLst/>
          </a:prstGeom>
          <a:solidFill>
            <a:schemeClr val="bg1"/>
          </a:solidFill>
          <a:ln w="9524">
            <a:solidFill>
              <a:srgbClr val="000000"/>
            </a:solidFill>
          </a:ln>
        </p:spPr>
        <p:txBody>
          <a:bodyPr vert="horz" wrap="square" lIns="0" tIns="28511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45"/>
              </a:spcBef>
            </a:pPr>
            <a:r>
              <a:rPr lang="en-GB" sz="38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Arial MT"/>
              </a:rPr>
              <a:t>Input and Output statement</a:t>
            </a:r>
            <a:endParaRPr sz="3800" dirty="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38200" y="1825625"/>
            <a:ext cx="10515600" cy="4351655"/>
          </a:xfrm>
          <a:custGeom>
            <a:avLst/>
            <a:gdLst/>
            <a:ahLst/>
            <a:cxnLst/>
            <a:rect l="l" t="t" r="r" b="b"/>
            <a:pathLst>
              <a:path w="10515600" h="4351655">
                <a:moveTo>
                  <a:pt x="0" y="0"/>
                </a:moveTo>
                <a:lnTo>
                  <a:pt x="10515599" y="0"/>
                </a:lnTo>
                <a:lnTo>
                  <a:pt x="10515599" y="4351337"/>
                </a:lnTo>
                <a:lnTo>
                  <a:pt x="0" y="4351337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64547" y="2313711"/>
            <a:ext cx="10115550" cy="2113399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86690" marR="635635" indent="-174625" algn="just">
              <a:lnSpc>
                <a:spcPts val="3020"/>
              </a:lnSpc>
              <a:spcBef>
                <a:spcPts val="480"/>
              </a:spcBef>
              <a:buChar char="•"/>
              <a:tabLst>
                <a:tab pos="187960" algn="l"/>
              </a:tabLst>
            </a:pPr>
            <a:r>
              <a:rPr lang="en-GB" sz="28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C language has standard libraries that allow input and output in a program. The </a:t>
            </a:r>
            <a:r>
              <a:rPr lang="en-GB" sz="2800" b="1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stdio.h</a:t>
            </a:r>
            <a:r>
              <a:rPr lang="en-GB" sz="28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 or </a:t>
            </a:r>
            <a:r>
              <a:rPr lang="en-GB" sz="28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standard input output library</a:t>
            </a:r>
            <a:r>
              <a:rPr lang="en-GB" sz="28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 in C that has methods for input and output.</a:t>
            </a:r>
            <a:endParaRPr lang="en-GB" sz="2800" b="0" i="0" spc="-10" dirty="0">
              <a:solidFill>
                <a:srgbClr val="273239"/>
              </a:solidFill>
              <a:effectLst/>
              <a:highlight>
                <a:srgbClr val="FFFFFF"/>
              </a:highlight>
              <a:latin typeface="Arial MT"/>
            </a:endParaRPr>
          </a:p>
          <a:p>
            <a:pPr marL="469265" marR="635635" indent="-457200" algn="just">
              <a:lnSpc>
                <a:spcPts val="3020"/>
              </a:lnSpc>
              <a:spcBef>
                <a:spcPts val="480"/>
              </a:spcBef>
              <a:buFont typeface="Wingdings" panose="05000000000000000000" pitchFamily="2" charset="2"/>
              <a:buChar char="Ø"/>
              <a:tabLst>
                <a:tab pos="187960" algn="l"/>
              </a:tabLst>
            </a:pPr>
            <a:r>
              <a:rPr lang="en-GB" sz="2800" spc="-10" dirty="0" err="1">
                <a:solidFill>
                  <a:srgbClr val="273239"/>
                </a:solidFill>
                <a:highlight>
                  <a:srgbClr val="FFFFFF"/>
                </a:highlight>
                <a:latin typeface="Arial MT"/>
                <a:cs typeface="Arial MT"/>
              </a:rPr>
              <a:t>Scanf</a:t>
            </a:r>
            <a:r>
              <a:rPr lang="en-GB" sz="2800" spc="-10" dirty="0">
                <a:solidFill>
                  <a:srgbClr val="273239"/>
                </a:solidFill>
                <a:highlight>
                  <a:srgbClr val="FFFFFF"/>
                </a:highlight>
                <a:latin typeface="Arial MT"/>
                <a:cs typeface="Arial MT"/>
              </a:rPr>
              <a:t>()</a:t>
            </a:r>
          </a:p>
          <a:p>
            <a:pPr marL="469265" marR="635635" indent="-457200" algn="just">
              <a:lnSpc>
                <a:spcPts val="3020"/>
              </a:lnSpc>
              <a:spcBef>
                <a:spcPts val="480"/>
              </a:spcBef>
              <a:buFont typeface="Wingdings" panose="05000000000000000000" pitchFamily="2" charset="2"/>
              <a:buChar char="Ø"/>
              <a:tabLst>
                <a:tab pos="187960" algn="l"/>
              </a:tabLst>
            </a:pPr>
            <a:r>
              <a:rPr lang="en-GB" sz="2800" spc="-10" dirty="0" err="1">
                <a:solidFill>
                  <a:srgbClr val="273239"/>
                </a:solidFill>
                <a:highlight>
                  <a:srgbClr val="FFFFFF"/>
                </a:highlight>
                <a:latin typeface="Arial MT"/>
                <a:cs typeface="Arial MT"/>
              </a:rPr>
              <a:t>Printf</a:t>
            </a:r>
            <a:r>
              <a:rPr lang="en-GB" sz="2800" spc="-10" dirty="0">
                <a:solidFill>
                  <a:srgbClr val="273239"/>
                </a:solidFill>
                <a:highlight>
                  <a:srgbClr val="FFFFFF"/>
                </a:highlight>
                <a:latin typeface="Arial MT"/>
                <a:cs typeface="Arial MT"/>
              </a:rPr>
              <a:t>()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911225" y="6466776"/>
            <a:ext cx="73596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20"/>
              <a:t>07-08-2024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195973" y="6466776"/>
            <a:ext cx="379475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10"/>
              <a:t>21CSS101J</a:t>
            </a:r>
            <a:r>
              <a:rPr lang="en-IN" spc="-25"/>
              <a:t> </a:t>
            </a:r>
            <a:r>
              <a:rPr lang="en-IN" spc="-10"/>
              <a:t>PROGRAMMING</a:t>
            </a:r>
            <a:r>
              <a:rPr lang="en-IN" spc="-25"/>
              <a:t> </a:t>
            </a:r>
            <a:r>
              <a:rPr lang="en-IN"/>
              <a:t>FOR</a:t>
            </a:r>
            <a:r>
              <a:rPr lang="en-IN" spc="-20"/>
              <a:t> </a:t>
            </a:r>
            <a:r>
              <a:rPr lang="en-IN" spc="-10"/>
              <a:t>PROBLEM</a:t>
            </a:r>
            <a:r>
              <a:rPr lang="en-IN" spc="-25"/>
              <a:t> </a:t>
            </a:r>
            <a:r>
              <a:rPr lang="en-IN"/>
              <a:t>SOLVING</a:t>
            </a:r>
            <a:r>
              <a:rPr lang="en-IN" spc="-25"/>
              <a:t> </a:t>
            </a:r>
            <a:r>
              <a:rPr lang="en-IN"/>
              <a:t>-</a:t>
            </a:r>
            <a:r>
              <a:rPr lang="en-IN" spc="-20"/>
              <a:t> </a:t>
            </a:r>
            <a:r>
              <a:rPr lang="en-IN"/>
              <a:t>UNIT</a:t>
            </a:r>
            <a:r>
              <a:rPr lang="en-IN" spc="-25"/>
              <a:t> II</a:t>
            </a:r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075491" y="6466776"/>
            <a:ext cx="24361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4935">
                <a:lnSpc>
                  <a:spcPts val="1240"/>
                </a:lnSpc>
              </a:pPr>
              <a:t>128</a:t>
            </a:fld>
            <a:endParaRPr spc="-5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549791"/>
            <a:ext cx="10515600" cy="780342"/>
          </a:xfrm>
          <a:prstGeom prst="rect">
            <a:avLst/>
          </a:prstGeom>
          <a:solidFill>
            <a:schemeClr val="bg1"/>
          </a:solidFill>
          <a:ln w="9524">
            <a:solidFill>
              <a:srgbClr val="000000"/>
            </a:solidFill>
          </a:ln>
        </p:spPr>
        <p:txBody>
          <a:bodyPr vert="horz" wrap="square" lIns="0" tIns="28511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45"/>
              </a:spcBef>
            </a:pPr>
            <a:r>
              <a:rPr lang="en-IN" sz="3200" cap="none" dirty="0" err="1">
                <a:latin typeface="Arial" panose="020B0604020202020204" pitchFamily="34" charset="0"/>
                <a:cs typeface="Arial" panose="020B0604020202020204" pitchFamily="34" charset="0"/>
              </a:rPr>
              <a:t>scanf</a:t>
            </a:r>
            <a:r>
              <a:rPr lang="en-IN" sz="3200" cap="none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825625"/>
            <a:ext cx="10515600" cy="4351655"/>
          </a:xfrm>
          <a:custGeom>
            <a:avLst/>
            <a:gdLst/>
            <a:ahLst/>
            <a:cxnLst/>
            <a:rect l="l" t="t" r="r" b="b"/>
            <a:pathLst>
              <a:path w="10515600" h="4351655">
                <a:moveTo>
                  <a:pt x="0" y="0"/>
                </a:moveTo>
                <a:lnTo>
                  <a:pt x="10515599" y="0"/>
                </a:lnTo>
                <a:lnTo>
                  <a:pt x="10515599" y="4351337"/>
                </a:lnTo>
                <a:lnTo>
                  <a:pt x="0" y="4351337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38200" y="1980501"/>
            <a:ext cx="10480902" cy="4741041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310"/>
              </a:spcBef>
              <a:buChar char="•"/>
              <a:tabLst>
                <a:tab pos="194310" algn="l"/>
              </a:tabLst>
            </a:pPr>
            <a:r>
              <a:rPr lang="en-GB" sz="24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The </a:t>
            </a:r>
            <a:r>
              <a:rPr lang="en-GB" sz="2400" b="0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scanf</a:t>
            </a:r>
            <a:r>
              <a:rPr lang="en-GB" sz="24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  <a:t>() method, in C, reads the value from the console as per the type specified and store it in the given address.</a:t>
            </a:r>
          </a:p>
          <a:p>
            <a:pPr marL="12700">
              <a:lnSpc>
                <a:spcPct val="100000"/>
              </a:lnSpc>
              <a:spcBef>
                <a:spcPts val="310"/>
              </a:spcBef>
              <a:tabLst>
                <a:tab pos="194310" algn="l"/>
              </a:tabLst>
            </a:pPr>
            <a:r>
              <a:rPr lang="en-IN" sz="2400" dirty="0">
                <a:latin typeface="Arial MT"/>
                <a:cs typeface="Arial MT"/>
              </a:rPr>
              <a:t>  Syntax</a:t>
            </a:r>
          </a:p>
          <a:p>
            <a:pPr marL="12700">
              <a:lnSpc>
                <a:spcPct val="100000"/>
              </a:lnSpc>
              <a:spcBef>
                <a:spcPts val="310"/>
              </a:spcBef>
              <a:tabLst>
                <a:tab pos="194310" algn="l"/>
              </a:tabLst>
            </a:pPr>
            <a:endParaRPr lang="en-IN"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  <a:tabLst>
                <a:tab pos="194310" algn="l"/>
              </a:tabLst>
            </a:pPr>
            <a:r>
              <a:rPr lang="en-IN" sz="2400" dirty="0">
                <a:latin typeface="Arial MT"/>
                <a:cs typeface="Arial MT"/>
              </a:rPr>
              <a:t>		</a:t>
            </a:r>
            <a:r>
              <a:rPr lang="en-IN" sz="2400" dirty="0" err="1">
                <a:latin typeface="Arial MT"/>
                <a:cs typeface="Arial MT"/>
              </a:rPr>
              <a:t>Scanf</a:t>
            </a:r>
            <a:r>
              <a:rPr lang="en-IN" sz="2400" dirty="0">
                <a:latin typeface="Arial MT"/>
                <a:cs typeface="Arial MT"/>
              </a:rPr>
              <a:t> (“%x”, &amp;</a:t>
            </a:r>
            <a:r>
              <a:rPr lang="en-IN" sz="2400" dirty="0" err="1">
                <a:latin typeface="Arial MT"/>
                <a:cs typeface="Arial MT"/>
              </a:rPr>
              <a:t>variableofxtype</a:t>
            </a:r>
            <a:r>
              <a:rPr lang="en-IN" sz="2400" dirty="0">
                <a:latin typeface="Arial MT"/>
                <a:cs typeface="Arial MT"/>
              </a:rPr>
              <a:t>);</a:t>
            </a:r>
          </a:p>
          <a:p>
            <a:pPr marL="12700">
              <a:lnSpc>
                <a:spcPct val="100000"/>
              </a:lnSpc>
              <a:spcBef>
                <a:spcPts val="310"/>
              </a:spcBef>
              <a:tabLst>
                <a:tab pos="194310" algn="l"/>
              </a:tabLst>
            </a:pPr>
            <a:endParaRPr lang="en-US"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  <a:tabLst>
                <a:tab pos="194310" algn="l"/>
              </a:tabLst>
            </a:pPr>
            <a:r>
              <a:rPr lang="en-US" sz="2400" dirty="0">
                <a:latin typeface="Arial MT"/>
                <a:cs typeface="Arial MT"/>
              </a:rPr>
              <a:t>where %x is the format specifier in C. It is a way to tell the compiler what type of data is in a variable and &amp; is the address operator in C, which tells the compiler to change the real value of </a:t>
            </a:r>
            <a:r>
              <a:rPr lang="en-US" sz="2400" dirty="0" err="1">
                <a:latin typeface="Arial MT"/>
                <a:cs typeface="Arial MT"/>
              </a:rPr>
              <a:t>variableOfXType</a:t>
            </a:r>
            <a:r>
              <a:rPr lang="en-US" sz="2400" dirty="0">
                <a:latin typeface="Arial MT"/>
                <a:cs typeface="Arial MT"/>
              </a:rPr>
              <a:t>, stored at this address in the memory</a:t>
            </a:r>
            <a:endParaRPr lang="en-IN"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  <a:tabLst>
                <a:tab pos="194310" algn="l"/>
              </a:tabLst>
            </a:pPr>
            <a:endParaRPr lang="en-IN" sz="2400" dirty="0">
              <a:latin typeface="Arial MT"/>
              <a:cs typeface="Arial MT"/>
            </a:endParaRPr>
          </a:p>
          <a:p>
            <a:pPr marL="194310" indent="-181610">
              <a:lnSpc>
                <a:spcPct val="100000"/>
              </a:lnSpc>
              <a:spcBef>
                <a:spcPts val="310"/>
              </a:spcBef>
              <a:buChar char="•"/>
              <a:tabLst>
                <a:tab pos="194310" algn="l"/>
              </a:tabLst>
            </a:pP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911225" y="6466776"/>
            <a:ext cx="73596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20"/>
              <a:t>07-08-2024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195973" y="6466776"/>
            <a:ext cx="379475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10" dirty="0"/>
              <a:t>21CSS101J</a:t>
            </a:r>
            <a:r>
              <a:rPr lang="en-IN" spc="-25" dirty="0"/>
              <a:t> </a:t>
            </a:r>
            <a:r>
              <a:rPr lang="en-IN" spc="-10" dirty="0"/>
              <a:t>PROGRAMMING</a:t>
            </a:r>
            <a:r>
              <a:rPr lang="en-IN" spc="-25" dirty="0"/>
              <a:t> </a:t>
            </a:r>
            <a:r>
              <a:rPr lang="en-IN" dirty="0"/>
              <a:t>FOR</a:t>
            </a:r>
            <a:r>
              <a:rPr lang="en-IN" spc="-20" dirty="0"/>
              <a:t> </a:t>
            </a:r>
            <a:r>
              <a:rPr lang="en-IN" spc="-10" dirty="0"/>
              <a:t>PROBLEM</a:t>
            </a:r>
            <a:r>
              <a:rPr lang="en-IN" spc="-25" dirty="0"/>
              <a:t> </a:t>
            </a:r>
            <a:r>
              <a:rPr lang="en-IN" dirty="0"/>
              <a:t>SOLVING</a:t>
            </a:r>
            <a:r>
              <a:rPr lang="en-IN" spc="-25" dirty="0"/>
              <a:t> </a:t>
            </a:r>
            <a:r>
              <a:rPr lang="en-IN" dirty="0"/>
              <a:t>-</a:t>
            </a:r>
            <a:r>
              <a:rPr lang="en-IN" spc="-20" dirty="0"/>
              <a:t> </a:t>
            </a:r>
            <a:r>
              <a:rPr lang="en-IN" dirty="0"/>
              <a:t>UNIT</a:t>
            </a:r>
            <a:r>
              <a:rPr lang="en-IN" spc="-25" dirty="0"/>
              <a:t> II</a:t>
            </a:r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075491" y="6466776"/>
            <a:ext cx="24361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4935">
                <a:lnSpc>
                  <a:spcPts val="1240"/>
                </a:lnSpc>
              </a:pPr>
              <a:t>129</a:t>
            </a:fld>
            <a:endParaRPr spc="-5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549791"/>
            <a:ext cx="10515600" cy="780342"/>
          </a:xfrm>
          <a:prstGeom prst="rect">
            <a:avLst/>
          </a:prstGeom>
          <a:solidFill>
            <a:schemeClr val="bg1"/>
          </a:solidFill>
          <a:ln w="9524">
            <a:solidFill>
              <a:srgbClr val="000000"/>
            </a:solidFill>
          </a:ln>
        </p:spPr>
        <p:txBody>
          <a:bodyPr vert="horz" wrap="square" lIns="0" tIns="28511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45"/>
              </a:spcBef>
            </a:pPr>
            <a:r>
              <a:rPr lang="en-IN" sz="3200" b="0" cap="none" dirty="0" err="1">
                <a:ln w="3175">
                  <a:solidFill>
                    <a:schemeClr val="tx1"/>
                  </a:solidFill>
                </a:ln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n-IN" sz="3200" b="0" cap="none" dirty="0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IN" sz="3200" b="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0769" y="1902008"/>
            <a:ext cx="10515600" cy="4351655"/>
          </a:xfrm>
          <a:custGeom>
            <a:avLst/>
            <a:gdLst/>
            <a:ahLst/>
            <a:cxnLst/>
            <a:rect l="l" t="t" r="r" b="b"/>
            <a:pathLst>
              <a:path w="10515600" h="4351655">
                <a:moveTo>
                  <a:pt x="0" y="0"/>
                </a:moveTo>
                <a:lnTo>
                  <a:pt x="10515599" y="0"/>
                </a:lnTo>
                <a:lnTo>
                  <a:pt x="10515599" y="4351337"/>
                </a:lnTo>
                <a:lnTo>
                  <a:pt x="0" y="4351337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3000" y="2147298"/>
            <a:ext cx="10210800" cy="4514826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13055" marR="294640" indent="-174625">
              <a:lnSpc>
                <a:spcPts val="3020"/>
              </a:lnSpc>
              <a:spcBef>
                <a:spcPts val="300"/>
              </a:spcBef>
              <a:buChar char="•"/>
              <a:tabLst>
                <a:tab pos="314325" algn="l"/>
              </a:tabLst>
            </a:pPr>
            <a:r>
              <a:rPr lang="en-US" sz="2400" dirty="0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 err="1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n-US" sz="2400" dirty="0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() method, in C, prints the value passed as the parameter to it, on the console screen</a:t>
            </a:r>
            <a:r>
              <a:rPr lang="en-US" sz="2400" spc="-10" dirty="0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38430" marR="294640">
              <a:lnSpc>
                <a:spcPts val="3020"/>
              </a:lnSpc>
              <a:spcBef>
                <a:spcPts val="300"/>
              </a:spcBef>
              <a:tabLst>
                <a:tab pos="314325" algn="l"/>
              </a:tabLst>
            </a:pPr>
            <a:endParaRPr lang="en-US" sz="2400" spc="-10" dirty="0"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" marR="294640">
              <a:lnSpc>
                <a:spcPts val="3020"/>
              </a:lnSpc>
              <a:spcBef>
                <a:spcPts val="300"/>
              </a:spcBef>
              <a:tabLst>
                <a:tab pos="314325" algn="l"/>
              </a:tabLst>
            </a:pPr>
            <a:r>
              <a:rPr lang="en-US" sz="2400" spc="-10" dirty="0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 Syntax</a:t>
            </a:r>
          </a:p>
          <a:p>
            <a:pPr marL="138430" marR="294640">
              <a:lnSpc>
                <a:spcPts val="3020"/>
              </a:lnSpc>
              <a:spcBef>
                <a:spcPts val="300"/>
              </a:spcBef>
              <a:tabLst>
                <a:tab pos="314325" algn="l"/>
              </a:tabLst>
            </a:pPr>
            <a:r>
              <a:rPr lang="en-US" sz="2400" spc="-10" dirty="0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           </a:t>
            </a:r>
            <a:r>
              <a:rPr lang="en-US" sz="2400" spc="-10" dirty="0" err="1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n-US" sz="2400" spc="-10" dirty="0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(“%x”, variable Of x Type);</a:t>
            </a:r>
          </a:p>
          <a:p>
            <a:pPr marL="138430" marR="294640">
              <a:lnSpc>
                <a:spcPts val="3020"/>
              </a:lnSpc>
              <a:spcBef>
                <a:spcPts val="300"/>
              </a:spcBef>
              <a:tabLst>
                <a:tab pos="314325" algn="l"/>
              </a:tabLst>
            </a:pPr>
            <a:endParaRPr lang="en-US" sz="2400" spc="-10" dirty="0"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" marR="294640">
              <a:lnSpc>
                <a:spcPts val="3020"/>
              </a:lnSpc>
              <a:spcBef>
                <a:spcPts val="300"/>
              </a:spcBef>
              <a:tabLst>
                <a:tab pos="314325" algn="l"/>
              </a:tabLst>
            </a:pPr>
            <a:r>
              <a:rPr lang="en-US" sz="2400" spc="-10" dirty="0">
                <a:latin typeface="Arial" panose="020B0604020202020204" pitchFamily="34" charset="0"/>
                <a:cs typeface="Arial" panose="020B0604020202020204" pitchFamily="34" charset="0"/>
              </a:rPr>
              <a:t>where %x is the format specifier in C. It is a way to tell the compiler what type of data is in a variable and </a:t>
            </a:r>
            <a:r>
              <a:rPr lang="en-US" sz="2400" spc="-10" dirty="0" err="1">
                <a:latin typeface="Arial" panose="020B0604020202020204" pitchFamily="34" charset="0"/>
                <a:cs typeface="Arial" panose="020B0604020202020204" pitchFamily="34" charset="0"/>
              </a:rPr>
              <a:t>variableOfXType</a:t>
            </a:r>
            <a:r>
              <a:rPr lang="en-US" sz="2400" spc="-10" dirty="0">
                <a:latin typeface="Arial" panose="020B0604020202020204" pitchFamily="34" charset="0"/>
                <a:cs typeface="Arial" panose="020B0604020202020204" pitchFamily="34" charset="0"/>
              </a:rPr>
              <a:t> is the variable to be printed.</a:t>
            </a:r>
            <a:endParaRPr lang="en-US" sz="2400" spc="-10" dirty="0"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" marR="294640">
              <a:lnSpc>
                <a:spcPts val="3020"/>
              </a:lnSpc>
              <a:spcBef>
                <a:spcPts val="300"/>
              </a:spcBef>
              <a:tabLst>
                <a:tab pos="314325" algn="l"/>
              </a:tabLst>
            </a:pPr>
            <a:endParaRPr lang="en-US" sz="2400" spc="-10" dirty="0">
              <a:highlight>
                <a:srgbClr val="FFFFFF"/>
              </a:highlight>
              <a:latin typeface="Arial MT"/>
              <a:cs typeface="Arial MT"/>
            </a:endParaRPr>
          </a:p>
          <a:p>
            <a:pPr marL="138430" marR="294640">
              <a:lnSpc>
                <a:spcPts val="3020"/>
              </a:lnSpc>
              <a:spcBef>
                <a:spcPts val="300"/>
              </a:spcBef>
              <a:tabLst>
                <a:tab pos="314325" algn="l"/>
              </a:tabLst>
            </a:pPr>
            <a:endParaRPr lang="en-US" sz="2400" spc="-10" dirty="0">
              <a:highlight>
                <a:srgbClr val="FFFFFF"/>
              </a:highlight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911225" y="6466776"/>
            <a:ext cx="73596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20"/>
              <a:t>07-08-2024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195973" y="6466776"/>
            <a:ext cx="379475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10"/>
              <a:t>21CSS101J</a:t>
            </a:r>
            <a:r>
              <a:rPr lang="en-IN" spc="-25"/>
              <a:t> </a:t>
            </a:r>
            <a:r>
              <a:rPr lang="en-IN" spc="-10"/>
              <a:t>PROGRAMMING</a:t>
            </a:r>
            <a:r>
              <a:rPr lang="en-IN" spc="-25"/>
              <a:t> </a:t>
            </a:r>
            <a:r>
              <a:rPr lang="en-IN"/>
              <a:t>FOR</a:t>
            </a:r>
            <a:r>
              <a:rPr lang="en-IN" spc="-20"/>
              <a:t> </a:t>
            </a:r>
            <a:r>
              <a:rPr lang="en-IN" spc="-10"/>
              <a:t>PROBLEM</a:t>
            </a:r>
            <a:r>
              <a:rPr lang="en-IN" spc="-25"/>
              <a:t> </a:t>
            </a:r>
            <a:r>
              <a:rPr lang="en-IN"/>
              <a:t>SOLVING</a:t>
            </a:r>
            <a:r>
              <a:rPr lang="en-IN" spc="-25"/>
              <a:t> </a:t>
            </a:r>
            <a:r>
              <a:rPr lang="en-IN"/>
              <a:t>-</a:t>
            </a:r>
            <a:r>
              <a:rPr lang="en-IN" spc="-20"/>
              <a:t> </a:t>
            </a:r>
            <a:r>
              <a:rPr lang="en-IN"/>
              <a:t>UNIT</a:t>
            </a:r>
            <a:r>
              <a:rPr lang="en-IN" spc="-25"/>
              <a:t> II</a:t>
            </a:r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075491" y="6466776"/>
            <a:ext cx="24361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4935">
                <a:lnSpc>
                  <a:spcPts val="1240"/>
                </a:lnSpc>
              </a:pPr>
              <a:t>130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427739408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5FE43-500F-1655-AEBB-4348F3792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968" y="0"/>
            <a:ext cx="10287000" cy="1147762"/>
          </a:xfrm>
        </p:spPr>
        <p:txBody>
          <a:bodyPr/>
          <a:lstStyle/>
          <a:p>
            <a:r>
              <a:rPr lang="en-IN" dirty="0">
                <a:solidFill>
                  <a:srgbClr val="273239"/>
                </a:solidFill>
                <a:highlight>
                  <a:srgbClr val="FFFFFF"/>
                </a:highlight>
                <a:latin typeface="Nunito" pitchFamily="2" charset="0"/>
              </a:rPr>
              <a:t>Format Specifiers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CFDE-C167-C64E-17B2-0E6EA4F47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407559"/>
            <a:ext cx="10667572" cy="5075433"/>
          </a:xfrm>
        </p:spPr>
        <p:txBody>
          <a:bodyPr>
            <a:normAutofit/>
          </a:bodyPr>
          <a:lstStyle/>
          <a:p>
            <a:pPr marL="138430" marR="294640" indent="0" algn="just">
              <a:lnSpc>
                <a:spcPts val="3020"/>
              </a:lnSpc>
              <a:spcBef>
                <a:spcPts val="300"/>
              </a:spcBef>
              <a:buNone/>
              <a:tabLst>
                <a:tab pos="314325" algn="l"/>
              </a:tabLst>
            </a:pPr>
            <a:r>
              <a:rPr lang="en-GB" sz="2800" dirty="0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The basic type in C includes types like int, float, char, etc. In order to input or output the specific type, the </a:t>
            </a:r>
            <a:r>
              <a:rPr lang="en-GB" sz="2800" b="1" dirty="0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GB" sz="2800" dirty="0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in the above syntax is changed with the specific format specifier of that type. </a:t>
            </a:r>
          </a:p>
          <a:p>
            <a:pPr marL="138430" marR="294640" indent="0" algn="just">
              <a:lnSpc>
                <a:spcPts val="3020"/>
              </a:lnSpc>
              <a:spcBef>
                <a:spcPts val="300"/>
              </a:spcBef>
              <a:buNone/>
              <a:tabLst>
                <a:tab pos="314325" algn="l"/>
              </a:tabLst>
            </a:pPr>
            <a:endParaRPr lang="en-GB" sz="2800" dirty="0">
              <a:solidFill>
                <a:srgbClr val="273239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" marR="294640" indent="0" algn="just">
              <a:lnSpc>
                <a:spcPts val="3020"/>
              </a:lnSpc>
              <a:spcBef>
                <a:spcPts val="300"/>
              </a:spcBef>
              <a:buNone/>
              <a:tabLst>
                <a:tab pos="314325" algn="l"/>
              </a:tabLst>
            </a:pPr>
            <a:r>
              <a:rPr lang="en-GB" sz="2800" dirty="0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The Syntax for input and output for these are:</a:t>
            </a:r>
            <a:r>
              <a:rPr lang="en-CA" sz="2800" spc="-1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595630" marR="294640" indent="-457200" algn="just">
              <a:lnSpc>
                <a:spcPts val="3020"/>
              </a:lnSpc>
              <a:spcBef>
                <a:spcPts val="300"/>
              </a:spcBef>
              <a:tabLst>
                <a:tab pos="314325" algn="l"/>
              </a:tabLst>
            </a:pPr>
            <a:r>
              <a:rPr lang="en-IN" sz="2800" b="1" dirty="0">
                <a:solidFill>
                  <a:srgbClr val="2732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Integer:</a:t>
            </a:r>
          </a:p>
          <a:p>
            <a:pPr marL="138430" marR="294640" indent="0" algn="just">
              <a:lnSpc>
                <a:spcPts val="3020"/>
              </a:lnSpc>
              <a:spcBef>
                <a:spcPts val="300"/>
              </a:spcBef>
              <a:buNone/>
              <a:tabLst>
                <a:tab pos="314325" algn="l"/>
              </a:tabLst>
            </a:pPr>
            <a:r>
              <a:rPr lang="en-US" altLang="en-US" sz="2800" dirty="0">
                <a:solidFill>
                  <a:srgbClr val="2732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altLang="en-US" sz="2800" dirty="0" err="1">
                <a:solidFill>
                  <a:srgbClr val="2732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scanf</a:t>
            </a:r>
            <a:r>
              <a:rPr lang="en-US" altLang="en-US" sz="2800" dirty="0">
                <a:solidFill>
                  <a:srgbClr val="2732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("%d", &amp;</a:t>
            </a:r>
            <a:r>
              <a:rPr lang="en-US" altLang="en-US" sz="2800" dirty="0" err="1">
                <a:solidFill>
                  <a:srgbClr val="2732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intVariable</a:t>
            </a:r>
            <a:r>
              <a:rPr lang="en-US" altLang="en-US" sz="2800" dirty="0">
                <a:solidFill>
                  <a:srgbClr val="2732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</a:t>
            </a:r>
          </a:p>
          <a:p>
            <a:pPr marL="0" marR="294640" indent="0" algn="just">
              <a:lnSpc>
                <a:spcPts val="3020"/>
              </a:lnSpc>
              <a:spcBef>
                <a:spcPts val="300"/>
              </a:spcBef>
              <a:buNone/>
              <a:tabLst>
                <a:tab pos="314325" algn="l"/>
              </a:tabLst>
            </a:pPr>
            <a:r>
              <a:rPr lang="en-US" altLang="en-US" sz="2800" dirty="0">
                <a:solidFill>
                  <a:srgbClr val="2732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Output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("%d",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intVariable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313055" marR="294640" indent="-174625" algn="just">
              <a:lnSpc>
                <a:spcPts val="3020"/>
              </a:lnSpc>
              <a:spcBef>
                <a:spcPts val="300"/>
              </a:spcBef>
              <a:tabLst>
                <a:tab pos="314325" algn="l"/>
              </a:tabLst>
            </a:pPr>
            <a:endParaRPr lang="en-GB" sz="2800" dirty="0">
              <a:solidFill>
                <a:srgbClr val="2732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3055" marR="294640" indent="-174625" algn="just">
              <a:lnSpc>
                <a:spcPts val="3020"/>
              </a:lnSpc>
              <a:spcBef>
                <a:spcPts val="300"/>
              </a:spcBef>
              <a:tabLst>
                <a:tab pos="314325" algn="l"/>
              </a:tabLst>
            </a:pPr>
            <a:r>
              <a:rPr lang="en-GB" sz="2800" b="1" dirty="0">
                <a:solidFill>
                  <a:srgbClr val="2732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Float:</a:t>
            </a:r>
          </a:p>
          <a:p>
            <a:pPr marL="138430" marR="294640" indent="0" algn="just">
              <a:lnSpc>
                <a:spcPts val="3020"/>
              </a:lnSpc>
              <a:spcBef>
                <a:spcPts val="300"/>
              </a:spcBef>
              <a:buNone/>
              <a:tabLst>
                <a:tab pos="314325" algn="l"/>
              </a:tabLst>
            </a:pPr>
            <a:r>
              <a:rPr lang="en-GB" sz="2800" dirty="0">
                <a:solidFill>
                  <a:srgbClr val="2732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GB" sz="2800" dirty="0" err="1">
                <a:solidFill>
                  <a:srgbClr val="2732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scanf</a:t>
            </a:r>
            <a:r>
              <a:rPr lang="en-GB" sz="2800" dirty="0">
                <a:solidFill>
                  <a:srgbClr val="2732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("%f", &amp;</a:t>
            </a:r>
            <a:r>
              <a:rPr lang="en-GB" sz="2800" dirty="0" err="1">
                <a:solidFill>
                  <a:srgbClr val="2732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floatVariable</a:t>
            </a:r>
            <a:r>
              <a:rPr lang="en-GB" sz="2800" dirty="0">
                <a:solidFill>
                  <a:srgbClr val="2732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</a:t>
            </a:r>
          </a:p>
          <a:p>
            <a:pPr marL="138430" marR="294640" indent="0" algn="just">
              <a:lnSpc>
                <a:spcPts val="3020"/>
              </a:lnSpc>
              <a:spcBef>
                <a:spcPts val="300"/>
              </a:spcBef>
              <a:buNone/>
              <a:tabLst>
                <a:tab pos="314325" algn="l"/>
              </a:tabLst>
            </a:pPr>
            <a:r>
              <a:rPr lang="en-GB" sz="2800" dirty="0">
                <a:solidFill>
                  <a:srgbClr val="2732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Output: </a:t>
            </a:r>
            <a:r>
              <a:rPr lang="en-GB" sz="2800" dirty="0" err="1">
                <a:solidFill>
                  <a:srgbClr val="2732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n-GB" sz="2800" dirty="0">
                <a:solidFill>
                  <a:srgbClr val="2732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("%f", </a:t>
            </a:r>
            <a:r>
              <a:rPr lang="en-GB" sz="2800" dirty="0" err="1">
                <a:solidFill>
                  <a:srgbClr val="2732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floatVariable</a:t>
            </a:r>
            <a:r>
              <a:rPr lang="en-GB" sz="2800" dirty="0">
                <a:solidFill>
                  <a:srgbClr val="2732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</a:t>
            </a:r>
          </a:p>
          <a:p>
            <a:pPr marL="0" marR="294640" indent="0" algn="just">
              <a:lnSpc>
                <a:spcPts val="3020"/>
              </a:lnSpc>
              <a:spcBef>
                <a:spcPts val="300"/>
              </a:spcBef>
              <a:buNone/>
              <a:tabLst>
                <a:tab pos="314325" algn="l"/>
              </a:tabLs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294640" algn="just">
              <a:lnSpc>
                <a:spcPts val="3020"/>
              </a:lnSpc>
              <a:spcBef>
                <a:spcPts val="300"/>
              </a:spcBef>
              <a:tabLst>
                <a:tab pos="314325" algn="l"/>
              </a:tabLs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617872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5FE43-500F-1655-AEBB-4348F3792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0"/>
            <a:ext cx="10287000" cy="1147762"/>
          </a:xfrm>
        </p:spPr>
        <p:txBody>
          <a:bodyPr/>
          <a:lstStyle/>
          <a:p>
            <a:r>
              <a:rPr lang="en-IN" dirty="0">
                <a:solidFill>
                  <a:srgbClr val="273239"/>
                </a:solidFill>
                <a:highlight>
                  <a:srgbClr val="FFFFFF"/>
                </a:highlight>
                <a:latin typeface="Nunito" pitchFamily="2" charset="0"/>
              </a:rPr>
              <a:t>Format Specifiers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CFDE-C167-C64E-17B2-0E6EA4F47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397285"/>
            <a:ext cx="10664147" cy="4818579"/>
          </a:xfrm>
        </p:spPr>
        <p:txBody>
          <a:bodyPr>
            <a:normAutofit fontScale="40000" lnSpcReduction="20000"/>
          </a:bodyPr>
          <a:lstStyle/>
          <a:p>
            <a:pPr marL="138430" marR="294640" indent="0" algn="just">
              <a:lnSpc>
                <a:spcPts val="3020"/>
              </a:lnSpc>
              <a:spcBef>
                <a:spcPts val="300"/>
              </a:spcBef>
              <a:buNone/>
              <a:tabLst>
                <a:tab pos="314325" algn="l"/>
              </a:tabLst>
            </a:pPr>
            <a:r>
              <a:rPr lang="en-GB" sz="8600" b="1" dirty="0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Character:</a:t>
            </a:r>
          </a:p>
          <a:p>
            <a:pPr marL="138430" marR="294640" indent="0" algn="just">
              <a:lnSpc>
                <a:spcPts val="3020"/>
              </a:lnSpc>
              <a:spcBef>
                <a:spcPts val="300"/>
              </a:spcBef>
              <a:buNone/>
              <a:tabLst>
                <a:tab pos="314325" algn="l"/>
              </a:tabLst>
            </a:pPr>
            <a:r>
              <a:rPr lang="en-GB" sz="8600" dirty="0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GB" sz="8600" dirty="0" err="1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scanf</a:t>
            </a:r>
            <a:r>
              <a:rPr lang="en-GB" sz="8600" dirty="0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("%c", &amp;</a:t>
            </a:r>
            <a:r>
              <a:rPr lang="en-GB" sz="8600" dirty="0" err="1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charVariable</a:t>
            </a:r>
            <a:r>
              <a:rPr lang="en-GB" sz="8600" dirty="0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); </a:t>
            </a:r>
          </a:p>
          <a:p>
            <a:pPr marL="138430" marR="294640" indent="0" algn="just">
              <a:lnSpc>
                <a:spcPts val="3020"/>
              </a:lnSpc>
              <a:spcBef>
                <a:spcPts val="300"/>
              </a:spcBef>
              <a:buNone/>
              <a:tabLst>
                <a:tab pos="314325" algn="l"/>
              </a:tabLst>
            </a:pPr>
            <a:r>
              <a:rPr lang="en-GB" sz="8600" dirty="0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Output: </a:t>
            </a:r>
            <a:r>
              <a:rPr lang="en-GB" sz="8600" dirty="0" err="1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n-GB" sz="8600" dirty="0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("%c", </a:t>
            </a:r>
            <a:r>
              <a:rPr lang="en-GB" sz="8600" dirty="0" err="1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charVariable</a:t>
            </a:r>
            <a:r>
              <a:rPr lang="en-GB" sz="8600" dirty="0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); </a:t>
            </a:r>
          </a:p>
          <a:p>
            <a:pPr marL="595630" marR="294640" indent="-457200" algn="just">
              <a:lnSpc>
                <a:spcPts val="3020"/>
              </a:lnSpc>
              <a:spcBef>
                <a:spcPts val="300"/>
              </a:spcBef>
              <a:tabLst>
                <a:tab pos="314325" algn="l"/>
              </a:tabLst>
            </a:pPr>
            <a:endParaRPr lang="en-GB" sz="8600" dirty="0">
              <a:solidFill>
                <a:srgbClr val="273239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" marR="294640" indent="0" algn="just">
              <a:lnSpc>
                <a:spcPts val="3020"/>
              </a:lnSpc>
              <a:spcBef>
                <a:spcPts val="300"/>
              </a:spcBef>
              <a:buNone/>
              <a:tabLst>
                <a:tab pos="314325" algn="l"/>
              </a:tabLst>
            </a:pPr>
            <a:r>
              <a:rPr lang="en-GB" sz="8600" b="1" dirty="0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String: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600" dirty="0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en-US" altLang="en-US" sz="8600" dirty="0" err="1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scanf</a:t>
            </a:r>
            <a:r>
              <a:rPr lang="en-US" altLang="en-US" sz="8600" dirty="0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("%s", </a:t>
            </a:r>
            <a:r>
              <a:rPr lang="en-US" altLang="en-US" sz="8600" dirty="0" err="1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stringVariable</a:t>
            </a:r>
            <a:r>
              <a:rPr lang="en-US" altLang="en-US" sz="8600" dirty="0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);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600" dirty="0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Output: </a:t>
            </a:r>
            <a:r>
              <a:rPr lang="en-US" altLang="en-US" sz="8600" dirty="0" err="1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printf</a:t>
            </a:r>
            <a:r>
              <a:rPr lang="en-US" altLang="en-US" sz="8600" dirty="0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("%s", </a:t>
            </a:r>
            <a:r>
              <a:rPr lang="en-US" altLang="en-US" sz="8600" dirty="0" err="1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stringVariable</a:t>
            </a:r>
            <a:r>
              <a:rPr lang="en-US" altLang="en-US" sz="8600" dirty="0">
                <a:solidFill>
                  <a:srgbClr val="27323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);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8600" dirty="0">
              <a:solidFill>
                <a:srgbClr val="273239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600" dirty="0">
                <a:solidFill>
                  <a:srgbClr val="2732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for reference: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600" dirty="0">
                <a:solidFill>
                  <a:srgbClr val="2732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https://tinyurl.com/y3zvn9zt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8600" dirty="0">
              <a:solidFill>
                <a:srgbClr val="2732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8600" dirty="0">
              <a:solidFill>
                <a:srgbClr val="273239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893395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BFDB4D-4484-4C47-AF9B-F20BF19D8CC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2615" y="0"/>
          <a:ext cx="11229101" cy="6756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006">
                  <a:extLst>
                    <a:ext uri="{9D8B030D-6E8A-4147-A177-3AD203B41FA5}">
                      <a16:colId xmlns:a16="http://schemas.microsoft.com/office/drawing/2014/main" val="3810809411"/>
                    </a:ext>
                  </a:extLst>
                </a:gridCol>
                <a:gridCol w="8112095">
                  <a:extLst>
                    <a:ext uri="{9D8B030D-6E8A-4147-A177-3AD203B41FA5}">
                      <a16:colId xmlns:a16="http://schemas.microsoft.com/office/drawing/2014/main" val="2149630166"/>
                    </a:ext>
                  </a:extLst>
                </a:gridCol>
              </a:tblGrid>
              <a:tr h="3866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Format Specifier</a:t>
                      </a:r>
                    </a:p>
                  </a:txBody>
                  <a:tcPr marL="21958" marR="21958" marT="36597" marB="36597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36597" marR="36597" marT="36597" marB="36597" anchor="ctr"/>
                </a:tc>
                <a:extLst>
                  <a:ext uri="{0D108BD9-81ED-4DB2-BD59-A6C34878D82A}">
                    <a16:rowId xmlns:a16="http://schemas.microsoft.com/office/drawing/2014/main" val="745967480"/>
                  </a:ext>
                </a:extLst>
              </a:tr>
              <a:tr h="42467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%c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97" marR="36597" marT="51235" marB="5123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character type.</a:t>
                      </a:r>
                    </a:p>
                  </a:txBody>
                  <a:tcPr marL="36597" marR="36597" marT="51235" marB="51235" anchor="ctr"/>
                </a:tc>
                <a:extLst>
                  <a:ext uri="{0D108BD9-81ED-4DB2-BD59-A6C34878D82A}">
                    <a16:rowId xmlns:a16="http://schemas.microsoft.com/office/drawing/2014/main" val="3275428414"/>
                  </a:ext>
                </a:extLst>
              </a:tr>
              <a:tr h="42467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%d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97" marR="36597" marT="51235" marB="5123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signed integer type.</a:t>
                      </a:r>
                    </a:p>
                  </a:txBody>
                  <a:tcPr marL="36597" marR="36597" marT="51235" marB="51235" anchor="ctr"/>
                </a:tc>
                <a:extLst>
                  <a:ext uri="{0D108BD9-81ED-4DB2-BD59-A6C34878D82A}">
                    <a16:rowId xmlns:a16="http://schemas.microsoft.com/office/drawing/2014/main" val="547424956"/>
                  </a:ext>
                </a:extLst>
              </a:tr>
              <a:tr h="42467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%e or %E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97" marR="36597" marT="51235" marB="5123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scientific notation of floats.</a:t>
                      </a:r>
                    </a:p>
                  </a:txBody>
                  <a:tcPr marL="36597" marR="36597" marT="51235" marB="51235" anchor="ctr"/>
                </a:tc>
                <a:extLst>
                  <a:ext uri="{0D108BD9-81ED-4DB2-BD59-A6C34878D82A}">
                    <a16:rowId xmlns:a16="http://schemas.microsoft.com/office/drawing/2014/main" val="3966804293"/>
                  </a:ext>
                </a:extLst>
              </a:tr>
              <a:tr h="42467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%f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97" marR="36597" marT="51235" marB="5123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float type.</a:t>
                      </a:r>
                    </a:p>
                  </a:txBody>
                  <a:tcPr marL="36597" marR="36597" marT="51235" marB="51235" anchor="ctr"/>
                </a:tc>
                <a:extLst>
                  <a:ext uri="{0D108BD9-81ED-4DB2-BD59-A6C34878D82A}">
                    <a16:rowId xmlns:a16="http://schemas.microsoft.com/office/drawing/2014/main" val="49114637"/>
                  </a:ext>
                </a:extLst>
              </a:tr>
              <a:tr h="42467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%g or %G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97" marR="36597" marT="51235" marB="5123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float type with the current precision.</a:t>
                      </a:r>
                    </a:p>
                  </a:txBody>
                  <a:tcPr marL="36597" marR="36597" marT="51235" marB="51235" anchor="ctr"/>
                </a:tc>
                <a:extLst>
                  <a:ext uri="{0D108BD9-81ED-4DB2-BD59-A6C34878D82A}">
                    <a16:rowId xmlns:a16="http://schemas.microsoft.com/office/drawing/2014/main" val="3164607919"/>
                  </a:ext>
                </a:extLst>
              </a:tr>
              <a:tr h="42467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%i</a:t>
                      </a:r>
                      <a:endParaRPr lang="en-IN" sz="20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97" marR="36597" marT="51235" marB="5123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signed integer</a:t>
                      </a:r>
                    </a:p>
                  </a:txBody>
                  <a:tcPr marL="36597" marR="36597" marT="51235" marB="51235" anchor="ctr"/>
                </a:tc>
                <a:extLst>
                  <a:ext uri="{0D108BD9-81ED-4DB2-BD59-A6C34878D82A}">
                    <a16:rowId xmlns:a16="http://schemas.microsoft.com/office/drawing/2014/main" val="3196133763"/>
                  </a:ext>
                </a:extLst>
              </a:tr>
              <a:tr h="42467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%ld or %li</a:t>
                      </a:r>
                      <a:endParaRPr lang="en-IN" sz="20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97" marR="36597" marT="51235" marB="5123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</a:t>
                      </a:r>
                    </a:p>
                  </a:txBody>
                  <a:tcPr marL="36597" marR="36597" marT="51235" marB="51235" anchor="ctr"/>
                </a:tc>
                <a:extLst>
                  <a:ext uri="{0D108BD9-81ED-4DB2-BD59-A6C34878D82A}">
                    <a16:rowId xmlns:a16="http://schemas.microsoft.com/office/drawing/2014/main" val="3596436065"/>
                  </a:ext>
                </a:extLst>
              </a:tr>
              <a:tr h="42467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%lf</a:t>
                      </a:r>
                      <a:endParaRPr lang="en-IN" sz="20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97" marR="36597" marT="51235" marB="5123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</a:p>
                  </a:txBody>
                  <a:tcPr marL="36597" marR="36597" marT="51235" marB="51235" anchor="ctr"/>
                </a:tc>
                <a:extLst>
                  <a:ext uri="{0D108BD9-81ED-4DB2-BD59-A6C34878D82A}">
                    <a16:rowId xmlns:a16="http://schemas.microsoft.com/office/drawing/2014/main" val="2548927994"/>
                  </a:ext>
                </a:extLst>
              </a:tr>
              <a:tr h="42467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%Lf</a:t>
                      </a:r>
                      <a:endParaRPr lang="en-IN" sz="20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97" marR="36597" marT="51235" marB="5123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 double</a:t>
                      </a:r>
                    </a:p>
                  </a:txBody>
                  <a:tcPr marL="36597" marR="36597" marT="51235" marB="51235" anchor="ctr"/>
                </a:tc>
                <a:extLst>
                  <a:ext uri="{0D108BD9-81ED-4DB2-BD59-A6C34878D82A}">
                    <a16:rowId xmlns:a16="http://schemas.microsoft.com/office/drawing/2014/main" val="1918046110"/>
                  </a:ext>
                </a:extLst>
              </a:tr>
              <a:tr h="42467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r>
                        <a:rPr lang="en-IN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97" marR="36597" marT="51235" marB="5123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Unsigned int or unsigned long</a:t>
                      </a:r>
                    </a:p>
                  </a:txBody>
                  <a:tcPr marL="36597" marR="36597" marT="51235" marB="51235" anchor="ctr"/>
                </a:tc>
                <a:extLst>
                  <a:ext uri="{0D108BD9-81ED-4DB2-BD59-A6C34878D82A}">
                    <a16:rowId xmlns:a16="http://schemas.microsoft.com/office/drawing/2014/main" val="1972374785"/>
                  </a:ext>
                </a:extLst>
              </a:tr>
              <a:tr h="42467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%lli or %lld</a:t>
                      </a:r>
                      <a:endParaRPr lang="en-IN" sz="20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97" marR="36597" marT="51235" marB="5123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 </a:t>
                      </a:r>
                      <a:r>
                        <a:rPr lang="en-IN" sz="2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97" marR="36597" marT="51235" marB="51235" anchor="ctr"/>
                </a:tc>
                <a:extLst>
                  <a:ext uri="{0D108BD9-81ED-4DB2-BD59-A6C34878D82A}">
                    <a16:rowId xmlns:a16="http://schemas.microsoft.com/office/drawing/2014/main" val="678911384"/>
                  </a:ext>
                </a:extLst>
              </a:tr>
              <a:tr h="42467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r>
                        <a:rPr lang="en-IN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llu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97" marR="36597" marT="51235" marB="5123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Unsigned long </a:t>
                      </a:r>
                      <a:r>
                        <a:rPr lang="en-IN" sz="2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97" marR="36597" marT="51235" marB="51235" anchor="ctr"/>
                </a:tc>
                <a:extLst>
                  <a:ext uri="{0D108BD9-81ED-4DB2-BD59-A6C34878D82A}">
                    <a16:rowId xmlns:a16="http://schemas.microsoft.com/office/drawing/2014/main" val="1618492725"/>
                  </a:ext>
                </a:extLst>
              </a:tr>
              <a:tr h="42467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%o</a:t>
                      </a:r>
                      <a:endParaRPr lang="en-IN" sz="20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97" marR="36597" marT="51235" marB="5123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Octal representation</a:t>
                      </a:r>
                    </a:p>
                  </a:txBody>
                  <a:tcPr marL="36597" marR="36597" marT="51235" marB="51235" anchor="ctr"/>
                </a:tc>
                <a:extLst>
                  <a:ext uri="{0D108BD9-81ED-4DB2-BD59-A6C34878D82A}">
                    <a16:rowId xmlns:a16="http://schemas.microsoft.com/office/drawing/2014/main" val="3257379557"/>
                  </a:ext>
                </a:extLst>
              </a:tr>
              <a:tr h="42467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%p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97" marR="36597" marT="51235" marB="5123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Pointer</a:t>
                      </a:r>
                    </a:p>
                  </a:txBody>
                  <a:tcPr marL="36597" marR="36597" marT="51235" marB="51235" anchor="ctr"/>
                </a:tc>
                <a:extLst>
                  <a:ext uri="{0D108BD9-81ED-4DB2-BD59-A6C34878D82A}">
                    <a16:rowId xmlns:a16="http://schemas.microsoft.com/office/drawing/2014/main" val="1751148423"/>
                  </a:ext>
                </a:extLst>
              </a:tr>
              <a:tr h="42467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%s</a:t>
                      </a:r>
                      <a:endParaRPr lang="en-IN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597" marR="36597" marT="51235" marB="5123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marL="36597" marR="36597" marT="51235" marB="51235" anchor="ctr"/>
                </a:tc>
                <a:extLst>
                  <a:ext uri="{0D108BD9-81ED-4DB2-BD59-A6C34878D82A}">
                    <a16:rowId xmlns:a16="http://schemas.microsoft.com/office/drawing/2014/main" val="3625836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95741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B0948C-92F4-50F2-FE07-51C68C3A5A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604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862082-9BE5-EB71-810E-C0A509546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4445"/>
            <a:ext cx="7355457" cy="1560167"/>
          </a:xfrm>
        </p:spPr>
        <p:txBody>
          <a:bodyPr>
            <a:normAutofit/>
          </a:bodyPr>
          <a:lstStyle/>
          <a:p>
            <a:r>
              <a:rPr lang="en-IN" spc="0" dirty="0"/>
              <a:t>26CSE1002J - Programming for Problem Solving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4EFE2E-A077-3088-4871-EFEFD9342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789" y="4664466"/>
            <a:ext cx="11876926" cy="219352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1</a:t>
            </a:r>
          </a:p>
          <a:p>
            <a:pPr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Session: 10</a:t>
            </a:r>
          </a:p>
          <a:p>
            <a:pPr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 :At the end of this session the learners will be able to handle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driven problems and  fixed set of choices using switch statements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and contrast switch and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if..elseif..else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statement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90896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FE0E4-1006-01B0-405E-267B6B53B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18" y="757239"/>
            <a:ext cx="11599523" cy="1081836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Switch Statements / Conditional Statements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A79FC-B943-7516-E3CA-4C647D51F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06400">
              <a:lnSpc>
                <a:spcPct val="150000"/>
              </a:lnSpc>
              <a:buClr>
                <a:srgbClr val="000000"/>
              </a:buClr>
              <a:buSzPts val="2800"/>
              <a:buFont typeface="Noto Sans Symbols"/>
              <a:buChar char="✔"/>
            </a:pPr>
            <a:r>
              <a:rPr lang="en-US" sz="2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switch statement allows us to execute one code block among many alternatives.</a:t>
            </a:r>
          </a:p>
          <a:p>
            <a:pPr marL="457200" lvl="0" indent="-406400">
              <a:lnSpc>
                <a:spcPct val="150000"/>
              </a:lnSpc>
              <a:buClr>
                <a:srgbClr val="000000"/>
              </a:buClr>
              <a:buSzPts val="2800"/>
              <a:buFont typeface="Noto Sans Symbols"/>
              <a:buChar char="✔"/>
            </a:pPr>
            <a:r>
              <a:rPr lang="en-US" sz="2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can do the same thing with the </a:t>
            </a:r>
            <a:r>
              <a:rPr lang="en-US" sz="2800" kern="0" dirty="0">
                <a:solidFill>
                  <a:srgbClr val="FF63A9"/>
                </a:solidFill>
                <a:latin typeface="Arial"/>
                <a:ea typeface="Arial"/>
                <a:cs typeface="Arial"/>
                <a:sym typeface="Arial"/>
              </a:rPr>
              <a:t>if...</a:t>
            </a:r>
            <a:r>
              <a:rPr lang="en-US" sz="2800" kern="0" dirty="0" err="1">
                <a:solidFill>
                  <a:srgbClr val="FF63A9"/>
                </a:solidFill>
                <a:latin typeface="Arial"/>
                <a:ea typeface="Arial"/>
                <a:cs typeface="Arial"/>
                <a:sym typeface="Arial"/>
              </a:rPr>
              <a:t>else..if</a:t>
            </a:r>
            <a:r>
              <a:rPr lang="en-US" sz="2800" kern="0" dirty="0">
                <a:solidFill>
                  <a:srgbClr val="FF63A9"/>
                </a:solidFill>
                <a:latin typeface="Arial"/>
                <a:ea typeface="Arial"/>
                <a:cs typeface="Arial"/>
                <a:sym typeface="Arial"/>
              </a:rPr>
              <a:t> ladder</a:t>
            </a:r>
            <a:r>
              <a:rPr lang="en-US" sz="2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However, the syntax of the </a:t>
            </a:r>
            <a:r>
              <a:rPr lang="en-US" sz="2800" kern="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switch statement is much easier to read and write</a:t>
            </a:r>
            <a:r>
              <a:rPr lang="en-US" sz="2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445440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1E24E-DB83-505F-9ACE-91D8BBB5C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419" y="479836"/>
            <a:ext cx="10287000" cy="1147762"/>
          </a:xfrm>
        </p:spPr>
        <p:txBody>
          <a:bodyPr/>
          <a:lstStyle/>
          <a:p>
            <a:r>
              <a:rPr lang="en-US" sz="4000" b="0" kern="0" cap="none" spc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Case</a:t>
            </a:r>
            <a:endParaRPr lang="en-IN" dirty="0"/>
          </a:p>
        </p:txBody>
      </p:sp>
      <p:sp>
        <p:nvSpPr>
          <p:cNvPr id="7" name="Google Shape;775;p61">
            <a:extLst>
              <a:ext uri="{FF2B5EF4-FFF2-40B4-BE49-F238E27FC236}">
                <a16:creationId xmlns:a16="http://schemas.microsoft.com/office/drawing/2014/main" id="{F54BADCC-A37B-43F4-A8D5-4F92BFB94000}"/>
              </a:ext>
            </a:extLst>
          </p:cNvPr>
          <p:cNvSpPr txBox="1"/>
          <p:nvPr/>
        </p:nvSpPr>
        <p:spPr>
          <a:xfrm>
            <a:off x="1024418" y="2065107"/>
            <a:ext cx="4092111" cy="3878078"/>
          </a:xfrm>
          <a:prstGeom prst="rect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(expression) ​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case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constant1: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63A9"/>
                </a:solidFill>
                <a:latin typeface="Arial"/>
                <a:ea typeface="Arial"/>
                <a:cs typeface="Arial"/>
                <a:sym typeface="Arial"/>
              </a:rPr>
              <a:t>// statements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break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case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constant2: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63A9"/>
                </a:solidFill>
                <a:latin typeface="Arial"/>
                <a:ea typeface="Arial"/>
                <a:cs typeface="Arial"/>
                <a:sym typeface="Arial"/>
              </a:rPr>
              <a:t>// statements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break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. .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default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63A9"/>
                </a:solidFill>
                <a:latin typeface="Arial"/>
                <a:ea typeface="Arial"/>
                <a:cs typeface="Arial"/>
                <a:sym typeface="Arial"/>
              </a:rPr>
              <a:t>// default statements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771;p61" descr="Switch Case in C++ - Scaler Topics">
            <a:extLst>
              <a:ext uri="{FF2B5EF4-FFF2-40B4-BE49-F238E27FC236}">
                <a16:creationId xmlns:a16="http://schemas.microsoft.com/office/drawing/2014/main" id="{0E96134E-28C1-4B6F-9521-C7F6B217A9B2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 l="9911" r="10897" b="16879"/>
          <a:stretch/>
        </p:blipFill>
        <p:spPr>
          <a:xfrm>
            <a:off x="5506948" y="1988050"/>
            <a:ext cx="4900773" cy="395513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3289588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60429-381B-97EC-9F21-CE590AF9B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2" y="243530"/>
            <a:ext cx="10287000" cy="1147762"/>
          </a:xfrm>
        </p:spPr>
        <p:txBody>
          <a:bodyPr/>
          <a:lstStyle/>
          <a:p>
            <a:r>
              <a:rPr lang="en-US" dirty="0"/>
              <a:t>menu-driven program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74665-C052-7EB5-732D-B354F22CE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1895579"/>
            <a:ext cx="10287000" cy="389096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menu-driven program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provides choices to the user.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useful for handling fixed choices.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case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represents one choice.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break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prevents execution of the next case.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default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handles invalid choices.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40694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135E8-B1F1-2F68-FF6A-845D0A96F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07156"/>
            <a:ext cx="10287000" cy="1147762"/>
          </a:xfrm>
        </p:spPr>
        <p:txBody>
          <a:bodyPr>
            <a:normAutofit/>
          </a:bodyPr>
          <a:lstStyle/>
          <a:p>
            <a:r>
              <a:rPr lang="en-IN" dirty="0"/>
              <a:t>Menu-Driven Calculator</a:t>
            </a:r>
            <a:br>
              <a:rPr lang="en-IN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E05B58-3013-4257-BE88-86EC1C0063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9595" y="681037"/>
            <a:ext cx="3667874" cy="48207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 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choice; 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 a, b;  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("1. Addition\n");    </a:t>
            </a:r>
          </a:p>
          <a:p>
            <a:pPr marL="0" indent="0">
              <a:buNone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("2. Subtraction\n");  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("3. Multiplication\n");  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your choice: ");    </a:t>
            </a:r>
          </a:p>
          <a:p>
            <a:pPr marL="0" indent="0">
              <a:buNone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&amp;choice);    </a:t>
            </a:r>
          </a:p>
          <a:p>
            <a:pPr marL="0" indent="0">
              <a:buNone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two numbers: ");  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d%d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&amp;a, &amp;b);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C055F1-AF13-40C0-9EC2-CCACDC10E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30241" y="1029609"/>
            <a:ext cx="4479530" cy="572123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switch(choice)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1: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("Sum = %d", a + b);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break;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2: 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("Difference = %d", a - b);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 break;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case 3: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("Product = %d", a * b);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 break;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default: 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("Invalid choice");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66816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DC41C-96EE-46A0-FE67-ADA03C038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Coding Assignments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98C50-91D3-016F-3F27-02CD76AA7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0800" lvl="0" indent="0">
              <a:lnSpc>
                <a:spcPct val="160000"/>
              </a:lnSpc>
              <a:buSzPct val="138957"/>
              <a:buNone/>
            </a:pPr>
            <a:r>
              <a:rPr lang="en-US" sz="2000" b="1" dirty="0">
                <a:solidFill>
                  <a:srgbClr val="FF63A9"/>
                </a:solidFill>
                <a:latin typeface="Arial"/>
                <a:ea typeface="Arial"/>
                <a:cs typeface="Arial"/>
                <a:sym typeface="Arial"/>
              </a:rPr>
              <a:t>1.    Number to Word Conversion</a:t>
            </a:r>
            <a:endParaRPr lang="en-US" dirty="0"/>
          </a:p>
          <a:p>
            <a:pPr marL="50800" lvl="0" indent="0">
              <a:lnSpc>
                <a:spcPct val="160000"/>
              </a:lnSpc>
              <a:buSzPct val="150537"/>
              <a:buNone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lang="en-US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Write a program that converts a digit (0-9) into its word form (e.g., 0 to "Zero", 1 to "One", etc.).</a:t>
            </a:r>
            <a:endParaRPr lang="en-US" dirty="0"/>
          </a:p>
          <a:p>
            <a:pPr marL="50800" lvl="0" indent="0">
              <a:lnSpc>
                <a:spcPct val="160000"/>
              </a:lnSpc>
              <a:buSzPct val="138957"/>
              <a:buNone/>
            </a:pPr>
            <a:r>
              <a:rPr lang="en-US" sz="2000" b="1" dirty="0">
                <a:solidFill>
                  <a:srgbClr val="FF63A9"/>
                </a:solidFill>
                <a:latin typeface="Arial"/>
                <a:ea typeface="Arial"/>
                <a:cs typeface="Arial"/>
                <a:sym typeface="Arial"/>
              </a:rPr>
              <a:t>2.    Traffic Light Simulation</a:t>
            </a:r>
            <a:endParaRPr lang="en-US" dirty="0"/>
          </a:p>
          <a:p>
            <a:pPr marL="50800" lvl="0" indent="0">
              <a:lnSpc>
                <a:spcPct val="160000"/>
              </a:lnSpc>
              <a:buSzPct val="150537"/>
              <a:buNone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Problem: 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Write a program that simulates a traffic light. It should take a character input (R, Y, G) and print the corresponding action (Stop for Red, Wait for Yellow, Go for Green).</a:t>
            </a:r>
            <a:endParaRPr lang="en-US" dirty="0"/>
          </a:p>
          <a:p>
            <a:pPr marL="50800" lvl="0" indent="0">
              <a:lnSpc>
                <a:spcPct val="160000"/>
              </a:lnSpc>
              <a:buSzPct val="138957"/>
              <a:buNone/>
            </a:pPr>
            <a:r>
              <a:rPr lang="en-US" sz="2000" b="1" dirty="0">
                <a:solidFill>
                  <a:srgbClr val="FF63A9"/>
                </a:solidFill>
                <a:latin typeface="Arial"/>
                <a:ea typeface="Arial"/>
                <a:cs typeface="Arial"/>
                <a:sym typeface="Arial"/>
              </a:rPr>
              <a:t>3.    Season Finder</a:t>
            </a:r>
            <a:endParaRPr lang="en-US" dirty="0"/>
          </a:p>
          <a:p>
            <a:pPr marL="50800" lvl="0" indent="0">
              <a:lnSpc>
                <a:spcPct val="160000"/>
              </a:lnSpc>
              <a:buSzPct val="150537"/>
              <a:buNone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Problem: 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Write a program that takes an integer input (1-12) representing a month and prints the corresponding season (e.g., 12, 1, 2 for Winter, 3, 4, 5 for Spring, etc.).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712445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F7A7C-D9F8-A875-C1FF-D214F29E1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291" y="469561"/>
            <a:ext cx="10287000" cy="1147762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Compare and contrast switch and </a:t>
            </a:r>
            <a:r>
              <a:rPr lang="en-US" dirty="0" err="1"/>
              <a:t>if..elseif..else</a:t>
            </a:r>
            <a:r>
              <a:rPr lang="en-US" dirty="0"/>
              <a:t> statement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4CC88E0F-3E91-400E-A4D4-E096634082F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57237" y="1617661"/>
          <a:ext cx="10801188" cy="46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594">
                  <a:extLst>
                    <a:ext uri="{9D8B030D-6E8A-4147-A177-3AD203B41FA5}">
                      <a16:colId xmlns:a16="http://schemas.microsoft.com/office/drawing/2014/main" val="1327736690"/>
                    </a:ext>
                  </a:extLst>
                </a:gridCol>
                <a:gridCol w="5400594">
                  <a:extLst>
                    <a:ext uri="{9D8B030D-6E8A-4147-A177-3AD203B41FA5}">
                      <a16:colId xmlns:a16="http://schemas.microsoft.com/office/drawing/2014/main" val="1234801982"/>
                    </a:ext>
                  </a:extLst>
                </a:gridCol>
              </a:tblGrid>
              <a:tr h="586334">
                <a:tc>
                  <a:txBody>
                    <a:bodyPr/>
                    <a:lstStyle/>
                    <a:p>
                      <a:r>
                        <a:rPr lang="en-IN"/>
                        <a:t>if...else if...else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switch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410488"/>
                  </a:ext>
                </a:extLst>
              </a:tr>
              <a:tr h="586334">
                <a:tc>
                  <a:txBody>
                    <a:bodyPr/>
                    <a:lstStyle/>
                    <a:p>
                      <a:r>
                        <a:rPr lang="en-IN"/>
                        <a:t>Checks conditions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Checks fixed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735798"/>
                  </a:ext>
                </a:extLst>
              </a:tr>
              <a:tr h="586334">
                <a:tc>
                  <a:txBody>
                    <a:bodyPr/>
                    <a:lstStyle/>
                    <a:p>
                      <a:r>
                        <a:rPr lang="en-IN"/>
                        <a:t>Can use relational operators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Uses case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5577672"/>
                  </a:ext>
                </a:extLst>
              </a:tr>
              <a:tr h="586334">
                <a:tc>
                  <a:txBody>
                    <a:bodyPr/>
                    <a:lstStyle/>
                    <a:p>
                      <a:r>
                        <a:rPr lang="en-IN"/>
                        <a:t>Suitable for ranges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Suitable for fixed choices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8473118"/>
                  </a:ext>
                </a:extLst>
              </a:tr>
              <a:tr h="586334">
                <a:tc>
                  <a:txBody>
                    <a:bodyPr/>
                    <a:lstStyle/>
                    <a:p>
                      <a:r>
                        <a:rPr lang="en-IN"/>
                        <a:t>Can check complex conditions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Best for simple equality checking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2863115"/>
                  </a:ext>
                </a:extLst>
              </a:tr>
              <a:tr h="586334">
                <a:tc>
                  <a:txBody>
                    <a:bodyPr/>
                    <a:lstStyle/>
                    <a:p>
                      <a:r>
                        <a:rPr lang="en-US"/>
                        <a:t>Uses if, else if, else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Uses switch, case, default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5674400"/>
                  </a:ext>
                </a:extLst>
              </a:tr>
              <a:tr h="586334">
                <a:tc>
                  <a:txBody>
                    <a:bodyPr/>
                    <a:lstStyle/>
                    <a:p>
                      <a:r>
                        <a:rPr lang="en-IN"/>
                        <a:t>if...else if...else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switch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4006293"/>
                  </a:ext>
                </a:extLst>
              </a:tr>
              <a:tr h="586334">
                <a:tc>
                  <a:txBody>
                    <a:bodyPr/>
                    <a:lstStyle/>
                    <a:p>
                      <a:r>
                        <a:rPr lang="en-IN"/>
                        <a:t>Checks conditions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Checks fixed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851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043139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0D320-F5D5-165B-D56C-8FDC33F22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192159"/>
            <a:ext cx="10287000" cy="1147762"/>
          </a:xfrm>
        </p:spPr>
        <p:txBody>
          <a:bodyPr>
            <a:normAutofit/>
          </a:bodyPr>
          <a:lstStyle/>
          <a:p>
            <a:r>
              <a:rPr lang="en-US" sz="3200" b="0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Example</a:t>
            </a:r>
            <a:br>
              <a:rPr lang="en-US" dirty="0"/>
            </a:br>
            <a:endParaRPr lang="en-IN" dirty="0"/>
          </a:p>
        </p:txBody>
      </p:sp>
      <p:pic>
        <p:nvPicPr>
          <p:cNvPr id="4" name="Google Shape;783;p6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CE7DEF0-A73D-46C6-8AFE-832D2FA5BB52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 t="16297" r="54930" b="2849"/>
          <a:stretch/>
        </p:blipFill>
        <p:spPr>
          <a:xfrm>
            <a:off x="1194858" y="2293705"/>
            <a:ext cx="4488123" cy="3890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784;p6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8DD6BB1-6208-4104-94BA-8E84E5E16EE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48570"/>
          <a:stretch/>
        </p:blipFill>
        <p:spPr>
          <a:xfrm>
            <a:off x="6839529" y="2245912"/>
            <a:ext cx="4198346" cy="393875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E9165D-0BD7-4394-BBF6-EB1D6087F582}"/>
              </a:ext>
            </a:extLst>
          </p:cNvPr>
          <p:cNvSpPr/>
          <p:nvPr/>
        </p:nvSpPr>
        <p:spPr>
          <a:xfrm>
            <a:off x="2057611" y="1760574"/>
            <a:ext cx="15520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If…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else..if</a:t>
            </a:r>
            <a:endParaRPr lang="en-US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E6411B-7604-4EF5-A53D-83D071C56640}"/>
              </a:ext>
            </a:extLst>
          </p:cNvPr>
          <p:cNvSpPr/>
          <p:nvPr/>
        </p:nvSpPr>
        <p:spPr>
          <a:xfrm>
            <a:off x="7346333" y="1736677"/>
            <a:ext cx="18966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 Case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5561242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46362-69C8-C724-C02E-19A80C668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E3D01-5BD9-943C-6F1A-A265A22A4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R. G. Dromey, </a:t>
            </a:r>
            <a:r>
              <a:rPr lang="en-US" i="1" dirty="0"/>
              <a:t>How to Solve It by Computer</a:t>
            </a:r>
            <a:r>
              <a:rPr lang="en-US" dirty="0"/>
              <a:t>, Pearson, 2020</a:t>
            </a:r>
          </a:p>
          <a:p>
            <a:r>
              <a:rPr lang="en-US" dirty="0"/>
              <a:t>Jeri R. Hanly, Elliot B. Koffman, </a:t>
            </a:r>
            <a:r>
              <a:rPr lang="en-US" i="1" dirty="0"/>
              <a:t>Problem Solving and Program Design in C</a:t>
            </a:r>
            <a:r>
              <a:rPr lang="en-US" dirty="0"/>
              <a:t>, Pearson, 2023</a:t>
            </a:r>
          </a:p>
          <a:p>
            <a:r>
              <a:rPr lang="en-US" i="1" dirty="0"/>
              <a:t>Greg Perry, Dean Miller, C Programming Absolute Beginner’s Guide, Pearson, 2023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4054187"/>
      </p:ext>
    </p:extLst>
  </p:cSld>
  <p:clrMapOvr>
    <a:masterClrMapping/>
  </p:clrMapOvr>
</p:sld>
</file>

<file path=ppt/theme/theme1.xml><?xml version="1.0" encoding="utf-8"?>
<a:theme xmlns:a="http://schemas.openxmlformats.org/drawingml/2006/main" name="AfterglowVTI">
  <a:themeElements>
    <a:clrScheme name="Custom 7">
      <a:dk1>
        <a:sysClr val="windowText" lastClr="000000"/>
      </a:dk1>
      <a:lt1>
        <a:sysClr val="window" lastClr="FFFFFF"/>
      </a:lt1>
      <a:dk2>
        <a:srgbClr val="0A2E36"/>
      </a:dk2>
      <a:lt2>
        <a:srgbClr val="E7E6E6"/>
      </a:lt2>
      <a:accent1>
        <a:srgbClr val="188659"/>
      </a:accent1>
      <a:accent2>
        <a:srgbClr val="A3A300"/>
      </a:accent2>
      <a:accent3>
        <a:srgbClr val="00ADA8"/>
      </a:accent3>
      <a:accent4>
        <a:srgbClr val="EA0440"/>
      </a:accent4>
      <a:accent5>
        <a:srgbClr val="92278F"/>
      </a:accent5>
      <a:accent6>
        <a:srgbClr val="E15BC1"/>
      </a:accent6>
      <a:hlink>
        <a:srgbClr val="188659"/>
      </a:hlink>
      <a:folHlink>
        <a:srgbClr val="EA0440"/>
      </a:folHlink>
    </a:clrScheme>
    <a:fontScheme name="Trade Gothic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terglowVTI" id="{804DBEB7-1920-4C72-A0CB-091339F1875F}" vid="{D4C59F5A-9ECA-4C96-BDFD-0606A75324E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</TotalTime>
  <Words>12704</Words>
  <Application>Microsoft Office PowerPoint</Application>
  <PresentationFormat>Widescreen</PresentationFormat>
  <Paragraphs>2069</Paragraphs>
  <Slides>142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142</vt:i4>
      </vt:variant>
    </vt:vector>
  </HeadingPairs>
  <TitlesOfParts>
    <vt:vector size="155" baseType="lpstr">
      <vt:lpstr>Aptos</vt:lpstr>
      <vt:lpstr>Aptos Display</vt:lpstr>
      <vt:lpstr>Arial</vt:lpstr>
      <vt:lpstr>Arial Black</vt:lpstr>
      <vt:lpstr>Arial MT</vt:lpstr>
      <vt:lpstr>Courier New</vt:lpstr>
      <vt:lpstr>Noto Sans Symbols</vt:lpstr>
      <vt:lpstr>Nunito</vt:lpstr>
      <vt:lpstr>Times New Roman</vt:lpstr>
      <vt:lpstr>Trade Gothic Next Cond</vt:lpstr>
      <vt:lpstr>Trade Gothic Next Light</vt:lpstr>
      <vt:lpstr>Wingdings</vt:lpstr>
      <vt:lpstr>AfterglowVTI</vt:lpstr>
      <vt:lpstr>26CSE1002J - Programming for Problem Solving</vt:lpstr>
      <vt:lpstr>What Is a Computer Program?</vt:lpstr>
      <vt:lpstr>What Is a Programming Language? What Is C?</vt:lpstr>
      <vt:lpstr>Structure of a C Program</vt:lpstr>
      <vt:lpstr>Your First C Program: Hello, World!</vt:lpstr>
      <vt:lpstr>How a C Program Runs: Compiling &amp; Executing</vt:lpstr>
      <vt:lpstr>Keywords in C</vt:lpstr>
      <vt:lpstr>Identifiers — Naming Things in a Program</vt:lpstr>
      <vt:lpstr>Comments in C</vt:lpstr>
      <vt:lpstr>Recap:</vt:lpstr>
      <vt:lpstr>26CSE1002J - Programming for Problem Solving</vt:lpstr>
      <vt:lpstr>Example Program 1 — Printing Details</vt:lpstr>
      <vt:lpstr>Example Program 2 — Comments &amp; Multiple Statements</vt:lpstr>
      <vt:lpstr>Spot the Bug!</vt:lpstr>
      <vt:lpstr>Practice Questions — Try These Yourself</vt:lpstr>
      <vt:lpstr>26CSE1002J - Programming for Problem Solving</vt:lpstr>
      <vt:lpstr>What Is a Variable?</vt:lpstr>
      <vt:lpstr>What Is a Data Type? Why Do We Need It?</vt:lpstr>
      <vt:lpstr>Basic Data Types in C — Overview</vt:lpstr>
      <vt:lpstr>The int Data Type</vt:lpstr>
      <vt:lpstr>The float Data Type</vt:lpstr>
      <vt:lpstr>The char Data Type</vt:lpstr>
      <vt:lpstr>Size and Range — Quick Reference</vt:lpstr>
      <vt:lpstr>Declaring &amp; Initializing Variables</vt:lpstr>
      <vt:lpstr>Choosing the Right Data Type</vt:lpstr>
      <vt:lpstr>Recap </vt:lpstr>
      <vt:lpstr>Example Program 1 — Declaring All Three Types</vt:lpstr>
      <vt:lpstr>Example Program 2 — Checking Size with sizeof()</vt:lpstr>
      <vt:lpstr>Example Program 3 — Taking Input from the User</vt:lpstr>
      <vt:lpstr>Choose the Right Data Type</vt:lpstr>
      <vt:lpstr>Practice Questions — Try These Yourself</vt:lpstr>
      <vt:lpstr>26CSE1002J - Programming for Problem Solving</vt:lpstr>
      <vt:lpstr>The Assignment Operator ( = )</vt:lpstr>
      <vt:lpstr>Assignment — Examples</vt:lpstr>
      <vt:lpstr>Arithmetic Operators in C</vt:lpstr>
      <vt:lpstr>Evaluating Arithmetic Expressions</vt:lpstr>
      <vt:lpstr>Integer Division vs. Float Division</vt:lpstr>
      <vt:lpstr>The Modulus Operator ( % )</vt:lpstr>
      <vt:lpstr>Order of Operations — A First Look</vt:lpstr>
      <vt:lpstr>Practice: Evaluate These Expressions</vt:lpstr>
      <vt:lpstr>Recap — SLO-2</vt:lpstr>
      <vt:lpstr>Example Program 1 — A Simple Calculator</vt:lpstr>
      <vt:lpstr>Example Program 2 — Average of Three Marks</vt:lpstr>
      <vt:lpstr>Example Program 3 — Total Cost of Items</vt:lpstr>
      <vt:lpstr>Predict the Output</vt:lpstr>
      <vt:lpstr>Practice Questions — Try These Yourself</vt:lpstr>
      <vt:lpstr>26CSE1002J - Programming for Problem Solving</vt:lpstr>
      <vt:lpstr>What Does It Mean to "Trace" a Program?</vt:lpstr>
      <vt:lpstr>Why Tracing Matters</vt:lpstr>
      <vt:lpstr>How to Trace: The Variable Table Method</vt:lpstr>
      <vt:lpstr>Example 1 — Trace a Simple Program</vt:lpstr>
      <vt:lpstr>Example 2 — Trace with Arithmetic Expressions</vt:lpstr>
      <vt:lpstr>Example 3 — Multiple Variables Interacting</vt:lpstr>
      <vt:lpstr>Common Mistakes When Tracing</vt:lpstr>
      <vt:lpstr>Practice: You Trace It</vt:lpstr>
      <vt:lpstr>Recap — SLO-3</vt:lpstr>
      <vt:lpstr>Worked Example — Trace This Program</vt:lpstr>
      <vt:lpstr>Practice Trace 1 — Fill In the Table</vt:lpstr>
      <vt:lpstr>Practice Trace 2 — Fill In the Table</vt:lpstr>
      <vt:lpstr>Practice Trace 3 — Fill In the Table</vt:lpstr>
      <vt:lpstr>Answer Key — Final Outputs</vt:lpstr>
      <vt:lpstr>More Practice Questions — Try These Yourself</vt:lpstr>
      <vt:lpstr>26CSE1002J - Programming for Problem Solving</vt:lpstr>
      <vt:lpstr>What Is Operator Precedence?</vt:lpstr>
      <vt:lpstr>Operator Precedence Table (Basic)</vt:lpstr>
      <vt:lpstr>Associativity — What If Operators Have the Same Rank?</vt:lpstr>
      <vt:lpstr>Worked Example: Evaluate Step by Step</vt:lpstr>
      <vt:lpstr>Practice: Evaluate These Expressions</vt:lpstr>
      <vt:lpstr>What Is Variable Swapping?</vt:lpstr>
      <vt:lpstr>Swapping WITH a Temporary Variable</vt:lpstr>
      <vt:lpstr>Swapping WITHOUT a Temporary Variable</vt:lpstr>
      <vt:lpstr>Recap — SLO-4</vt:lpstr>
      <vt:lpstr>26CSE1002J - Programming for Problem Solving</vt:lpstr>
      <vt:lpstr>Example Program 1 — Precedence in Action</vt:lpstr>
      <vt:lpstr>Example Program 2 — Swap Two Numbers (Temp Variable)</vt:lpstr>
      <vt:lpstr>Example Program 3 — Swap Two Numbers (No Temp Variable)</vt:lpstr>
      <vt:lpstr>Predict the Output</vt:lpstr>
      <vt:lpstr>Practice Questions — Try These Yourself</vt:lpstr>
      <vt:lpstr>26CSE1002J - Programming for Problem Solving</vt:lpstr>
      <vt:lpstr>Decision-making statements in C </vt:lpstr>
      <vt:lpstr>PowerPoint Presentation</vt:lpstr>
      <vt:lpstr>1. The if Statement</vt:lpstr>
      <vt:lpstr>2.The if-else Statement</vt:lpstr>
      <vt:lpstr>3. The if-else-if Ladder</vt:lpstr>
      <vt:lpstr>4. Nested if-else Statements</vt:lpstr>
      <vt:lpstr>5. The switch Statement</vt:lpstr>
      <vt:lpstr>Example</vt:lpstr>
      <vt:lpstr>6. The Conditional (Ternary) Operator</vt:lpstr>
      <vt:lpstr>summary</vt:lpstr>
      <vt:lpstr>questions</vt:lpstr>
      <vt:lpstr>questions</vt:lpstr>
      <vt:lpstr>questions</vt:lpstr>
      <vt:lpstr>26CSE1002J - Programming for Problem Solving</vt:lpstr>
      <vt:lpstr>What is an Expression in C?</vt:lpstr>
      <vt:lpstr>Arithmetic Expressions</vt:lpstr>
      <vt:lpstr>Example</vt:lpstr>
      <vt:lpstr>Integer Division</vt:lpstr>
      <vt:lpstr>Operators / and % together</vt:lpstr>
      <vt:lpstr>Data Type of an Expression</vt:lpstr>
      <vt:lpstr>Mixed-Type Assignment</vt:lpstr>
      <vt:lpstr>Type Casting</vt:lpstr>
      <vt:lpstr>Unary and Binary Operators</vt:lpstr>
      <vt:lpstr>Expressions with Multiple Operators</vt:lpstr>
      <vt:lpstr>Associativity</vt:lpstr>
      <vt:lpstr>Compound Assignment Operators</vt:lpstr>
      <vt:lpstr>Increment and Decrement Expressions</vt:lpstr>
      <vt:lpstr>Relational Expressions</vt:lpstr>
      <vt:lpstr>Logical Expressions</vt:lpstr>
      <vt:lpstr>Short-Circuit Evaluation</vt:lpstr>
      <vt:lpstr>What is a Boolean Expression? </vt:lpstr>
      <vt:lpstr>Using Boolean Expressions in if Statements </vt:lpstr>
      <vt:lpstr>Question:evaluate and use Boolean expressions for decision-making in C”</vt:lpstr>
      <vt:lpstr>26CSE1002J - Programming for Problem Solving</vt:lpstr>
      <vt:lpstr>Range Checking</vt:lpstr>
      <vt:lpstr> Range Check</vt:lpstr>
      <vt:lpstr>Example: Student Marks Validation</vt:lpstr>
      <vt:lpstr>Example: relational operators and validate inputs through range checks and basic data constraints.</vt:lpstr>
      <vt:lpstr>26CSE1002J - Programming for Problem Solving</vt:lpstr>
      <vt:lpstr>1. Odd or Even</vt:lpstr>
      <vt:lpstr>2. Positive, Negative, or Zero</vt:lpstr>
      <vt:lpstr>3. Vowel or Consonant</vt:lpstr>
      <vt:lpstr>3. Vowel or Consonant</vt:lpstr>
      <vt:lpstr>4. Leap Year Checking</vt:lpstr>
      <vt:lpstr>5. Alphabet, Digit, or Special Symbol</vt:lpstr>
      <vt:lpstr>6. Loan Eligibility Check</vt:lpstr>
      <vt:lpstr>7. Scholarship Eligibility Check</vt:lpstr>
      <vt:lpstr>26CSE1002J - Programming for Problem Solving</vt:lpstr>
      <vt:lpstr>Input and Output statement</vt:lpstr>
      <vt:lpstr>scanf()</vt:lpstr>
      <vt:lpstr>printf()</vt:lpstr>
      <vt:lpstr>Format Specifiers</vt:lpstr>
      <vt:lpstr>Format Specifiers</vt:lpstr>
      <vt:lpstr>PowerPoint Presentation</vt:lpstr>
      <vt:lpstr>26CSE1002J - Programming for Problem Solving</vt:lpstr>
      <vt:lpstr>Switch Statements / Conditional Statements </vt:lpstr>
      <vt:lpstr>Switch Case</vt:lpstr>
      <vt:lpstr>menu-driven program</vt:lpstr>
      <vt:lpstr>Menu-Driven Calculator </vt:lpstr>
      <vt:lpstr>Coding Assignments</vt:lpstr>
      <vt:lpstr>Compare and contrast switch and if..elseif..else statement </vt:lpstr>
      <vt:lpstr> Example 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Jackulin A 101370</dc:creator>
  <cp:lastModifiedBy>anita jasmine</cp:lastModifiedBy>
  <cp:revision>7</cp:revision>
  <dcterms:created xsi:type="dcterms:W3CDTF">2026-07-23T04:06:50Z</dcterms:created>
  <dcterms:modified xsi:type="dcterms:W3CDTF">2026-08-16T12:56:18Z</dcterms:modified>
</cp:coreProperties>
</file>